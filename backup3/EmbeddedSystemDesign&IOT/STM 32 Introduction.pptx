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  <p:sldMasterId id="2147483660" r:id="rId2"/>
  </p:sldMasterIdLst>
  <p:notesMasterIdLst>
    <p:notesMasterId r:id="rId49"/>
  </p:notesMasterIdLst>
  <p:sldIdLst>
    <p:sldId id="285" r:id="rId3"/>
    <p:sldId id="286" r:id="rId4"/>
    <p:sldId id="289" r:id="rId5"/>
    <p:sldId id="287" r:id="rId6"/>
    <p:sldId id="288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8" r:id="rId15"/>
    <p:sldId id="297" r:id="rId16"/>
    <p:sldId id="275" r:id="rId17"/>
    <p:sldId id="267" r:id="rId18"/>
    <p:sldId id="273" r:id="rId19"/>
    <p:sldId id="274" r:id="rId20"/>
    <p:sldId id="268" r:id="rId21"/>
    <p:sldId id="269" r:id="rId22"/>
    <p:sldId id="270" r:id="rId23"/>
    <p:sldId id="271" r:id="rId24"/>
    <p:sldId id="272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21E0DC-3186-4767-A9A3-D4229835DCEE}" type="datetimeFigureOut">
              <a:rPr lang="en-IN" smtClean="0"/>
              <a:t>23-08-2026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9C02-CE57-44C6-8918-BD4809A572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0250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9C02-CE57-44C6-8918-BD4809A57265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924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802299"/>
            <a:ext cx="6477805" cy="2541431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3531205"/>
            <a:ext cx="6477804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r>
              <a:rPr lang="en-US">
                <a:solidFill>
                  <a:prstClr val="black">
                    <a:tint val="75000"/>
                  </a:prstClr>
                </a:solidFill>
              </a:rPr>
              <a:t>&lt;COURSE TITLE&gt;, &lt;TOPIC NAME&gt;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798973"/>
            <a:ext cx="608264" cy="503578"/>
          </a:xfrm>
        </p:spPr>
        <p:txBody>
          <a:bodyPr/>
          <a:lstStyle/>
          <a:p>
            <a:pPr defTabSz="342900"/>
            <a:fld id="{CBABCCC1-BF11-4F37-963E-1BCD5B23FD72}" type="slidenum">
              <a:rPr lang="en-IN" smtClean="0">
                <a:solidFill>
                  <a:srgbClr val="B71E42"/>
                </a:solidFill>
              </a:rPr>
              <a:pPr defTabSz="342900"/>
              <a:t>‹#›</a:t>
            </a:fld>
            <a:endParaRPr lang="en-IN">
              <a:solidFill>
                <a:srgbClr val="B71E42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41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802299"/>
            <a:ext cx="6477805" cy="2541431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3531205"/>
            <a:ext cx="6477804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r>
              <a:rPr lang="en-US">
                <a:solidFill>
                  <a:prstClr val="black">
                    <a:tint val="75000"/>
                  </a:prstClr>
                </a:solidFill>
              </a:rPr>
              <a:t>&lt;COURSE TITLE&gt;, &lt;TOPIC NAME&gt;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798973"/>
            <a:ext cx="608264" cy="503578"/>
          </a:xfrm>
        </p:spPr>
        <p:txBody>
          <a:bodyPr/>
          <a:lstStyle/>
          <a:p>
            <a:pPr defTabSz="342900"/>
            <a:fld id="{CBABCCC1-BF11-4F37-963E-1BCD5B23FD72}" type="slidenum">
              <a:rPr lang="en-IN" smtClean="0">
                <a:solidFill>
                  <a:srgbClr val="B71E42"/>
                </a:solidFill>
              </a:rPr>
              <a:pPr defTabSz="342900"/>
              <a:t>‹#›</a:t>
            </a:fld>
            <a:endParaRPr lang="en-IN">
              <a:solidFill>
                <a:srgbClr val="B71E42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3528542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26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688068"/>
            <a:ext cx="9144000" cy="4285743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2015733"/>
            <a:ext cx="7202456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/>
            <a:r>
              <a:rPr lang="en-US">
                <a:solidFill>
                  <a:prstClr val="black">
                    <a:tint val="75000"/>
                  </a:prstClr>
                </a:solidFill>
              </a:rPr>
              <a:t>&lt;COURSE TITLE&gt;, &lt;TOPIC NAME&gt;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868" y="6291139"/>
            <a:ext cx="608264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650">
                <a:solidFill>
                  <a:schemeClr val="accent1"/>
                </a:solidFill>
              </a:defRPr>
            </a:lvl1pPr>
          </a:lstStyle>
          <a:p>
            <a:pPr defTabSz="342900"/>
            <a:fld id="{CBABCCC1-BF11-4F37-963E-1BCD5B23FD72}" type="slidenum">
              <a:rPr lang="en-IN" smtClean="0">
                <a:solidFill>
                  <a:srgbClr val="B71E42"/>
                </a:solidFill>
              </a:rPr>
              <a:pPr defTabSz="342900"/>
              <a:t>‹#›</a:t>
            </a:fld>
            <a:endParaRPr lang="en-IN" dirty="0">
              <a:solidFill>
                <a:srgbClr val="B71E42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4" y="32700"/>
            <a:ext cx="914201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088684" y="6373098"/>
            <a:ext cx="2184149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6619128" y="6373098"/>
            <a:ext cx="1672013" cy="33502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E5EA-DD3D-FAC2-A187-8E8580C62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659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7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804520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2015733"/>
            <a:ext cx="7202456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5" y="379084"/>
            <a:ext cx="26255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/>
            <a:r>
              <a:rPr lang="en-US">
                <a:solidFill>
                  <a:prstClr val="black">
                    <a:tint val="75000"/>
                  </a:prstClr>
                </a:solidFill>
              </a:rPr>
              <a:t>&lt;COURSE TITLE&gt;, &lt;TOPIC NAME&gt;</a:t>
            </a:r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7868" y="6291139"/>
            <a:ext cx="608264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650">
                <a:solidFill>
                  <a:schemeClr val="accent1"/>
                </a:solidFill>
              </a:defRPr>
            </a:lvl1pPr>
          </a:lstStyle>
          <a:p>
            <a:pPr defTabSz="342900"/>
            <a:fld id="{CBABCCC1-BF11-4F37-963E-1BCD5B23FD72}" type="slidenum">
              <a:rPr lang="en-IN" smtClean="0">
                <a:solidFill>
                  <a:srgbClr val="B71E42"/>
                </a:solidFill>
              </a:rPr>
              <a:pPr defTabSz="342900"/>
              <a:t>‹#›</a:t>
            </a:fld>
            <a:endParaRPr lang="en-IN" dirty="0">
              <a:solidFill>
                <a:srgbClr val="B71E42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4" y="32700"/>
            <a:ext cx="914201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088684" y="6373098"/>
            <a:ext cx="2184149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6619128" y="6373098"/>
            <a:ext cx="1672013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5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BF4DFB-5360-B4EC-84B8-862504B0D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8760" y="548486"/>
            <a:ext cx="1143000" cy="1981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65E5F0A-FD69-3ABF-70EE-0D6E71F68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8760" y="624686"/>
            <a:ext cx="1295400" cy="160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CPU</a:t>
            </a:r>
          </a:p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dirty="0">
                <a:latin typeface="Times New Roman" pitchFamily="18" charset="0"/>
              </a:rPr>
              <a:t>General-Purpose Micro-processor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3376D0-5DBC-EED5-2E85-C3B9B4868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960" y="1158086"/>
            <a:ext cx="6858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8FB51B27-AE30-39C1-8277-7CCB4F1D7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960" y="1386686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5D3F9A-CAFD-D773-A04D-D55E406E91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660" y="1158086"/>
            <a:ext cx="6858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F72F98F9-2BDC-B4A3-73C9-99338E1A6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7660" y="1386686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ROM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38CEDF-54D2-FE9C-F001-75CAA301C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560" y="1158086"/>
            <a:ext cx="6858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FCF02B4A-F3C6-F7BF-E87B-A45EEFC60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2560" y="1310486"/>
            <a:ext cx="83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I/O Port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38AABB-F36D-EBDE-A677-3D7415136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9360" y="1158086"/>
            <a:ext cx="7620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3" name="Text Box 12">
            <a:extLst>
              <a:ext uri="{FF2B5EF4-FFF2-40B4-BE49-F238E27FC236}">
                <a16:creationId xmlns:a16="http://schemas.microsoft.com/office/drawing/2014/main" id="{91CAD2D2-6E65-BF65-22B1-BB7F46C3C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9360" y="1386686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Timer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115A7B-1218-7F29-381B-8C565A6B3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8060" y="1146974"/>
            <a:ext cx="8382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1" lang="en-US" altLang="zh-TW" sz="1600" b="1" dirty="0">
              <a:latin typeface="Times New Roman" pitchFamily="18" charset="0"/>
            </a:endParaRPr>
          </a:p>
          <a:p>
            <a:r>
              <a:rPr kumimoji="1" lang="en-US" altLang="zh-TW" sz="1600" b="1" dirty="0">
                <a:latin typeface="Times New Roman" pitchFamily="18" charset="0"/>
              </a:rPr>
              <a:t> Serial</a:t>
            </a:r>
          </a:p>
          <a:p>
            <a:r>
              <a:rPr kumimoji="1" lang="en-US" altLang="zh-TW" sz="1600" b="1" dirty="0">
                <a:latin typeface="Times New Roman" pitchFamily="18" charset="0"/>
              </a:rPr>
              <a:t> COM</a:t>
            </a:r>
          </a:p>
          <a:p>
            <a:r>
              <a:rPr kumimoji="1" lang="en-US" altLang="zh-TW" sz="1600" b="1" dirty="0">
                <a:latin typeface="Times New Roman" pitchFamily="18" charset="0"/>
              </a:rPr>
              <a:t> Port</a:t>
            </a:r>
          </a:p>
          <a:p>
            <a:endParaRPr lang="en-US" altLang="en-US" sz="1600" dirty="0">
              <a:ea typeface="PMingLiU" pitchFamily="18" charset="-120"/>
            </a:endParaRPr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44E58472-228A-4A2C-2CA8-3069FCAFB3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2224886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623C6F1C-9EA5-A9DF-82BE-0EF20249D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960" y="19962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E46B984F-4A53-2722-AFDB-60ECDAE64A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560" y="19962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02E9C764-46B4-D3A4-10E9-3799F8699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960" y="9294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3EFA6B38-DEE4-346E-C58C-3A48DEF92216}"/>
              </a:ext>
            </a:extLst>
          </p:cNvPr>
          <p:cNvSpPr>
            <a:spLocks noChangeShapeType="1"/>
          </p:cNvSpPr>
          <p:nvPr/>
        </p:nvSpPr>
        <p:spPr bwMode="auto">
          <a:xfrm>
            <a:off x="4240560" y="9294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C6C4E2CB-5AAE-FB63-C5D8-4365680A9DF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560" y="19962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1" name="Line 21">
            <a:extLst>
              <a:ext uri="{FF2B5EF4-FFF2-40B4-BE49-F238E27FC236}">
                <a16:creationId xmlns:a16="http://schemas.microsoft.com/office/drawing/2014/main" id="{394C86FB-43EF-DC2D-2EF1-F3FFEE30BA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3560" y="9294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733D0669-0EAB-D7EF-B719-486CA9087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50360" y="19962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CB505C04-9FBD-8360-76D9-D50A0D0441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1148" y="929486"/>
            <a:ext cx="0" cy="263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5B6C2AAA-704F-29F4-267B-9CC89D610D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7160" y="9294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5" name="Line 25">
            <a:extLst>
              <a:ext uri="{FF2B5EF4-FFF2-40B4-BE49-F238E27FC236}">
                <a16:creationId xmlns:a16="http://schemas.microsoft.com/office/drawing/2014/main" id="{4789E77F-C8EB-BF5F-087D-1AC06927C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7160" y="199628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7CD14789-B5BA-84A8-4662-AB5BC87B8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1760" y="929486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" name="Text Box 27">
            <a:extLst>
              <a:ext uri="{FF2B5EF4-FFF2-40B4-BE49-F238E27FC236}">
                <a16:creationId xmlns:a16="http://schemas.microsoft.com/office/drawing/2014/main" id="{707449AC-2705-44D8-E7FF-9A694ED0F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6560" y="542626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Data Bus</a:t>
            </a:r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0D3E346E-EED6-2D2D-BC6D-916071F0C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760" y="2301086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Address Bus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875A5BA3-C912-122D-349D-48570B2308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7810" y="2777336"/>
            <a:ext cx="640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dirty="0">
                <a:latin typeface="Times New Roman" pitchFamily="18" charset="0"/>
              </a:rPr>
              <a:t>General-Purpose Microprocessor System</a:t>
            </a: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C638F404-EB16-E5D3-E908-5E18A72A5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514526"/>
            <a:ext cx="762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1" name="Text Box 4">
            <a:extLst>
              <a:ext uri="{FF2B5EF4-FFF2-40B4-BE49-F238E27FC236}">
                <a16:creationId xmlns:a16="http://schemas.microsoft.com/office/drawing/2014/main" id="{8EAE8356-094A-2C14-98B1-E73EF1A09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743126"/>
            <a:ext cx="914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en-US" altLang="zh-TW" sz="1800" b="1" dirty="0">
                <a:latin typeface="Times New Roman" pitchFamily="18" charset="0"/>
              </a:rPr>
              <a:t>RAM</a:t>
            </a: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85454BEB-D9EC-82E5-C019-41C9FE07B7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3514526"/>
            <a:ext cx="838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3" name="Text Box 6">
            <a:extLst>
              <a:ext uri="{FF2B5EF4-FFF2-40B4-BE49-F238E27FC236}">
                <a16:creationId xmlns:a16="http://schemas.microsoft.com/office/drawing/2014/main" id="{D3172D68-0320-E7C8-FAA2-3C9327E79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3743126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kumimoji="1" lang="en-US" altLang="zh-TW" sz="1800" b="1">
                <a:latin typeface="Times New Roman" pitchFamily="18" charset="0"/>
              </a:rPr>
              <a:t>ROM</a:t>
            </a:r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C249F527-63A3-A499-F88E-ACD551CDF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352726"/>
            <a:ext cx="685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5" name="Text Box 8">
            <a:extLst>
              <a:ext uri="{FF2B5EF4-FFF2-40B4-BE49-F238E27FC236}">
                <a16:creationId xmlns:a16="http://schemas.microsoft.com/office/drawing/2014/main" id="{BADCDDB6-EF06-CE8E-4E1A-5FB5F26C5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505126"/>
            <a:ext cx="83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I/O Port</a:t>
            </a:r>
          </a:p>
        </p:txBody>
      </p:sp>
      <p:sp>
        <p:nvSpPr>
          <p:cNvPr id="36" name="Rectangle 9">
            <a:extLst>
              <a:ext uri="{FF2B5EF4-FFF2-40B4-BE49-F238E27FC236}">
                <a16:creationId xmlns:a16="http://schemas.microsoft.com/office/drawing/2014/main" id="{0CD95656-CC2F-8C82-F67D-988BA8642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4352726"/>
            <a:ext cx="7620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7" name="Text Box 10">
            <a:extLst>
              <a:ext uri="{FF2B5EF4-FFF2-40B4-BE49-F238E27FC236}">
                <a16:creationId xmlns:a16="http://schemas.microsoft.com/office/drawing/2014/main" id="{3925AAB9-8A3B-3F44-FA46-A22BB8AEE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581326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Timer</a:t>
            </a:r>
          </a:p>
        </p:txBody>
      </p:sp>
      <p:sp>
        <p:nvSpPr>
          <p:cNvPr id="38" name="Rectangle 11">
            <a:extLst>
              <a:ext uri="{FF2B5EF4-FFF2-40B4-BE49-F238E27FC236}">
                <a16:creationId xmlns:a16="http://schemas.microsoft.com/office/drawing/2014/main" id="{C1543B04-166C-1046-1561-7318AEBD0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4352726"/>
            <a:ext cx="8382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39" name="Text Box 12">
            <a:extLst>
              <a:ext uri="{FF2B5EF4-FFF2-40B4-BE49-F238E27FC236}">
                <a16:creationId xmlns:a16="http://schemas.microsoft.com/office/drawing/2014/main" id="{67272B36-0467-73B8-7445-8225D02E4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352726"/>
            <a:ext cx="8382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Serial COM Port</a:t>
            </a:r>
          </a:p>
        </p:txBody>
      </p:sp>
      <p:sp>
        <p:nvSpPr>
          <p:cNvPr id="40" name="Text Box 13">
            <a:extLst>
              <a:ext uri="{FF2B5EF4-FFF2-40B4-BE49-F238E27FC236}">
                <a16:creationId xmlns:a16="http://schemas.microsoft.com/office/drawing/2014/main" id="{7A4774E5-945F-ED70-BAE6-D4426AD56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9681" y="4321770"/>
            <a:ext cx="2255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dirty="0">
                <a:latin typeface="Times New Roman" pitchFamily="18" charset="0"/>
              </a:rPr>
              <a:t>Microcontroller</a:t>
            </a:r>
          </a:p>
        </p:txBody>
      </p:sp>
      <p:sp>
        <p:nvSpPr>
          <p:cNvPr id="41" name="Rectangle 14">
            <a:extLst>
              <a:ext uri="{FF2B5EF4-FFF2-40B4-BE49-F238E27FC236}">
                <a16:creationId xmlns:a16="http://schemas.microsoft.com/office/drawing/2014/main" id="{8727AE9D-46B8-4CAF-65E5-B0A29D4AF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3514526"/>
            <a:ext cx="685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2" name="Text Box 15">
            <a:extLst>
              <a:ext uri="{FF2B5EF4-FFF2-40B4-BE49-F238E27FC236}">
                <a16:creationId xmlns:a16="http://schemas.microsoft.com/office/drawing/2014/main" id="{7B84A543-BA82-A67B-4D48-DDC9ACD23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743126"/>
            <a:ext cx="685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CPU</a:t>
            </a:r>
          </a:p>
        </p:txBody>
      </p:sp>
      <p:sp>
        <p:nvSpPr>
          <p:cNvPr id="43" name="Line 17">
            <a:extLst>
              <a:ext uri="{FF2B5EF4-FFF2-40B4-BE49-F238E27FC236}">
                <a16:creationId xmlns:a16="http://schemas.microsoft.com/office/drawing/2014/main" id="{D8F2A2B2-75DB-4E72-9436-49D7D3A643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9800" y="4276526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689FC22-F9D4-FEFE-1983-B4543D21F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438326"/>
            <a:ext cx="25908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DF4F58F-37C1-B0B3-3FA0-209DF0C2DA11}"/>
              </a:ext>
            </a:extLst>
          </p:cNvPr>
          <p:cNvSpPr/>
          <p:nvPr/>
        </p:nvSpPr>
        <p:spPr>
          <a:xfrm>
            <a:off x="1116360" y="5242316"/>
            <a:ext cx="720883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TW" dirty="0">
                <a:latin typeface="Times New Roman" pitchFamily="18" charset="0"/>
              </a:rPr>
              <a:t>Example</a:t>
            </a:r>
            <a:r>
              <a:rPr lang="zh-TW" altLang="en-US" dirty="0">
                <a:latin typeface="Times New Roman" pitchFamily="18" charset="0"/>
              </a:rPr>
              <a:t>：</a:t>
            </a:r>
            <a:r>
              <a:rPr lang="en-US" altLang="zh-TW" dirty="0">
                <a:latin typeface="Times New Roman" pitchFamily="18" charset="0"/>
              </a:rPr>
              <a:t>Motorola’s 6811, Intel’s 8051, </a:t>
            </a:r>
            <a:r>
              <a:rPr lang="en-US" altLang="zh-TW" dirty="0" err="1">
                <a:latin typeface="Times New Roman" pitchFamily="18" charset="0"/>
              </a:rPr>
              <a:t>Zilog’s</a:t>
            </a:r>
            <a:r>
              <a:rPr lang="en-US" altLang="zh-TW" dirty="0">
                <a:latin typeface="Times New Roman" pitchFamily="18" charset="0"/>
              </a:rPr>
              <a:t> Z8 and PIC 16X</a:t>
            </a:r>
          </a:p>
        </p:txBody>
      </p:sp>
    </p:spTree>
    <p:extLst>
      <p:ext uri="{BB962C8B-B14F-4D97-AF65-F5344CB8AC3E}">
        <p14:creationId xmlns:p14="http://schemas.microsoft.com/office/powerpoint/2010/main" val="3211170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  <p:bldP spid="13" grpId="0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DE9936-7FF7-EC06-0FF9-8215F605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9C078D-EF5B-71E8-CBDB-6E8D4D5615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8104"/>
            <a:ext cx="8229600" cy="5606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438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B637BA-D029-D94C-9774-A8EBFF658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A46E6B-A8F7-B1C0-2EDC-A2D3B08CF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25" y="0"/>
            <a:ext cx="7891975" cy="591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1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F2D370-839C-BE09-9C4E-6BABADF6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83D7150-6CCA-114D-C384-B09A226B7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699824"/>
            <a:ext cx="11430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3E7F724-0F08-7BED-6470-E081E2D32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852224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CPU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99EABB-1805-3892-CB84-BF14BC78F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633024"/>
            <a:ext cx="1066800" cy="9144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B7EDD1D-11BF-22D1-286D-64C4E590B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785424"/>
            <a:ext cx="1066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On-chip RAM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45BD322-08DC-CE7C-BA51-4085B4230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1328224"/>
            <a:ext cx="1219200" cy="12192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33573CC5-0383-29D0-F753-3C9037DE0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6050" y="1342512"/>
            <a:ext cx="1181100" cy="1200150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On-chip ROM for program code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A5CFE5DC-A65B-436B-2467-75B20EC42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538024"/>
            <a:ext cx="16002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98B6360A-C305-904F-5E1D-9A0A050CD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766624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4 I/O Ports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548AE34F-99FE-E542-BCF6-E3CF2CAA2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2152137"/>
            <a:ext cx="1295400" cy="381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1D44A92F-E66B-630A-31E2-B93319B64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2166424"/>
            <a:ext cx="1295400" cy="366713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Timer 0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9E3DBF23-96F2-53E2-57A1-A9C177CCA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538024"/>
            <a:ext cx="12192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79C4775E-D3A7-D0B3-FDE2-1338F8A30D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3614224"/>
            <a:ext cx="838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Serial Port</a:t>
            </a: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BA8EB66A-C008-4B4B-2E22-FA218C533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690424"/>
            <a:ext cx="1143000" cy="762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16" name="Text Box 17">
            <a:extLst>
              <a:ext uri="{FF2B5EF4-FFF2-40B4-BE49-F238E27FC236}">
                <a16:creationId xmlns:a16="http://schemas.microsoft.com/office/drawing/2014/main" id="{F05D19D4-42C2-D653-5F86-F0450A293C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919024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OSC</a:t>
            </a:r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9FA10077-C0FC-6F86-7992-61AE9CB5F3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338562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644F73AA-CBE7-BCB1-D2E9-1E0C9255C9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24000" y="338562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9" name="Rectangle 20">
            <a:extLst>
              <a:ext uri="{FF2B5EF4-FFF2-40B4-BE49-F238E27FC236}">
                <a16:creationId xmlns:a16="http://schemas.microsoft.com/office/drawing/2014/main" id="{76024B59-7AF4-CF80-7953-79692D6F4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33024"/>
            <a:ext cx="1143000" cy="762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0" name="Text Box 21">
            <a:extLst>
              <a:ext uri="{FF2B5EF4-FFF2-40B4-BE49-F238E27FC236}">
                <a16:creationId xmlns:a16="http://schemas.microsoft.com/office/drawing/2014/main" id="{149D4CFE-CD71-6851-FB4F-44438425A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709224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Interrupt Control</a:t>
            </a:r>
          </a:p>
        </p:txBody>
      </p:sp>
      <p:sp>
        <p:nvSpPr>
          <p:cNvPr id="21" name="Line 22">
            <a:extLst>
              <a:ext uri="{FF2B5EF4-FFF2-40B4-BE49-F238E27FC236}">
                <a16:creationId xmlns:a16="http://schemas.microsoft.com/office/drawing/2014/main" id="{2C35AB3B-9E5D-8B02-93CA-CD07EBB46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239502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3400CB32-253E-29CC-7BD2-B38D3AA7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132822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3" name="Line 24">
            <a:extLst>
              <a:ext uri="{FF2B5EF4-FFF2-40B4-BE49-F238E27FC236}">
                <a16:creationId xmlns:a16="http://schemas.microsoft.com/office/drawing/2014/main" id="{1121DAA3-D464-D906-CF2B-5F90FF603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1328224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Text Box 25">
            <a:extLst>
              <a:ext uri="{FF2B5EF4-FFF2-40B4-BE49-F238E27FC236}">
                <a16:creationId xmlns:a16="http://schemas.microsoft.com/office/drawing/2014/main" id="{BCABD632-2701-80CB-A9CE-8BB387E635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23437"/>
            <a:ext cx="2362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External interrupts</a:t>
            </a:r>
          </a:p>
        </p:txBody>
      </p:sp>
      <p:sp>
        <p:nvSpPr>
          <p:cNvPr id="25" name="Line 26">
            <a:extLst>
              <a:ext uri="{FF2B5EF4-FFF2-40B4-BE49-F238E27FC236}">
                <a16:creationId xmlns:a16="http://schemas.microsoft.com/office/drawing/2014/main" id="{0A39D79E-60C9-61ED-DEE9-560A32EEE9EE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45242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6" name="Rectangle 27">
            <a:extLst>
              <a:ext uri="{FF2B5EF4-FFF2-40B4-BE49-F238E27FC236}">
                <a16:creationId xmlns:a16="http://schemas.microsoft.com/office/drawing/2014/main" id="{31C723A7-047E-0F25-5F7B-F321223D1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4681024"/>
            <a:ext cx="76200" cy="30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51FB57FA-E2D4-3E2C-D6ED-3A197D72E87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4757224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87FEEB66-1B5E-0835-1A7D-820E51460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757224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D7192B2A-6BF7-8715-B063-490B668B0A2F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83342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D79B64C6-87D6-61FA-BBAA-A6F9A5A3A3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83342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1" name="Line 32">
            <a:extLst>
              <a:ext uri="{FF2B5EF4-FFF2-40B4-BE49-F238E27FC236}">
                <a16:creationId xmlns:a16="http://schemas.microsoft.com/office/drawing/2014/main" id="{A9113C1E-492C-329E-AA38-8BF4236562A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4452424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2" name="Line 33">
            <a:extLst>
              <a:ext uri="{FF2B5EF4-FFF2-40B4-BE49-F238E27FC236}">
                <a16:creationId xmlns:a16="http://schemas.microsoft.com/office/drawing/2014/main" id="{8FFF1458-B70C-0168-E68F-CF0BED8CFB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13822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3" name="Line 34">
            <a:extLst>
              <a:ext uri="{FF2B5EF4-FFF2-40B4-BE49-F238E27FC236}">
                <a16:creationId xmlns:a16="http://schemas.microsoft.com/office/drawing/2014/main" id="{50EE72F7-8D6D-2FBA-508C-4E92C861AF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21442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4" name="Line 35">
            <a:extLst>
              <a:ext uri="{FF2B5EF4-FFF2-40B4-BE49-F238E27FC236}">
                <a16:creationId xmlns:a16="http://schemas.microsoft.com/office/drawing/2014/main" id="{3F2B5086-1318-9634-F904-9ED0E66AEA3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5214424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5" name="Line 36">
            <a:extLst>
              <a:ext uri="{FF2B5EF4-FFF2-40B4-BE49-F238E27FC236}">
                <a16:creationId xmlns:a16="http://schemas.microsoft.com/office/drawing/2014/main" id="{7D8C60FF-173E-7816-2EAF-AFD924F8EFA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13822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6" name="Line 37">
            <a:extLst>
              <a:ext uri="{FF2B5EF4-FFF2-40B4-BE49-F238E27FC236}">
                <a16:creationId xmlns:a16="http://schemas.microsoft.com/office/drawing/2014/main" id="{FEEC3462-B22E-99EF-F1E6-474E561BED48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21442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7" name="Line 38">
            <a:extLst>
              <a:ext uri="{FF2B5EF4-FFF2-40B4-BE49-F238E27FC236}">
                <a16:creationId xmlns:a16="http://schemas.microsoft.com/office/drawing/2014/main" id="{D6F0A914-BD2C-21A6-29B3-E72ECB15E09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76400" y="5214424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8" name="Line 39">
            <a:extLst>
              <a:ext uri="{FF2B5EF4-FFF2-40B4-BE49-F238E27FC236}">
                <a16:creationId xmlns:a16="http://schemas.microsoft.com/office/drawing/2014/main" id="{C4F88A40-B218-D1B2-E24C-4F0264B37B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366824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39" name="Line 40">
            <a:extLst>
              <a:ext uri="{FF2B5EF4-FFF2-40B4-BE49-F238E27FC236}">
                <a16:creationId xmlns:a16="http://schemas.microsoft.com/office/drawing/2014/main" id="{82CFFA02-7DCC-4178-1DFC-83C016DE6AB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6800" y="551922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" name="Line 41">
            <a:extLst>
              <a:ext uri="{FF2B5EF4-FFF2-40B4-BE49-F238E27FC236}">
                <a16:creationId xmlns:a16="http://schemas.microsoft.com/office/drawing/2014/main" id="{B96C7382-987D-872B-506E-36731485C6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700" y="5443024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1" name="Line 42">
            <a:extLst>
              <a:ext uri="{FF2B5EF4-FFF2-40B4-BE49-F238E27FC236}">
                <a16:creationId xmlns:a16="http://schemas.microsoft.com/office/drawing/2014/main" id="{0E5E2E27-100A-F1A2-7938-79B4AE8C6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5366824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2" name="Line 43">
            <a:extLst>
              <a:ext uri="{FF2B5EF4-FFF2-40B4-BE49-F238E27FC236}">
                <a16:creationId xmlns:a16="http://schemas.microsoft.com/office/drawing/2014/main" id="{D3121188-7975-7107-3477-B74D6939E0D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0200" y="5519224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3" name="Line 44">
            <a:extLst>
              <a:ext uri="{FF2B5EF4-FFF2-40B4-BE49-F238E27FC236}">
                <a16:creationId xmlns:a16="http://schemas.microsoft.com/office/drawing/2014/main" id="{8A4EE046-E8AF-8236-C69A-8053A271EE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2100" y="5443024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4" name="Rectangle 45">
            <a:extLst>
              <a:ext uri="{FF2B5EF4-FFF2-40B4-BE49-F238E27FC236}">
                <a16:creationId xmlns:a16="http://schemas.microsoft.com/office/drawing/2014/main" id="{932D9F0E-E612-7B8A-28E9-4E2F09A26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1756849"/>
            <a:ext cx="1295400" cy="381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5" name="Text Box 46">
            <a:extLst>
              <a:ext uri="{FF2B5EF4-FFF2-40B4-BE49-F238E27FC236}">
                <a16:creationId xmlns:a16="http://schemas.microsoft.com/office/drawing/2014/main" id="{217BC543-0CB9-0B02-11A7-0305A4128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771137"/>
            <a:ext cx="1295400" cy="366712"/>
          </a:xfrm>
          <a:prstGeom prst="rect">
            <a:avLst/>
          </a:prstGeom>
          <a:solidFill>
            <a:srgbClr val="CC99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 dirty="0">
                <a:latin typeface="Times New Roman" pitchFamily="18" charset="0"/>
              </a:rPr>
              <a:t>Timer 1</a:t>
            </a:r>
          </a:p>
        </p:txBody>
      </p:sp>
      <p:sp>
        <p:nvSpPr>
          <p:cNvPr id="46" name="Rectangle 47">
            <a:extLst>
              <a:ext uri="{FF2B5EF4-FFF2-40B4-BE49-F238E27FC236}">
                <a16:creationId xmlns:a16="http://schemas.microsoft.com/office/drawing/2014/main" id="{CB0884FC-2E71-50A8-F6E3-6126C28FD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7900" y="1375849"/>
            <a:ext cx="1295400" cy="3810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7" name="Text Box 48">
            <a:extLst>
              <a:ext uri="{FF2B5EF4-FFF2-40B4-BE49-F238E27FC236}">
                <a16:creationId xmlns:a16="http://schemas.microsoft.com/office/drawing/2014/main" id="{CEA408DD-CC2F-196C-8D03-46DF7B1CF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1390137"/>
            <a:ext cx="16049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400" b="1">
                <a:latin typeface="Times New Roman" pitchFamily="18" charset="0"/>
              </a:rPr>
              <a:t>Timer/Counter</a:t>
            </a:r>
          </a:p>
        </p:txBody>
      </p:sp>
      <p:sp>
        <p:nvSpPr>
          <p:cNvPr id="48" name="Rectangle 49">
            <a:extLst>
              <a:ext uri="{FF2B5EF4-FFF2-40B4-BE49-F238E27FC236}">
                <a16:creationId xmlns:a16="http://schemas.microsoft.com/office/drawing/2014/main" id="{86D7FEBB-A704-B3D5-2653-65DEDFC7E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538024"/>
            <a:ext cx="1219200" cy="838200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9" name="Text Box 50">
            <a:extLst>
              <a:ext uri="{FF2B5EF4-FFF2-40B4-BE49-F238E27FC236}">
                <a16:creationId xmlns:a16="http://schemas.microsoft.com/office/drawing/2014/main" id="{87E23922-ED11-86CA-6B68-CCED32144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690424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Bus Control</a:t>
            </a:r>
          </a:p>
        </p:txBody>
      </p:sp>
      <p:sp>
        <p:nvSpPr>
          <p:cNvPr id="50" name="Line 51">
            <a:extLst>
              <a:ext uri="{FF2B5EF4-FFF2-40B4-BE49-F238E27FC236}">
                <a16:creationId xmlns:a16="http://schemas.microsoft.com/office/drawing/2014/main" id="{8EEF8EA4-C3A6-D29F-E4FE-78DA05A47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37622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1" name="Line 52">
            <a:extLst>
              <a:ext uri="{FF2B5EF4-FFF2-40B4-BE49-F238E27FC236}">
                <a16:creationId xmlns:a16="http://schemas.microsoft.com/office/drawing/2014/main" id="{65C3B28C-DB34-7D9B-F357-BE429C2433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376224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2" name="Line 53">
            <a:extLst>
              <a:ext uri="{FF2B5EF4-FFF2-40B4-BE49-F238E27FC236}">
                <a16:creationId xmlns:a16="http://schemas.microsoft.com/office/drawing/2014/main" id="{646B4A9C-545E-55E9-17A7-994DCC37AEB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437622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" name="Line 54">
            <a:extLst>
              <a:ext uri="{FF2B5EF4-FFF2-40B4-BE49-F238E27FC236}">
                <a16:creationId xmlns:a16="http://schemas.microsoft.com/office/drawing/2014/main" id="{C859A994-BDC2-F6DD-69DD-27D81AA250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37622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4" name="Line 55">
            <a:extLst>
              <a:ext uri="{FF2B5EF4-FFF2-40B4-BE49-F238E27FC236}">
                <a16:creationId xmlns:a16="http://schemas.microsoft.com/office/drawing/2014/main" id="{3395650A-7C1B-25A7-449A-6C4FE11F36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437622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5" name="Line 56">
            <a:extLst>
              <a:ext uri="{FF2B5EF4-FFF2-40B4-BE49-F238E27FC236}">
                <a16:creationId xmlns:a16="http://schemas.microsoft.com/office/drawing/2014/main" id="{D07FE87C-2BF7-B8DF-A3C9-BC3CA9B749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37622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6" name="Line 57">
            <a:extLst>
              <a:ext uri="{FF2B5EF4-FFF2-40B4-BE49-F238E27FC236}">
                <a16:creationId xmlns:a16="http://schemas.microsoft.com/office/drawing/2014/main" id="{79A4D33D-9F1D-44BC-9340-025BADC31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437622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" name="Line 58">
            <a:extLst>
              <a:ext uri="{FF2B5EF4-FFF2-40B4-BE49-F238E27FC236}">
                <a16:creationId xmlns:a16="http://schemas.microsoft.com/office/drawing/2014/main" id="{71DBB6F7-2669-C894-036E-A8F5F3E848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4376224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8" name="Text Box 59">
            <a:extLst>
              <a:ext uri="{FF2B5EF4-FFF2-40B4-BE49-F238E27FC236}">
                <a16:creationId xmlns:a16="http://schemas.microsoft.com/office/drawing/2014/main" id="{79F1DAD9-5E6F-97CC-809C-AF0FCE1D7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757224"/>
            <a:ext cx="1295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TxD  RxD</a:t>
            </a:r>
          </a:p>
        </p:txBody>
      </p:sp>
      <p:sp>
        <p:nvSpPr>
          <p:cNvPr id="59" name="Text Box 60">
            <a:extLst>
              <a:ext uri="{FF2B5EF4-FFF2-40B4-BE49-F238E27FC236}">
                <a16:creationId xmlns:a16="http://schemas.microsoft.com/office/drawing/2014/main" id="{A4C5F2A9-25F0-B145-FEC1-92676A493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4757224"/>
            <a:ext cx="13906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600" b="1">
                <a:latin typeface="Times New Roman" pitchFamily="18" charset="0"/>
              </a:rPr>
              <a:t>P0 P1 P2 P3</a:t>
            </a:r>
          </a:p>
        </p:txBody>
      </p:sp>
      <p:sp>
        <p:nvSpPr>
          <p:cNvPr id="60" name="AutoShape 61">
            <a:extLst>
              <a:ext uri="{FF2B5EF4-FFF2-40B4-BE49-F238E27FC236}">
                <a16:creationId xmlns:a16="http://schemas.microsoft.com/office/drawing/2014/main" id="{340C4B2B-6ACB-98F1-4F33-CD8921B6623D}"/>
              </a:ext>
            </a:extLst>
          </p:cNvPr>
          <p:cNvSpPr>
            <a:spLocks/>
          </p:cNvSpPr>
          <p:nvPr/>
        </p:nvSpPr>
        <p:spPr bwMode="auto">
          <a:xfrm rot="-5400000">
            <a:off x="4419600" y="4985824"/>
            <a:ext cx="152400" cy="304800"/>
          </a:xfrm>
          <a:prstGeom prst="lef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1" name="Text Box 62">
            <a:extLst>
              <a:ext uri="{FF2B5EF4-FFF2-40B4-BE49-F238E27FC236}">
                <a16:creationId xmlns:a16="http://schemas.microsoft.com/office/drawing/2014/main" id="{37516104-7E4F-719B-5AF0-8646C61F9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138224"/>
            <a:ext cx="1828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Address/Data</a:t>
            </a:r>
          </a:p>
        </p:txBody>
      </p:sp>
      <p:sp>
        <p:nvSpPr>
          <p:cNvPr id="62" name="AutoShape 63">
            <a:extLst>
              <a:ext uri="{FF2B5EF4-FFF2-40B4-BE49-F238E27FC236}">
                <a16:creationId xmlns:a16="http://schemas.microsoft.com/office/drawing/2014/main" id="{F354C30D-E17C-9E9C-92A7-10ECFB4932DE}"/>
              </a:ext>
            </a:extLst>
          </p:cNvPr>
          <p:cNvSpPr>
            <a:spLocks/>
          </p:cNvSpPr>
          <p:nvPr/>
        </p:nvSpPr>
        <p:spPr bwMode="auto">
          <a:xfrm>
            <a:off x="7696200" y="1861624"/>
            <a:ext cx="76200" cy="533400"/>
          </a:xfrm>
          <a:prstGeom prst="rightBrace">
            <a:avLst>
              <a:gd name="adj1" fmla="val 58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3" name="Line 64">
            <a:extLst>
              <a:ext uri="{FF2B5EF4-FFF2-40B4-BE49-F238E27FC236}">
                <a16:creationId xmlns:a16="http://schemas.microsoft.com/office/drawing/2014/main" id="{92BFDE24-1F78-9D45-05C7-A3E3BED233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1937824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" name="Line 65">
            <a:extLst>
              <a:ext uri="{FF2B5EF4-FFF2-40B4-BE49-F238E27FC236}">
                <a16:creationId xmlns:a16="http://schemas.microsoft.com/office/drawing/2014/main" id="{FBD6ABD4-255F-507B-D6B4-F3339364F1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91400" y="2395024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5" name="Text Box 66">
            <a:extLst>
              <a:ext uri="{FF2B5EF4-FFF2-40B4-BE49-F238E27FC236}">
                <a16:creationId xmlns:a16="http://schemas.microsoft.com/office/drawing/2014/main" id="{2A0FF45A-6FB4-FE26-363C-1E7991279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785424"/>
            <a:ext cx="1143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Arial" charset="0"/>
                <a:cs typeface="Arial" charset="0"/>
              </a:defRPr>
            </a:lvl9pPr>
          </a:lstStyle>
          <a:p>
            <a:pPr eaLnBrk="1" fontAlgn="b" hangingPunct="1">
              <a:spcBef>
                <a:spcPct val="50000"/>
              </a:spcBef>
            </a:pPr>
            <a:r>
              <a:rPr kumimoji="1" lang="en-US" altLang="zh-TW" sz="1800" b="1">
                <a:latin typeface="Times New Roman" pitchFamily="18" charset="0"/>
              </a:rPr>
              <a:t>Counter Inputs</a:t>
            </a:r>
          </a:p>
        </p:txBody>
      </p:sp>
      <p:sp>
        <p:nvSpPr>
          <p:cNvPr id="66" name="AutoShape 67">
            <a:extLst>
              <a:ext uri="{FF2B5EF4-FFF2-40B4-BE49-F238E27FC236}">
                <a16:creationId xmlns:a16="http://schemas.microsoft.com/office/drawing/2014/main" id="{8625AA1B-2FB4-4A65-E623-018FA3487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852224"/>
            <a:ext cx="4876800" cy="381000"/>
          </a:xfrm>
          <a:prstGeom prst="leftArrow">
            <a:avLst>
              <a:gd name="adj1" fmla="val 68333"/>
              <a:gd name="adj2" fmla="val 682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7" name="AutoShape 69">
            <a:extLst>
              <a:ext uri="{FF2B5EF4-FFF2-40B4-BE49-F238E27FC236}">
                <a16:creationId xmlns:a16="http://schemas.microsoft.com/office/drawing/2014/main" id="{30944D09-E6C8-892C-57A4-18DB46A79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547424"/>
            <a:ext cx="457200" cy="990600"/>
          </a:xfrm>
          <a:prstGeom prst="upDownArrow">
            <a:avLst>
              <a:gd name="adj1" fmla="val 50000"/>
              <a:gd name="adj2" fmla="val 4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8" name="Rectangle 71">
            <a:extLst>
              <a:ext uri="{FF2B5EF4-FFF2-40B4-BE49-F238E27FC236}">
                <a16:creationId xmlns:a16="http://schemas.microsoft.com/office/drawing/2014/main" id="{AB73DB71-7BAE-2807-0AB9-8E21EE801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928424"/>
            <a:ext cx="44196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69" name="AutoShape 68">
            <a:extLst>
              <a:ext uri="{FF2B5EF4-FFF2-40B4-BE49-F238E27FC236}">
                <a16:creationId xmlns:a16="http://schemas.microsoft.com/office/drawing/2014/main" id="{BCD7FF93-E8B2-7488-2FDD-13EB0F120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525199"/>
            <a:ext cx="457200" cy="990600"/>
          </a:xfrm>
          <a:prstGeom prst="upDownArrow">
            <a:avLst>
              <a:gd name="adj1" fmla="val 50000"/>
              <a:gd name="adj2" fmla="val 4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70" name="AutoShape 68">
            <a:extLst>
              <a:ext uri="{FF2B5EF4-FFF2-40B4-BE49-F238E27FC236}">
                <a16:creationId xmlns:a16="http://schemas.microsoft.com/office/drawing/2014/main" id="{58EDEE49-E806-6F3B-0525-94E2D7B0A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013" y="2525199"/>
            <a:ext cx="457200" cy="990600"/>
          </a:xfrm>
          <a:prstGeom prst="upDownArrow">
            <a:avLst>
              <a:gd name="adj1" fmla="val 50000"/>
              <a:gd name="adj2" fmla="val 43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5754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E8CC01-D308-97F4-B685-3AA37BC56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443C-69FF-98B8-9BF5-B85A960983A3}"/>
              </a:ext>
            </a:extLst>
          </p:cNvPr>
          <p:cNvSpPr txBox="1">
            <a:spLocks/>
          </p:cNvSpPr>
          <p:nvPr/>
        </p:nvSpPr>
        <p:spPr>
          <a:xfrm>
            <a:off x="253218" y="67620"/>
            <a:ext cx="8737714" cy="6122165"/>
          </a:xfrm>
          <a:prstGeom prst="rect">
            <a:avLst/>
          </a:prstGeom>
        </p:spPr>
        <p:txBody>
          <a:bodyPr/>
          <a:lstStyle>
            <a:lvl1pPr marL="171450" indent="-171450" algn="l" defTabSz="685800" rtl="0" eaLnBrk="1" latinLnBrk="0" hangingPunct="1">
              <a:lnSpc>
                <a:spcPct val="120000"/>
              </a:lnSpc>
              <a:spcBef>
                <a:spcPts val="75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35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05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120000"/>
              </a:lnSpc>
              <a:spcBef>
                <a:spcPts val="375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9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Microcontroller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4KB bytes on-chip program memory (ROM)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 bytes on-chip data memory (RAM)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register banks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8-bit bidirectional data bus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unidirectional address bus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 general purpose registers each of 8-bit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bit Timers (usually 2, but may have more or less)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internal and two external Interrupts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8-bit ports,(short model have two 8-bit ports)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16-bit program counter and data pointer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8051 may also have a number of special features such as UARTs, ADC, Op-amp, etc.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604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113E20-31A9-BBB5-1637-358DD1499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854B3-7886-4CE3-ECDD-6DA5D6BCA895}"/>
              </a:ext>
            </a:extLst>
          </p:cNvPr>
          <p:cNvSpPr txBox="1"/>
          <p:nvPr/>
        </p:nvSpPr>
        <p:spPr>
          <a:xfrm>
            <a:off x="154744" y="555062"/>
            <a:ext cx="882044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Microprocessors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Microprocessors are used where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power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required.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computers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Laptops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Servers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Gaming consoles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 systems</a:t>
            </a:r>
          </a:p>
        </p:txBody>
      </p:sp>
    </p:spTree>
    <p:extLst>
      <p:ext uri="{BB962C8B-B14F-4D97-AF65-F5344CB8AC3E}">
        <p14:creationId xmlns:p14="http://schemas.microsoft.com/office/powerpoint/2010/main" val="643061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DB8D88-7F9F-0C3F-E6CA-265090C4E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59DA7A-C0C6-E6B4-ED2A-C8FDA2FAE2BD}"/>
              </a:ext>
            </a:extLst>
          </p:cNvPr>
          <p:cNvSpPr txBox="1"/>
          <p:nvPr/>
        </p:nvSpPr>
        <p:spPr>
          <a:xfrm>
            <a:off x="0" y="522793"/>
            <a:ext cx="9144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Microcontrollers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Microcontrollers are designed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control and interfacing are more important than raw computing power.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appliances (Washing machines, Ovens, Smart TV, AC, ….)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Automotive systems (Airbags, Engine control unit, ….)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Electronics (Camera, Printer, Smart Watch, …)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 (Motor Controller, Process control, …)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Equipment (ECG Monitors, BP Monitors, Ventilators, …)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and Smart Devices (Smart Home, Smart Lighting, Weather Station, Security System, Environment monitoring, …)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(Drone, Robot arms, Line following robots, …)</a:t>
            </a:r>
          </a:p>
        </p:txBody>
      </p:sp>
    </p:spTree>
    <p:extLst>
      <p:ext uri="{BB962C8B-B14F-4D97-AF65-F5344CB8AC3E}">
        <p14:creationId xmlns:p14="http://schemas.microsoft.com/office/powerpoint/2010/main" val="2407051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1AB270-BAB3-48BA-22B2-32D1FFC6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A1142B-F236-F5D8-1AAC-5FF04AA308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097100"/>
              </p:ext>
            </p:extLst>
          </p:nvPr>
        </p:nvGraphicFramePr>
        <p:xfrm>
          <a:off x="351690" y="700768"/>
          <a:ext cx="7132320" cy="4996643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1967536309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8953439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353935460"/>
                    </a:ext>
                  </a:extLst>
                </a:gridCol>
              </a:tblGrid>
              <a:tr h="407889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Microprocessor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473597"/>
                  </a:ext>
                </a:extLst>
              </a:tr>
              <a:tr h="1019724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CPU on chip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+ Memory + Peripherals on one chip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933872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internal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0328783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812187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ADC/DAC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Usually 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built-in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1549932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Built-in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2202919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447521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Consumption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064879"/>
                  </a:ext>
                </a:extLst>
              </a:tr>
              <a:tr h="407889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078349"/>
                  </a:ext>
                </a:extLst>
              </a:tr>
              <a:tr h="713807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PCs, servers, workstations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systems, IoT, appliances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688017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F86A50B4-1B67-A44D-AA94-772DC3F18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228" y="39969"/>
            <a:ext cx="775955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Microprocessor and Microcontroller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18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126E04-9CFE-B905-414D-B0040EF3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177F4-A86D-00DE-AFE2-15A65106709F}"/>
              </a:ext>
            </a:extLst>
          </p:cNvPr>
          <p:cNvSpPr txBox="1"/>
          <p:nvPr/>
        </p:nvSpPr>
        <p:spPr>
          <a:xfrm>
            <a:off x="14072" y="534572"/>
            <a:ext cx="91440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 of Microprocessors and Microcontrollers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019A7-83AE-64DA-6253-ACDE727122ED}"/>
              </a:ext>
            </a:extLst>
          </p:cNvPr>
          <p:cNvSpPr txBox="1"/>
          <p:nvPr/>
        </p:nvSpPr>
        <p:spPr>
          <a:xfrm>
            <a:off x="56276" y="1181685"/>
            <a:ext cx="901738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Speed, High Computing power, Flexible System Design, Supports OS, Easy to upgrade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Cost, Power Consumption, Require lot of peripherals, ….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Compact design, low cost, low power consumption, Simple H/W design, Reliable, Realtime Control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Memory, Limited Processing power, Not ideal for Full OS, Restricted Multi tasking and Limited expandability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731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58DFAF-F993-7663-D46A-FACB6C267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F4D523-0A6B-7982-F127-4402AC490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855914"/>
              </p:ext>
            </p:extLst>
          </p:nvPr>
        </p:nvGraphicFramePr>
        <p:xfrm>
          <a:off x="470047" y="990841"/>
          <a:ext cx="8460030" cy="4815840"/>
        </p:xfrm>
        <a:graphic>
          <a:graphicData uri="http://schemas.openxmlformats.org/drawingml/2006/table">
            <a:tbl>
              <a:tblPr/>
              <a:tblGrid>
                <a:gridCol w="2820010">
                  <a:extLst>
                    <a:ext uri="{9D8B030D-6E8A-4147-A177-3AD203B41FA5}">
                      <a16:colId xmlns:a16="http://schemas.microsoft.com/office/drawing/2014/main" val="1988366372"/>
                    </a:ext>
                  </a:extLst>
                </a:gridCol>
                <a:gridCol w="2820010">
                  <a:extLst>
                    <a:ext uri="{9D8B030D-6E8A-4147-A177-3AD203B41FA5}">
                      <a16:colId xmlns:a16="http://schemas.microsoft.com/office/drawing/2014/main" val="933791491"/>
                    </a:ext>
                  </a:extLst>
                </a:gridCol>
                <a:gridCol w="2820010">
                  <a:extLst>
                    <a:ext uri="{9D8B030D-6E8A-4147-A177-3AD203B41FA5}">
                      <a16:colId xmlns:a16="http://schemas.microsoft.com/office/drawing/2014/main" val="1254903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Microprocessor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423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 8086, Intel Core i7, AMD Ryzen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8051, STM32, ESP32, ATmega328P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032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speed, high performance, supports operating systems, large 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cost, compact, low power, built-in peripherals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34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cost, high power consumption, needs external components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Lower processing power, limited memory and expandability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576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Computers, servers, workstations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systems, IoT, home appliances, automation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9096335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89CBE690-F890-E74A-D5ED-F1324673A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223" y="36734"/>
            <a:ext cx="823785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Comparison: Advantages and Limitations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97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30E696-A807-9184-C0FE-77C8A0D34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BCEFB0-1D32-0773-2108-B4CB396119FA}"/>
              </a:ext>
            </a:extLst>
          </p:cNvPr>
          <p:cNvSpPr txBox="1"/>
          <p:nvPr/>
        </p:nvSpPr>
        <p:spPr>
          <a:xfrm>
            <a:off x="98474" y="59512"/>
            <a:ext cx="8918917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ctr"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ARM Cortex-M Processor Family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ARM Cortex-M processor family is a series of 32-bit RISC (Reduced Instruction Set Computer) processors designed for embedded systems and microcontroller applications.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high performance, low power consumption, deterministic real-time operation, and efficient interrupt handling.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Cortex-M family is based on the ARMv6-M, ARMv7-M, ARMv8-M, and ARMv8.1-M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918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D4A16B-74FB-1991-BFF8-EC0F92C5F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168E57-9125-435B-FD86-5C97E269F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047472"/>
              </p:ext>
            </p:extLst>
          </p:nvPr>
        </p:nvGraphicFramePr>
        <p:xfrm>
          <a:off x="126608" y="1031390"/>
          <a:ext cx="8918916" cy="4865514"/>
        </p:xfrm>
        <a:graphic>
          <a:graphicData uri="http://schemas.openxmlformats.org/drawingml/2006/table">
            <a:tbl>
              <a:tblPr/>
              <a:tblGrid>
                <a:gridCol w="2229729">
                  <a:extLst>
                    <a:ext uri="{9D8B030D-6E8A-4147-A177-3AD203B41FA5}">
                      <a16:colId xmlns:a16="http://schemas.microsoft.com/office/drawing/2014/main" val="2027170292"/>
                    </a:ext>
                  </a:extLst>
                </a:gridCol>
                <a:gridCol w="2229729">
                  <a:extLst>
                    <a:ext uri="{9D8B030D-6E8A-4147-A177-3AD203B41FA5}">
                      <a16:colId xmlns:a16="http://schemas.microsoft.com/office/drawing/2014/main" val="1516572551"/>
                    </a:ext>
                  </a:extLst>
                </a:gridCol>
                <a:gridCol w="2229729">
                  <a:extLst>
                    <a:ext uri="{9D8B030D-6E8A-4147-A177-3AD203B41FA5}">
                      <a16:colId xmlns:a16="http://schemas.microsoft.com/office/drawing/2014/main" val="3604521047"/>
                    </a:ext>
                  </a:extLst>
                </a:gridCol>
                <a:gridCol w="2229729">
                  <a:extLst>
                    <a:ext uri="{9D8B030D-6E8A-4147-A177-3AD203B41FA5}">
                      <a16:colId xmlns:a16="http://schemas.microsoft.com/office/drawing/2014/main" val="2332239332"/>
                    </a:ext>
                  </a:extLst>
                </a:gridCol>
              </a:tblGrid>
              <a:tr h="293106"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Processor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Features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Applications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5747000"/>
                  </a:ext>
                </a:extLst>
              </a:tr>
              <a:tr h="496026"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Cortex-M0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ARMv6-M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Lowest cost, low power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embedded systems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103522"/>
                  </a:ext>
                </a:extLst>
              </a:tr>
              <a:tr h="293106"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Cortex-M0+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ARMv6-M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efficiency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Wearables, sensors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5733465"/>
                  </a:ext>
                </a:extLst>
              </a:tr>
              <a:tr h="496026">
                <a:tc>
                  <a:txBody>
                    <a:bodyPr/>
                    <a:lstStyle/>
                    <a:p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Cortex-M3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ARMv7-M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performance, NVIC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Industrial control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2642255"/>
                  </a:ext>
                </a:extLst>
              </a:tr>
              <a:tr h="496026"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Cortex-M4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ARMv7E-M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 + Floating Point (optional)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 control, audio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165706"/>
                  </a:ext>
                </a:extLst>
              </a:tr>
              <a:tr h="496026"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Cortex-M7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ARMv7E-M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Highest performance, cache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Automotive, IoT, robotics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956917"/>
                  </a:ext>
                </a:extLst>
              </a:tr>
              <a:tr h="293106"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Cortex-M23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ARMv8-M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TrustZone security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IoT devices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9515670"/>
                  </a:ext>
                </a:extLst>
              </a:tr>
              <a:tr h="293106"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Cortex-M33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ARMv8-M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 + TrustZone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Industrial automation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769111"/>
                  </a:ext>
                </a:extLst>
              </a:tr>
              <a:tr h="293106"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Cortex-M55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ARMv8.1-M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 acceleration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Edge AI applications</a:t>
                      </a:r>
                    </a:p>
                  </a:txBody>
                  <a:tcPr marL="90187" marR="90187" marT="45093" marB="450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9147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DA1B96-A0A4-2F27-AAAB-6FD4CB6E27D6}"/>
              </a:ext>
            </a:extLst>
          </p:cNvPr>
          <p:cNvSpPr txBox="1"/>
          <p:nvPr/>
        </p:nvSpPr>
        <p:spPr>
          <a:xfrm>
            <a:off x="900331" y="56245"/>
            <a:ext cx="803265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 Cortex-M Processor Family</a:t>
            </a:r>
          </a:p>
        </p:txBody>
      </p:sp>
    </p:spTree>
    <p:extLst>
      <p:ext uri="{BB962C8B-B14F-4D97-AF65-F5344CB8AC3E}">
        <p14:creationId xmlns:p14="http://schemas.microsoft.com/office/powerpoint/2010/main" val="529121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B4CF25-523C-FFD1-3E31-66555534A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12497-4584-D687-5D8C-947BD6A64B8A}"/>
              </a:ext>
            </a:extLst>
          </p:cNvPr>
          <p:cNvSpPr txBox="1"/>
          <p:nvPr/>
        </p:nvSpPr>
        <p:spPr>
          <a:xfrm>
            <a:off x="0" y="222796"/>
            <a:ext cx="91440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ARM Cortex-M Architecture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Cortex-M architecture integrates the CPU core with memories, interrupt controller, and debugging features.</a:t>
            </a:r>
          </a:p>
        </p:txBody>
      </p:sp>
      <p:pic>
        <p:nvPicPr>
          <p:cNvPr id="4098" name="Picture 2" descr="Exploring the ARM® Cortex®-M7 Core: Providing Adaptability ...">
            <a:extLst>
              <a:ext uri="{FF2B5EF4-FFF2-40B4-BE49-F238E27FC236}">
                <a16:creationId xmlns:a16="http://schemas.microsoft.com/office/drawing/2014/main" id="{8E5F75BA-7C1B-6C44-4D42-4DEAA6721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0258" y="1884788"/>
            <a:ext cx="4861047" cy="4055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0289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1F4C55-1AF6-6049-E2B1-A750A2434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E018B2-57E9-BDD1-59C0-17AA4069F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416283"/>
              </p:ext>
            </p:extLst>
          </p:nvPr>
        </p:nvGraphicFramePr>
        <p:xfrm>
          <a:off x="0" y="993470"/>
          <a:ext cx="9144000" cy="5321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99917851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8147122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97087217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47650397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6633976"/>
                    </a:ext>
                  </a:extLst>
                </a:gridCol>
              </a:tblGrid>
              <a:tr h="125617"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Cortex-M0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Cortex-M3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Cortex-M4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Cortex-M7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632017"/>
                  </a:ext>
                </a:extLst>
              </a:tr>
              <a:tr h="125617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ARMv6-M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ARMv7-M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ARMv7E-M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ARMv7E-M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774957"/>
                  </a:ext>
                </a:extLst>
              </a:tr>
              <a:tr h="125617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Type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32-bit RISC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32-bit RISC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32-bit RISC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32-bit RISC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0105284"/>
                  </a:ext>
                </a:extLst>
              </a:tr>
              <a:tr h="125617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Medium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High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017023"/>
                  </a:ext>
                </a:extLst>
              </a:tr>
              <a:tr h="21258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Pipeline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3-stage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3-stage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3-stage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6-stage superscalar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2974640"/>
                  </a:ext>
                </a:extLst>
              </a:tr>
              <a:tr h="29954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 Speed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~50 MHz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~120 MHz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~180 MHz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~600 MHz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7243812"/>
                  </a:ext>
                </a:extLst>
              </a:tr>
              <a:tr h="21258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 Instructions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(Enhanced)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770422"/>
                  </a:ext>
                </a:extLst>
              </a:tr>
              <a:tr h="473480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Floating Point Unit (FPU)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Optional Single Precision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Precision; optional Double Precision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983141"/>
                  </a:ext>
                </a:extLst>
              </a:tr>
              <a:tr h="21258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Cache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501418"/>
                  </a:ext>
                </a:extLst>
              </a:tr>
              <a:tr h="125617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Cache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5899523"/>
                  </a:ext>
                </a:extLst>
              </a:tr>
              <a:tr h="29954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Protection Unit (MPU)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Optional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900873"/>
                  </a:ext>
                </a:extLst>
              </a:tr>
              <a:tr h="299548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Interrupt Controller (NVIC)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4602123"/>
                  </a:ext>
                </a:extLst>
              </a:tr>
              <a:tr h="21258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Consumption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Low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10280"/>
                  </a:ext>
                </a:extLst>
              </a:tr>
              <a:tr h="212583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Performance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Excellent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Outstanding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885953"/>
                  </a:ext>
                </a:extLst>
              </a:tr>
              <a:tr h="386514">
                <a:tc>
                  <a:txBody>
                    <a:bodyPr/>
                    <a:lstStyle/>
                    <a:p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Typical Applications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Sensors, wearables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Industrial control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Motor control, audio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Robotics, automotive, AI, industrial automation</a:t>
                      </a:r>
                    </a:p>
                  </a:txBody>
                  <a:tcPr marL="38651" marR="38651" marT="19326" marB="19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70110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CD7F8B5-B468-3D85-203B-611302DE2E01}"/>
              </a:ext>
            </a:extLst>
          </p:cNvPr>
          <p:cNvSpPr txBox="1"/>
          <p:nvPr/>
        </p:nvSpPr>
        <p:spPr>
          <a:xfrm>
            <a:off x="1336432" y="0"/>
            <a:ext cx="76106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ARM Cortex-M0, Cortex-M3, Cortex-M4, and Cortex-M7 Processors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073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A6FF27-0FE5-C7A9-335B-372FE90D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DB25A7-FD4B-3E46-6D58-AF3081F00B29}"/>
              </a:ext>
            </a:extLst>
          </p:cNvPr>
          <p:cNvSpPr txBox="1"/>
          <p:nvPr/>
        </p:nvSpPr>
        <p:spPr>
          <a:xfrm>
            <a:off x="1441989" y="2543126"/>
            <a:ext cx="62600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STM32 ARM Cortex-M</a:t>
            </a:r>
            <a:endParaRPr lang="en-IN" sz="4400" dirty="0">
              <a:solidFill>
                <a:srgbClr val="FF0000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301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0FD095-3561-8E34-E12B-2AFB4AE6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498AB1-CF86-2545-97F5-C7CAFB756B31}"/>
              </a:ext>
            </a:extLst>
          </p:cNvPr>
          <p:cNvSpPr txBox="1"/>
          <p:nvPr/>
        </p:nvSpPr>
        <p:spPr>
          <a:xfrm>
            <a:off x="168812" y="513082"/>
            <a:ext cx="8798207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Nucleo 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low-cost, open-source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and prototyping board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by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STMicroelectronics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is designed to help students, engineers, and developers learn, prototype, and develop embedded system applications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ARM Cortex-M microcontrollers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board includes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on-board ST-LINK debugger/programmer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users to program and debug the microcontroller directly through a USB cable without requiring an external programmer.</a:t>
            </a:r>
          </a:p>
        </p:txBody>
      </p:sp>
    </p:spTree>
    <p:extLst>
      <p:ext uri="{BB962C8B-B14F-4D97-AF65-F5344CB8AC3E}">
        <p14:creationId xmlns:p14="http://schemas.microsoft.com/office/powerpoint/2010/main" val="21704074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83DC0C-F6E3-8EB4-2CF0-2604B68C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3" name="Picture 2" descr="NUCLEO-F401RE">
            <a:extLst>
              <a:ext uri="{FF2B5EF4-FFF2-40B4-BE49-F238E27FC236}">
                <a16:creationId xmlns:a16="http://schemas.microsoft.com/office/drawing/2014/main" id="{28CF5DEA-23B5-663B-E576-D8FE2F9E3D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11" t="12338" r="2823" b="12919"/>
          <a:stretch/>
        </p:blipFill>
        <p:spPr>
          <a:xfrm>
            <a:off x="1162748" y="351692"/>
            <a:ext cx="6802812" cy="535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3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31759E-7FB7-0BE8-5017-52CF318B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472F7-61A5-D41B-7D2E-730E5A607B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432" t="2477" r="14658" b="5510"/>
          <a:stretch/>
        </p:blipFill>
        <p:spPr>
          <a:xfrm>
            <a:off x="1770852" y="0"/>
            <a:ext cx="4994032" cy="605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992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F5259-5710-40D2-2843-FC8098FA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9F905-C671-88CF-7CAA-3148E870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81E5FC-38BD-7B75-27C6-4A61A5831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-113262"/>
            <a:ext cx="8268929" cy="603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15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8E2BD-68B4-AD58-DDF3-8E4810775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A87E3E-0855-830E-0DE1-1B6D26E4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B385A9-0340-E30A-573E-D89A1ADC03DF}"/>
              </a:ext>
            </a:extLst>
          </p:cNvPr>
          <p:cNvSpPr txBox="1"/>
          <p:nvPr/>
        </p:nvSpPr>
        <p:spPr>
          <a:xfrm>
            <a:off x="98474" y="753802"/>
            <a:ext cx="8898041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Main Features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ARM Cortex-M microcontroller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(M0, M0+, M3, M4, M7, M33, etc., depending on the board)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On-board ST-LINK/V2-1 or ST-LINK/V3 debugger/programmer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interface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programming and power supply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Rev3 compatible headers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expansion shields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Morpho headers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access to all MCU I/O pins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testing 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push button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user input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 button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V operating voltage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STM32CubeIDE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Keil MDK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IAR Embedded Workbench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IO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032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42FDB-1494-F75B-D5CF-B347200F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2FA40F-B732-5F15-A765-0C5250E91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7EC38-B4F3-0498-3837-0FFD92656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9144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47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68D9A-5140-AEB7-FDB5-B55ED550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FB58DBD-5132-7B67-C83F-D499FF57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DAF493-E2AA-4DFE-4A2E-634D6835D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934195"/>
              </p:ext>
            </p:extLst>
          </p:nvPr>
        </p:nvGraphicFramePr>
        <p:xfrm>
          <a:off x="195130" y="601464"/>
          <a:ext cx="8878530" cy="5464848"/>
        </p:xfrm>
        <a:graphic>
          <a:graphicData uri="http://schemas.openxmlformats.org/drawingml/2006/table">
            <a:tbl>
              <a:tblPr/>
              <a:tblGrid>
                <a:gridCol w="4439265">
                  <a:extLst>
                    <a:ext uri="{9D8B030D-6E8A-4147-A177-3AD203B41FA5}">
                      <a16:colId xmlns:a16="http://schemas.microsoft.com/office/drawing/2014/main" val="1978142096"/>
                    </a:ext>
                  </a:extLst>
                </a:gridCol>
                <a:gridCol w="4439265">
                  <a:extLst>
                    <a:ext uri="{9D8B030D-6E8A-4147-A177-3AD203B41FA5}">
                      <a16:colId xmlns:a16="http://schemas.microsoft.com/office/drawing/2014/main" val="511313353"/>
                    </a:ext>
                  </a:extLst>
                </a:gridCol>
              </a:tblGrid>
              <a:tr h="2637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535844"/>
                  </a:ext>
                </a:extLst>
              </a:tr>
              <a:tr h="26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 MCU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the embedded program.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985918"/>
                  </a:ext>
                </a:extLst>
              </a:tr>
              <a:tr h="446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ST-LINK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Programs and debugs the microcontroller through USB.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77098"/>
                  </a:ext>
                </a:extLst>
              </a:tr>
              <a:tr h="446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USB Connector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Supplies power and transfers programming/debugging data.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196530"/>
                  </a:ext>
                </a:extLst>
              </a:tr>
              <a:tr h="446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Arduino Headers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Allow Arduino-compatible shields to be connected.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5431291"/>
                  </a:ext>
                </a:extLst>
              </a:tr>
              <a:tr h="26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Morpho Headers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access to nearly all MCU pins.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972164"/>
                  </a:ext>
                </a:extLst>
              </a:tr>
              <a:tr h="26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LED (LD2)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test and indicate program status.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961376"/>
                  </a:ext>
                </a:extLst>
              </a:tr>
              <a:tr h="26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 LED (LD3)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the board is powered.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16097"/>
                  </a:ext>
                </a:extLst>
              </a:tr>
              <a:tr h="26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Button (B1)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as an input for applications.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974947"/>
                  </a:ext>
                </a:extLst>
              </a:tr>
              <a:tr h="26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Reset Button (B2)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Restarts the microcontroller.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8485378"/>
                  </a:ext>
                </a:extLst>
              </a:tr>
              <a:tr h="263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Clock Circuit</a:t>
                      </a:r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the clock signal required by the MCU.</a:t>
                      </a:r>
                    </a:p>
                  </a:txBody>
                  <a:tcPr marL="81168" marR="81168" marT="40584" marB="405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9810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B1DF46B-D7CF-CAF1-7475-C2F07A0D367D}"/>
              </a:ext>
            </a:extLst>
          </p:cNvPr>
          <p:cNvSpPr txBox="1"/>
          <p:nvPr/>
        </p:nvSpPr>
        <p:spPr>
          <a:xfrm>
            <a:off x="2283542" y="-121368"/>
            <a:ext cx="4576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Components</a:t>
            </a:r>
          </a:p>
        </p:txBody>
      </p:sp>
    </p:spTree>
    <p:extLst>
      <p:ext uri="{BB962C8B-B14F-4D97-AF65-F5344CB8AC3E}">
        <p14:creationId xmlns:p14="http://schemas.microsoft.com/office/powerpoint/2010/main" val="2638416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8217B1-F0B7-4ED3-382C-653FF7883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A4077-A793-CAE8-9B8C-92EF98D79266}"/>
              </a:ext>
            </a:extLst>
          </p:cNvPr>
          <p:cNvSpPr txBox="1"/>
          <p:nvPr/>
        </p:nvSpPr>
        <p:spPr>
          <a:xfrm>
            <a:off x="485467" y="393162"/>
            <a:ext cx="8173065" cy="5144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Low-cost development platform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programming through USB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debugger (no external programmer required)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many STM32 microcontrollers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Compatible with Arduino shields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software ecosystem and community support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 for learning embedded systems and IoT development </a:t>
            </a:r>
          </a:p>
        </p:txBody>
      </p:sp>
    </p:spTree>
    <p:extLst>
      <p:ext uri="{BB962C8B-B14F-4D97-AF65-F5344CB8AC3E}">
        <p14:creationId xmlns:p14="http://schemas.microsoft.com/office/powerpoint/2010/main" val="31033375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7D34F5B-FCD6-4180-252D-FA33B6B26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86D354-2B75-8CD9-151B-67822657FD95}"/>
              </a:ext>
            </a:extLst>
          </p:cNvPr>
          <p:cNvSpPr txBox="1"/>
          <p:nvPr/>
        </p:nvSpPr>
        <p:spPr>
          <a:xfrm>
            <a:off x="154745" y="81551"/>
            <a:ext cx="8806523" cy="5935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 development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device prototyping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control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interfacing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automation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systems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protocol development (UART, SPI, I²C, CAN, USB)</a:t>
            </a:r>
          </a:p>
        </p:txBody>
      </p:sp>
    </p:spTree>
    <p:extLst>
      <p:ext uri="{BB962C8B-B14F-4D97-AF65-F5344CB8AC3E}">
        <p14:creationId xmlns:p14="http://schemas.microsoft.com/office/powerpoint/2010/main" val="12531157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A490E7-CC29-9426-7DB3-E23D6E62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8F16FC-ED5B-C741-203F-63BAD0DAE1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603694"/>
              </p:ext>
            </p:extLst>
          </p:nvPr>
        </p:nvGraphicFramePr>
        <p:xfrm>
          <a:off x="265471" y="1364733"/>
          <a:ext cx="8740878" cy="3322320"/>
        </p:xfrm>
        <a:graphic>
          <a:graphicData uri="http://schemas.openxmlformats.org/drawingml/2006/table">
            <a:tbl>
              <a:tblPr/>
              <a:tblGrid>
                <a:gridCol w="2913626">
                  <a:extLst>
                    <a:ext uri="{9D8B030D-6E8A-4147-A177-3AD203B41FA5}">
                      <a16:colId xmlns:a16="http://schemas.microsoft.com/office/drawing/2014/main" val="257191780"/>
                    </a:ext>
                  </a:extLst>
                </a:gridCol>
                <a:gridCol w="2913626">
                  <a:extLst>
                    <a:ext uri="{9D8B030D-6E8A-4147-A177-3AD203B41FA5}">
                      <a16:colId xmlns:a16="http://schemas.microsoft.com/office/drawing/2014/main" val="1185264247"/>
                    </a:ext>
                  </a:extLst>
                </a:gridCol>
                <a:gridCol w="2913626">
                  <a:extLst>
                    <a:ext uri="{9D8B030D-6E8A-4147-A177-3AD203B41FA5}">
                      <a16:colId xmlns:a16="http://schemas.microsoft.com/office/drawing/2014/main" val="7784534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214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NUCLEO-F103RB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STM32F103RB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Cortex-M3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3638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NUCLEO-F401RE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STM32F401RE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74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NUCLEO-F446RE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STM32F446RE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0563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NUCLEO-L476RG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STM32L476RG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Cortex-M4 (Low Power)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7534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NUCLEO-H743ZI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STM32H743ZI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Cortex-M7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34826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3605A0-47BA-6B00-AEEE-8A84A7B60112}"/>
              </a:ext>
            </a:extLst>
          </p:cNvPr>
          <p:cNvSpPr txBox="1"/>
          <p:nvPr/>
        </p:nvSpPr>
        <p:spPr>
          <a:xfrm>
            <a:off x="801858" y="306946"/>
            <a:ext cx="772316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Common STM32 Nucleo Boards</a:t>
            </a:r>
          </a:p>
        </p:txBody>
      </p:sp>
    </p:spTree>
    <p:extLst>
      <p:ext uri="{BB962C8B-B14F-4D97-AF65-F5344CB8AC3E}">
        <p14:creationId xmlns:p14="http://schemas.microsoft.com/office/powerpoint/2010/main" val="3551757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8EC021-2602-01E1-28FB-47184A8D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5B0DE3-1D51-3F75-A568-17A464927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505695"/>
              </p:ext>
            </p:extLst>
          </p:nvPr>
        </p:nvGraphicFramePr>
        <p:xfrm>
          <a:off x="98326" y="1117015"/>
          <a:ext cx="8957187" cy="4527276"/>
        </p:xfrm>
        <a:graphic>
          <a:graphicData uri="http://schemas.openxmlformats.org/drawingml/2006/table">
            <a:tbl>
              <a:tblPr/>
              <a:tblGrid>
                <a:gridCol w="4465652">
                  <a:extLst>
                    <a:ext uri="{9D8B030D-6E8A-4147-A177-3AD203B41FA5}">
                      <a16:colId xmlns:a16="http://schemas.microsoft.com/office/drawing/2014/main" val="3693759094"/>
                    </a:ext>
                  </a:extLst>
                </a:gridCol>
                <a:gridCol w="4491535">
                  <a:extLst>
                    <a:ext uri="{9D8B030D-6E8A-4147-A177-3AD203B41FA5}">
                      <a16:colId xmlns:a16="http://schemas.microsoft.com/office/drawing/2014/main" val="1515244056"/>
                    </a:ext>
                  </a:extLst>
                </a:gridCol>
              </a:tblGrid>
              <a:tr h="2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02997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Board Name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NUCLEO-F401RE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9970377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STM32F401RET6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474143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 Core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 Cortex-M4 with FPU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071126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 Clock Frequency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 MHz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848041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 Memory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 KB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3457991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SRAM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 KB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485972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Operating Voltage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 V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011926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Supply Voltage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V (USB) or external supply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60357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LQFP-64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1000867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 Pins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 to 51 GPIOs available on headers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3633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49DF5A-0E37-1AE9-AD8F-4F3E595AD5B2}"/>
              </a:ext>
            </a:extLst>
          </p:cNvPr>
          <p:cNvSpPr txBox="1"/>
          <p:nvPr/>
        </p:nvSpPr>
        <p:spPr>
          <a:xfrm>
            <a:off x="1280160" y="179128"/>
            <a:ext cx="64852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32668439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F44EB-2DA1-9559-D019-FEB3D526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2A8789-AEF7-B5C1-1DD5-32CFB8402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5A1410-A881-AAD0-4EB0-4D0C16A0A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438140"/>
              </p:ext>
            </p:extLst>
          </p:nvPr>
        </p:nvGraphicFramePr>
        <p:xfrm>
          <a:off x="117986" y="1286932"/>
          <a:ext cx="8957187" cy="2936412"/>
        </p:xfrm>
        <a:graphic>
          <a:graphicData uri="http://schemas.openxmlformats.org/drawingml/2006/table">
            <a:tbl>
              <a:tblPr/>
              <a:tblGrid>
                <a:gridCol w="3205317">
                  <a:extLst>
                    <a:ext uri="{9D8B030D-6E8A-4147-A177-3AD203B41FA5}">
                      <a16:colId xmlns:a16="http://schemas.microsoft.com/office/drawing/2014/main" val="3693759094"/>
                    </a:ext>
                  </a:extLst>
                </a:gridCol>
                <a:gridCol w="5751870">
                  <a:extLst>
                    <a:ext uri="{9D8B030D-6E8A-4147-A177-3AD203B41FA5}">
                      <a16:colId xmlns:a16="http://schemas.microsoft.com/office/drawing/2014/main" val="1515244056"/>
                    </a:ext>
                  </a:extLst>
                </a:gridCol>
              </a:tblGrid>
              <a:tr h="2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Specification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5802997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ADC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12-bit ADC (up to 16 channels, 2.4 MSPS)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4438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available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565648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Timers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timers (16-bit and 32-bit)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701096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RTC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577390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DMA</a:t>
                      </a:r>
                      <a:endParaRPr lang="en-IN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788462"/>
                  </a:ext>
                </a:extLst>
              </a:tr>
              <a:tr h="20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CRC Unit</a:t>
                      </a: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</a:t>
                      </a:r>
                    </a:p>
                  </a:txBody>
                  <a:tcPr marL="62437" marR="62437" marT="31218" marB="31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7338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EBD3571-3806-C5F0-1BAA-2E710EF25176}"/>
              </a:ext>
            </a:extLst>
          </p:cNvPr>
          <p:cNvSpPr txBox="1"/>
          <p:nvPr/>
        </p:nvSpPr>
        <p:spPr>
          <a:xfrm>
            <a:off x="2283542" y="179128"/>
            <a:ext cx="539741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Technical Specifications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C79A4F-8F37-F2AC-83F5-DABAD4EE6A76}"/>
              </a:ext>
            </a:extLst>
          </p:cNvPr>
          <p:cNvSpPr txBox="1"/>
          <p:nvPr/>
        </p:nvSpPr>
        <p:spPr>
          <a:xfrm>
            <a:off x="4041135" y="3761679"/>
            <a:ext cx="45769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Cyclic Redundancy Check</a:t>
            </a:r>
          </a:p>
        </p:txBody>
      </p:sp>
    </p:spTree>
    <p:extLst>
      <p:ext uri="{BB962C8B-B14F-4D97-AF65-F5344CB8AC3E}">
        <p14:creationId xmlns:p14="http://schemas.microsoft.com/office/powerpoint/2010/main" val="1697278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4305102-2CC0-2827-2612-52CBF7D6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8144C2-4AC4-4D18-CDEE-810E3741A147}"/>
              </a:ext>
            </a:extLst>
          </p:cNvPr>
          <p:cNvSpPr txBox="1"/>
          <p:nvPr/>
        </p:nvSpPr>
        <p:spPr>
          <a:xfrm>
            <a:off x="1095735" y="0"/>
            <a:ext cx="6344265" cy="482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Interfaces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USART/UART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× I²C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× SPI/I²S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2.0 Full-Speed OTG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SDIO Interface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SWD (Serial Wire Debug)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JTAG Debug Support</a:t>
            </a:r>
          </a:p>
        </p:txBody>
      </p:sp>
    </p:spTree>
    <p:extLst>
      <p:ext uri="{BB962C8B-B14F-4D97-AF65-F5344CB8AC3E}">
        <p14:creationId xmlns:p14="http://schemas.microsoft.com/office/powerpoint/2010/main" val="4292148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28E359-F3D1-8917-CAA8-829B487DA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5471D-3C96-3F9C-A037-E34C6D5B9687}"/>
              </a:ext>
            </a:extLst>
          </p:cNvPr>
          <p:cNvSpPr txBox="1"/>
          <p:nvPr/>
        </p:nvSpPr>
        <p:spPr>
          <a:xfrm>
            <a:off x="563458" y="42889"/>
            <a:ext cx="8625348" cy="5936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On-Board Features</a:t>
            </a:r>
            <a:endParaRPr lang="en-IN" sz="2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ST-LINK/V2-1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on-board programmer/debugger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connector for programming and power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User LED (LD2)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Power LED (LD3)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User Push Button (B1)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Reset Button (B2)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32.768 kHz crystal for RTC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Rev3 compatible headers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 Morpho extension headers for full access to MCU pins</a:t>
            </a:r>
          </a:p>
        </p:txBody>
      </p:sp>
    </p:spTree>
    <p:extLst>
      <p:ext uri="{BB962C8B-B14F-4D97-AF65-F5344CB8AC3E}">
        <p14:creationId xmlns:p14="http://schemas.microsoft.com/office/powerpoint/2010/main" val="41641395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501698-8C47-FF43-96FA-51794294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4EE875-CCA7-36BD-2A2F-3CD6E1ED9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611906"/>
              </p:ext>
            </p:extLst>
          </p:nvPr>
        </p:nvGraphicFramePr>
        <p:xfrm>
          <a:off x="56356" y="702452"/>
          <a:ext cx="7455488" cy="1950720"/>
        </p:xfrm>
        <a:graphic>
          <a:graphicData uri="http://schemas.openxmlformats.org/drawingml/2006/table">
            <a:tbl>
              <a:tblPr/>
              <a:tblGrid>
                <a:gridCol w="3727744">
                  <a:extLst>
                    <a:ext uri="{9D8B030D-6E8A-4147-A177-3AD203B41FA5}">
                      <a16:colId xmlns:a16="http://schemas.microsoft.com/office/drawing/2014/main" val="2752942539"/>
                    </a:ext>
                  </a:extLst>
                </a:gridCol>
                <a:gridCol w="3727744">
                  <a:extLst>
                    <a:ext uri="{9D8B030D-6E8A-4147-A177-3AD203B41FA5}">
                      <a16:colId xmlns:a16="http://schemas.microsoft.com/office/drawing/2014/main" val="2381034036"/>
                    </a:ext>
                  </a:extLst>
                </a:gridCol>
              </a:tblGrid>
              <a:tr h="390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6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5904598"/>
                  </a:ext>
                </a:extLst>
              </a:tr>
              <a:tr h="390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116272"/>
                  </a:ext>
                </a:extLst>
              </a:tr>
              <a:tr h="390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 KB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777884"/>
                  </a:ext>
                </a:extLst>
              </a:tr>
              <a:tr h="390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2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35070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018707-0E1E-1A12-57BD-4FC45C44C17D}"/>
              </a:ext>
            </a:extLst>
          </p:cNvPr>
          <p:cNvSpPr txBox="1"/>
          <p:nvPr/>
        </p:nvSpPr>
        <p:spPr>
          <a:xfrm>
            <a:off x="2062316" y="45736"/>
            <a:ext cx="45769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Memory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ECAB3B-FCF0-6DB1-ECDA-96177BCCEDB7}"/>
              </a:ext>
            </a:extLst>
          </p:cNvPr>
          <p:cNvSpPr txBox="1"/>
          <p:nvPr/>
        </p:nvSpPr>
        <p:spPr>
          <a:xfrm>
            <a:off x="56356" y="2271819"/>
            <a:ext cx="90876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Clock Sources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High-Speed Oscillator (HSI)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Low-Speed Oscillator (LSI)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High-Speed Clock (supported)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32.768 kHz RTC crystal on the board </a:t>
            </a:r>
          </a:p>
        </p:txBody>
      </p:sp>
    </p:spTree>
    <p:extLst>
      <p:ext uri="{BB962C8B-B14F-4D97-AF65-F5344CB8AC3E}">
        <p14:creationId xmlns:p14="http://schemas.microsoft.com/office/powerpoint/2010/main" val="3356509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D136B4-98CB-397C-9ACB-2BCD0594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1E0E8-40DB-D61F-D9A7-1301D4B912A1}"/>
              </a:ext>
            </a:extLst>
          </p:cNvPr>
          <p:cNvSpPr txBox="1"/>
          <p:nvPr/>
        </p:nvSpPr>
        <p:spPr>
          <a:xfrm>
            <a:off x="239152" y="44277"/>
            <a:ext cx="8015590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Development Software</a:t>
            </a:r>
            <a:endParaRPr lang="en-IN" sz="4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NUCLEO-F401RE supports: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STM32CubeIDE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STM32CubeMX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Keil MDK-ARM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IAR Embedded Workbench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IO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GCC ARM Embedded Toolchain</a:t>
            </a:r>
          </a:p>
        </p:txBody>
      </p:sp>
    </p:spTree>
    <p:extLst>
      <p:ext uri="{BB962C8B-B14F-4D97-AF65-F5344CB8AC3E}">
        <p14:creationId xmlns:p14="http://schemas.microsoft.com/office/powerpoint/2010/main" val="40568943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C1500C-CFBA-0DD5-C155-CE3D8451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9C1040-64BC-D068-24C3-1DF2F1A7ECAE}"/>
              </a:ext>
            </a:extLst>
          </p:cNvPr>
          <p:cNvSpPr txBox="1"/>
          <p:nvPr/>
        </p:nvSpPr>
        <p:spPr>
          <a:xfrm>
            <a:off x="956603" y="31527"/>
            <a:ext cx="7784274" cy="5935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4000" b="1" dirty="0">
                <a:solidFill>
                  <a:srgbClr val="FF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GPIO Ports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organizes GPIO pins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GPIOA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GPIOB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GPIOC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GPIOH (only 2 pins H1 and H2)</a:t>
            </a:r>
          </a:p>
          <a:p>
            <a:pPr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port contains up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pins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numbered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0–15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7020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168329-89FB-2D82-EDC5-D4DF07D10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D600E1-FEC3-4046-BED0-17A34C173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931691"/>
              </p:ext>
            </p:extLst>
          </p:nvPr>
        </p:nvGraphicFramePr>
        <p:xfrm>
          <a:off x="140677" y="657449"/>
          <a:ext cx="8848580" cy="5430564"/>
        </p:xfrm>
        <a:graphic>
          <a:graphicData uri="http://schemas.openxmlformats.org/drawingml/2006/table">
            <a:tbl>
              <a:tblPr/>
              <a:tblGrid>
                <a:gridCol w="2212145">
                  <a:extLst>
                    <a:ext uri="{9D8B030D-6E8A-4147-A177-3AD203B41FA5}">
                      <a16:colId xmlns:a16="http://schemas.microsoft.com/office/drawing/2014/main" val="2047364806"/>
                    </a:ext>
                  </a:extLst>
                </a:gridCol>
                <a:gridCol w="2212145">
                  <a:extLst>
                    <a:ext uri="{9D8B030D-6E8A-4147-A177-3AD203B41FA5}">
                      <a16:colId xmlns:a16="http://schemas.microsoft.com/office/drawing/2014/main" val="2922389456"/>
                    </a:ext>
                  </a:extLst>
                </a:gridCol>
                <a:gridCol w="2212145">
                  <a:extLst>
                    <a:ext uri="{9D8B030D-6E8A-4147-A177-3AD203B41FA5}">
                      <a16:colId xmlns:a16="http://schemas.microsoft.com/office/drawing/2014/main" val="3322224423"/>
                    </a:ext>
                  </a:extLst>
                </a:gridCol>
                <a:gridCol w="2212145">
                  <a:extLst>
                    <a:ext uri="{9D8B030D-6E8A-4147-A177-3AD203B41FA5}">
                      <a16:colId xmlns:a16="http://schemas.microsoft.com/office/drawing/2014/main" val="500709308"/>
                    </a:ext>
                  </a:extLst>
                </a:gridCol>
              </a:tblGrid>
              <a:tr h="266936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Applications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197786"/>
                  </a:ext>
                </a:extLst>
              </a:tr>
              <a:tr h="63654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Pipeline Architecture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6-stage superscalar pipeline with dual-issue capability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Higher instruction throughput and faster execution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Robotics, industrial automation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201586"/>
                  </a:ext>
                </a:extLst>
              </a:tr>
              <a:tr h="63654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Cache Memory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Separate Instruction Cache (I-Cache) and Data Cache (D-Cache)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memory access and improved performance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Embedded systems, IoT, automotive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7246397"/>
                  </a:ext>
                </a:extLst>
              </a:tr>
              <a:tr h="63654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Floating-Point Unit (FPU)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support for floating-point arithmetic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and more accurate mathematical operations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Scientific computing, robotics, medical devices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729649"/>
                  </a:ext>
                </a:extLst>
              </a:tr>
              <a:tr h="63654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 Instructions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MAC, SIMD, saturation arithmetic, bit manipulation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High-speed signal processing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Audio, image processing, motor control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918573"/>
                  </a:ext>
                </a:extLst>
              </a:tr>
              <a:tr h="63654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Interrupt Latency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response using NVIC with automatic context handling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Predictable, low-latency interrupt servicing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control, automotive ECUs, industrial systems</a:t>
                      </a:r>
                    </a:p>
                  </a:txBody>
                  <a:tcPr marL="82134" marR="82134" marT="41067" marB="410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732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449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E4E128-E9E9-A6C4-400B-22FCEE2B4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833021-33F7-A913-4DB0-2ED12490280A}"/>
              </a:ext>
            </a:extLst>
          </p:cNvPr>
          <p:cNvSpPr txBox="1"/>
          <p:nvPr/>
        </p:nvSpPr>
        <p:spPr>
          <a:xfrm>
            <a:off x="196948" y="-29886"/>
            <a:ext cx="8806375" cy="608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kern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Advanced Features of Cortex-M7</a:t>
            </a:r>
            <a:endParaRPr lang="en-IN" sz="400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Six-Stage Pipeline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Stages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 Instruction (FI)  - Fetch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Decode Instruction (DI)  - Decode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 Operand (CO) – Issue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Fetch Operand(FO) – Execute 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 Instruction (EI) – Memory Access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Operand (WO) – Write Back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throughput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Multiple instructions processed simultaneously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Increased clock frequency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Better CPU utilization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7849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6E1AF7-7136-4D65-497B-C8AF9F3FA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1F22F1-48F0-0D36-0494-17F02E906FD7}"/>
              </a:ext>
            </a:extLst>
          </p:cNvPr>
          <p:cNvSpPr txBox="1"/>
          <p:nvPr/>
        </p:nvSpPr>
        <p:spPr>
          <a:xfrm>
            <a:off x="148549" y="36005"/>
            <a:ext cx="8846902" cy="3320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Harvard Architecture</a:t>
            </a:r>
            <a:endParaRPr lang="en-IN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Separate buses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Bus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Bus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Simultaneous instruction fetch and data access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execution, Reduced bottleneck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F2B633-4562-A235-E9BA-56515D4C5658}"/>
              </a:ext>
            </a:extLst>
          </p:cNvPr>
          <p:cNvSpPr txBox="1"/>
          <p:nvPr/>
        </p:nvSpPr>
        <p:spPr>
          <a:xfrm>
            <a:off x="297097" y="3223567"/>
            <a:ext cx="8846901" cy="2894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Branch Prediction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Whether a branch instruction will be taken.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Reduces pipeline stalls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Improves execution speed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0433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5EF9E5-0295-BF88-A9B5-9CC3C037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E6072-D73C-D53D-AFD8-1FFAB72A4D4D}"/>
              </a:ext>
            </a:extLst>
          </p:cNvPr>
          <p:cNvSpPr txBox="1"/>
          <p:nvPr/>
        </p:nvSpPr>
        <p:spPr>
          <a:xfrm>
            <a:off x="112542" y="130992"/>
            <a:ext cx="8932984" cy="5846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Cache Memory</a:t>
            </a:r>
            <a:endParaRPr lang="en-IN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Two independent caches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I-Cache (Instruction Cache):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Stores recently executed instructions.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D-Cache (Data Cache):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Stores frequently accessed data.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Typical size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16 KB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32 KB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64 KB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memory access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Reduced Flash access time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Increased processor speed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074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585D0A-9CAE-6AB4-1465-2F13E339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E0CBC-F356-94C9-D651-571E02352342}"/>
              </a:ext>
            </a:extLst>
          </p:cNvPr>
          <p:cNvSpPr txBox="1"/>
          <p:nvPr/>
        </p:nvSpPr>
        <p:spPr>
          <a:xfrm>
            <a:off x="0" y="63283"/>
            <a:ext cx="4579034" cy="4189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 TCM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Tightly Coupled Memory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ITCM (Instruction TCM)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DTCM (Data TCM)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Zero wait-state memory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Predictable execution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Suitable for real-time applications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370E6-624A-A112-89EF-83E15415A450}"/>
              </a:ext>
            </a:extLst>
          </p:cNvPr>
          <p:cNvSpPr txBox="1"/>
          <p:nvPr/>
        </p:nvSpPr>
        <p:spPr>
          <a:xfrm>
            <a:off x="4267868" y="19138"/>
            <a:ext cx="4621236" cy="5830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FPU</a:t>
            </a:r>
            <a:endParaRPr lang="en-IN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Floating Point Unit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Single Precision (32-bit), Double Precision (64-bit) (implementation dependent)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mathematical operations, Scientific calculations, Control algorithms, Robotics, 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Sensor fusion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Without FPU Floating multiplication, Software execution are slow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With FPU: Hardware execution Very Fast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0453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A44DB8-CDF1-0167-15D2-6EA6355F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BA09C-8BC6-326A-5A23-A8BD5EABA2E0}"/>
              </a:ext>
            </a:extLst>
          </p:cNvPr>
          <p:cNvSpPr txBox="1"/>
          <p:nvPr/>
        </p:nvSpPr>
        <p:spPr>
          <a:xfrm>
            <a:off x="140676" y="0"/>
            <a:ext cx="5711483" cy="6305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DSP Instructions</a:t>
            </a:r>
            <a:endParaRPr lang="en-IN" sz="4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Digital Signal Processing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Dedicated instructions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MAC (Multiply Accumulate)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Saturation Arithmetic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SIMD (Single Instruction Multiple Data)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Audio processing</a:t>
            </a:r>
            <a:endParaRPr lang="en-IN" sz="2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processing, Motor control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FFT, FIR filters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= A + B × C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Executed in a single instruction.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C49B3-8F35-3B4F-91B8-1F42A945E9FB}"/>
              </a:ext>
            </a:extLst>
          </p:cNvPr>
          <p:cNvSpPr txBox="1"/>
          <p:nvPr/>
        </p:nvSpPr>
        <p:spPr>
          <a:xfrm>
            <a:off x="4579034" y="1039750"/>
            <a:ext cx="4579034" cy="3981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DMA Support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Direct Memory Access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Transfers data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Memory ↔ Peripheral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Without CPU involvement.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r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communication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Reduced CPU load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382231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C3D121-DA28-37FE-DF84-026C7D8BC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FFBB74-4B17-36CC-682B-622846299C3A}"/>
              </a:ext>
            </a:extLst>
          </p:cNvPr>
          <p:cNvSpPr txBox="1"/>
          <p:nvPr/>
        </p:nvSpPr>
        <p:spPr>
          <a:xfrm>
            <a:off x="1121898" y="85257"/>
            <a:ext cx="4579034" cy="445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9. ECC</a:t>
            </a:r>
            <a:endParaRPr lang="en-IN" sz="4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Error Correction Code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Used in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Flash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SRAM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Detects memory errors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Corrects single-bit errors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Improves reliability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876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EB154-5669-D9E1-2E70-1B3BA013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26A0B-CC44-C347-68E2-CB5F0E8E8B15}"/>
              </a:ext>
            </a:extLst>
          </p:cNvPr>
          <p:cNvSpPr txBox="1"/>
          <p:nvPr/>
        </p:nvSpPr>
        <p:spPr>
          <a:xfrm>
            <a:off x="323558" y="0"/>
            <a:ext cx="8707900" cy="6138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kern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Pipeline Architecture</a:t>
            </a:r>
            <a:endParaRPr lang="en-IN" sz="400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Pipeline divides instruction execution into several stages. Instead of completing one instruction before starting another Multiple instructions are processed simultaneously.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Clock Cycle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Instruction 1   Fetch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2          Fetch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3                 Fetch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Meanwhile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Instruction 1 Decode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2 Decode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Instruction 1 Execute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IN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...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E7A54E-BD22-9922-64F4-EC8EC842E408}"/>
              </a:ext>
            </a:extLst>
          </p:cNvPr>
          <p:cNvSpPr txBox="1"/>
          <p:nvPr/>
        </p:nvSpPr>
        <p:spPr>
          <a:xfrm>
            <a:off x="4241408" y="2231595"/>
            <a:ext cx="4579034" cy="2427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30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Higher throughput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Increased processor utilization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Higher clock frequency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Better overall performance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74251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498D0A-C1AE-CA08-1EFE-A0DBE6C4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7D812-6D26-C575-40AE-D96161F37E6A}"/>
              </a:ext>
            </a:extLst>
          </p:cNvPr>
          <p:cNvSpPr txBox="1"/>
          <p:nvPr/>
        </p:nvSpPr>
        <p:spPr>
          <a:xfrm>
            <a:off x="267287" y="201527"/>
            <a:ext cx="8750104" cy="5702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kern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Cache Memory</a:t>
            </a:r>
            <a:endParaRPr lang="en-IN" sz="400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small high-speed memory placed between CPU and main memory.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 memory access time.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Instruction Cache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Cache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24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program execution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Reduced Flash accesses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Lower execution time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2794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26192B-04DE-E4A7-7D0E-4056D3A52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4FF402-7091-9830-ABF4-C715E3BB60C6}"/>
              </a:ext>
            </a:extLst>
          </p:cNvPr>
          <p:cNvSpPr txBox="1"/>
          <p:nvPr/>
        </p:nvSpPr>
        <p:spPr>
          <a:xfrm>
            <a:off x="70338" y="583789"/>
            <a:ext cx="9045526" cy="5309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3600" b="1" kern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Floating Point Unit (FPU)</a:t>
            </a:r>
            <a:endParaRPr lang="en-IN" sz="1600" dirty="0">
              <a:solidFill>
                <a:srgbClr val="FF0000"/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 accelerator for floating-point operations.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endParaRPr lang="en-IN" sz="2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Addition, Multiplication, Division, Square Root, Trigonometric calculations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2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Motor control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Biomedical devices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2280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83EAF4-4419-DA76-8445-913F7A04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453A3-3537-333D-AA5B-160160787726}"/>
              </a:ext>
            </a:extLst>
          </p:cNvPr>
          <p:cNvSpPr txBox="1"/>
          <p:nvPr/>
        </p:nvSpPr>
        <p:spPr>
          <a:xfrm>
            <a:off x="520505" y="80584"/>
            <a:ext cx="8074855" cy="4706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kern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DSP Instructions</a:t>
            </a:r>
            <a:endParaRPr lang="en-IN" sz="4000" dirty="0">
              <a:solidFill>
                <a:srgbClr val="FF0000"/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Accelerate signal processing algorithms.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Common DSP Operations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 Filter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Matrix Multiplication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Audio Compression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 Enhancement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70265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6172D4-EEC5-2527-9DD5-E19285FE6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B001A-46C9-FFFE-140D-2740E07697CC}"/>
              </a:ext>
            </a:extLst>
          </p:cNvPr>
          <p:cNvSpPr txBox="1"/>
          <p:nvPr/>
        </p:nvSpPr>
        <p:spPr>
          <a:xfrm>
            <a:off x="98474" y="138802"/>
            <a:ext cx="8904849" cy="5968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kern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Interrupt Latency</a:t>
            </a:r>
            <a:endParaRPr lang="en-IN" sz="400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Interrupt latency is the </a:t>
            </a:r>
            <a:r>
              <a:rPr lang="en-IN" sz="2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time taken by the processor to respond to an interrupt after the interrupt request is generated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Interrupt Latency = Time from Interrupt Request to Execution of First Interrupt Instruction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Factors affecting latency</a:t>
            </a:r>
            <a:endParaRPr lang="en-IN" sz="2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Pipeline stages, Cache misses, Memory wait states, Interrupt priority, Nested interrupts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Cortex-M7 Features</a:t>
            </a:r>
            <a:endParaRPr lang="en-IN" sz="2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Very low interrupt latency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NVIC support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Tail chaining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Late arrival optimization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5020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AB7B97-9EAA-B499-5255-89F9B980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03A5AA-B1E4-AB0F-676B-458805999F0C}"/>
              </a:ext>
            </a:extLst>
          </p:cNvPr>
          <p:cNvSpPr txBox="1"/>
          <p:nvPr/>
        </p:nvSpPr>
        <p:spPr>
          <a:xfrm>
            <a:off x="0" y="76307"/>
            <a:ext cx="9143999" cy="248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kern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Tail Chaining</a:t>
            </a:r>
            <a:endParaRPr lang="en-IN" sz="4000" dirty="0">
              <a:solidFill>
                <a:srgbClr val="FF0000"/>
              </a:solidFill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one ISR finishes, </a:t>
            </a:r>
            <a:r>
              <a:rPr lang="en-IN" sz="22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 processor immediately services another pending interrupt Without restoring the previous context.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interrupt servicing, </a:t>
            </a: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Reduced overhead</a:t>
            </a:r>
            <a:endParaRPr lang="en-IN" sz="2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F2120E-F709-0935-ADC2-FC6D805065BA}"/>
              </a:ext>
            </a:extLst>
          </p:cNvPr>
          <p:cNvSpPr txBox="1"/>
          <p:nvPr/>
        </p:nvSpPr>
        <p:spPr>
          <a:xfrm>
            <a:off x="-1" y="2942997"/>
            <a:ext cx="9143999" cy="3050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4000" b="1" kern="180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Late Arrival</a:t>
            </a:r>
            <a:endParaRPr lang="en-IN" sz="4000" dirty="0">
              <a:solidFill>
                <a:srgbClr val="FF0000"/>
              </a:solidFill>
              <a:effectLst/>
              <a:highlight>
                <a:srgbClr val="FFFF00"/>
              </a:highlight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 a higher-priority interrupt arrives while entering a lower-priority ISR, the processor immediately switches to the higher-priority interrupt.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22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Faster response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Improved real-time performance</a:t>
            </a:r>
            <a:endParaRPr lang="en-IN" sz="2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0375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0A9D09-7B76-628E-249E-6E2837B19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402DEB-3858-9F33-94EB-CA2CEEB129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40150"/>
              </p:ext>
            </p:extLst>
          </p:nvPr>
        </p:nvGraphicFramePr>
        <p:xfrm>
          <a:off x="535332" y="757194"/>
          <a:ext cx="6385973" cy="5795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61217">
                  <a:extLst>
                    <a:ext uri="{9D8B030D-6E8A-4147-A177-3AD203B41FA5}">
                      <a16:colId xmlns:a16="http://schemas.microsoft.com/office/drawing/2014/main" val="1247312311"/>
                    </a:ext>
                  </a:extLst>
                </a:gridCol>
                <a:gridCol w="4624756">
                  <a:extLst>
                    <a:ext uri="{9D8B030D-6E8A-4147-A177-3AD203B41FA5}">
                      <a16:colId xmlns:a16="http://schemas.microsoft.com/office/drawing/2014/main" val="3601389155"/>
                    </a:ext>
                  </a:extLst>
                </a:gridCol>
              </a:tblGrid>
              <a:tr h="1693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Abbreviation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Form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93834465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RISC Machines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2348950963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RISC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Instruction Set Computer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2040291047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CPU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 Processing Unit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4209279827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MCU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Microcontroller Unit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1314247200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NVIC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Nested Vectored Interrupt Controller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1888248573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FPU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Floating Point Unit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2619010151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DSP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Signal Processing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520930834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MPU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 Protection Unit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4140685008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 Memory Access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25302442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Tightly Coupled Memory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1074170433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ITCM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Tightly Coupled Memory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449901050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DTCM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Tightly Coupled Memory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810204978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SRAM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Random Access Memory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1278428637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Flash Memory (Non-Volatile Memory)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437021399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I-Cache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Cache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1815597618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D-Cache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Cache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218072734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Interrupt Service Routine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807121381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RTOS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Operating System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371743536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JTAG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Joint Test Action Group (debug interface)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410845148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Serial Wire Debug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219127782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ECC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Correction Code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2824635994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SIMD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Instruction Multiple Data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911956572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Multiply-Accumulate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687240556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Finite Impulse Response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2532080812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FFT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Fourier Transform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138779447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ECU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 Control Unit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2063552357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ADC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Analog-to-Digital Converter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857128479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DAC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Digital-to-Analog Converter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2175471703"/>
                  </a:ext>
                </a:extLst>
              </a:tr>
              <a:tr h="1693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GPIO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 Purpose Input/Output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338" marR="5338" marT="5338" marB="5338" anchor="ctr"/>
                </a:tc>
                <a:extLst>
                  <a:ext uri="{0D108BD9-81ED-4DB2-BD59-A6C34878D82A}">
                    <a16:rowId xmlns:a16="http://schemas.microsoft.com/office/drawing/2014/main" val="340806581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BD6E0D34-CCD8-368F-31E4-DBB809618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9611" y="38621"/>
            <a:ext cx="751324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Important Abbreviations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513443"/>
      </p:ext>
    </p:extLst>
  </p:cSld>
  <p:clrMapOvr>
    <a:masterClrMapping/>
  </p:clrMapOvr>
</p:sld>
</file>

<file path=ppt/theme/theme1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2400</Words>
  <Application>Microsoft Office PowerPoint</Application>
  <PresentationFormat>On-screen Show (4:3)</PresentationFormat>
  <Paragraphs>706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PMingLiU</vt:lpstr>
      <vt:lpstr>Aptos</vt:lpstr>
      <vt:lpstr>Arial</vt:lpstr>
      <vt:lpstr>Calibri</vt:lpstr>
      <vt:lpstr>Gill Sans MT</vt:lpstr>
      <vt:lpstr>Symbol</vt:lpstr>
      <vt:lpstr>Times New Roman</vt:lpstr>
      <vt:lpstr>1_Gallery</vt:lpstr>
      <vt:lpstr>Gallery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RAVI KANTH</dc:creator>
  <cp:keywords/>
  <dc:description>generated using python-pptx</dc:description>
  <cp:lastModifiedBy>Ravi Kumar K</cp:lastModifiedBy>
  <cp:revision>144</cp:revision>
  <dcterms:created xsi:type="dcterms:W3CDTF">2013-01-27T09:14:16Z</dcterms:created>
  <dcterms:modified xsi:type="dcterms:W3CDTF">2026-08-23T10:39:14Z</dcterms:modified>
  <cp:category/>
</cp:coreProperties>
</file>