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5" r:id="rId30"/>
    <p:sldId id="287" r:id="rId31"/>
    <p:sldId id="288" r:id="rId32"/>
    <p:sldId id="289" r:id="rId33"/>
    <p:sldId id="290" r:id="rId34"/>
    <p:sldId id="291" r:id="rId35"/>
    <p:sldId id="292" r:id="rId36"/>
    <p:sldId id="293" r:id="rId37"/>
    <p:sldId id="294" r:id="rId38"/>
    <p:sldId id="298"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10"/>
  </p:normalViewPr>
  <p:slideViewPr>
    <p:cSldViewPr snapToGrid="0" snapToObjects="1">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2591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connect this lecture to every IoT device students know. Explain that sensors enter through ADC/GPIO, decision logic runs in MCU, and actuation exits through GPIO/PWM/timers. Keep this slide short and motivate with a smart streetlight or motor-control example.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roadmap. Do not teach GPIO, ADC, timers as isolated theory; make students see the system pipeline first.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through examples: door sensor, temperature sensing, fan speed, buzzer timing. Clarify that most IoT failures come from poor pin configuration, wrong pull setting, missing timing calculations, or mismatch between sensor output and MCU input.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GPIO. Emphasize HIGH/LOW as voltage ranges, not abstract 1/0. Connect digital logic to physical voltage. Explain that every pin must be configured before reliable use.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PA0–PA15 as board-level language. Tell students that the exact available pins depend on package and board. Always consult Nucleo/Discovery board pinout and device datasheet before wiring.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parameters as a checklist before code. For HAL, this maps to GPIO_InitTypeDef fields: Pin, Mode, Pull, Speed, Alternate.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all modes briefly here. Detailed slides will follow. This avoids cognitive overload because students first see the map.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button example. Explain high impedance as “almost no current drawn”, so the pin is very sensitive to noise unless pulled to a known state.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with two button circuits. Ask: what will the pin read before pressing? What will it read after pressing? Reinforce active-low and active-high logic.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output mode with LED and relay. Mention the MCU pin cannot directly power high-current loads. For motors/relays, use driver transistor/MOSFET and protection diode.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often confused. Push-pull actively drives both states. Open-drain releases the line for HIGH through pull-up, enabling wired-AND/shared bus behavior.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the pin is no longer controlled by WritePin in the same way. The peripheral hardware drives or samples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HAL as an abstraction layer. Avoid letting students memorize functions without hardware meaning.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uploaded handout title includes ADC, so this section adds necessary lecture material. Keep ADC conceptual for 2nd-year students unless they already know sampling and quantization.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this as a pipeline. Students should not stop at raw ADC values; IoT applications require engineering units or thresholds.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timer as independent hardware. The CPU does not need to manually count every microsecond.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examples: sampling a sensor every 10 ms, triggering ADC, blinking status LED through interrupt. Mention they often lack I/O channels.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compare four functions. Students should understand each as a hardware feature, not a separate software loop.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clear: a 2nd-year student need not master 3-phase inverters today, but should know why TIM1/TIM8 are special.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board sketch. Show up, down, and center-aligned counts. Center-aligned PWM is useful for reducing switching harmonics in motor control.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 a tachometer/frequency sensor. Capture is better than polling because hardware timestamps edges even if CPU is busy.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as “hardware alarm clock.” CPU configures the time; timer hardware performs the action exactly when CNT == CCR.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LED dimming: LED is switched quickly; eye perceives average brightness. Use motor speed: average voltage/power changes.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numerical example slowly on board. Let students calculate CCR for 25%, 50%, 75%.</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integrates the lecture. Make students trace which peripheral handles each stage.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CubeMX is a tool, not a substitute for understanding. Students must inspect generated initialization and know what it means.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can be 20–30 minute tasks. Split class into pairs and insist on observation notes, not only code screenshots.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practical problem-solving checklist before students ask for help.</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returning to system viewpoint. Ask each student to identify which peripheral is needed for a given IoT function.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as a big-picture architecture slide. Tell students that GPIO, ADC and timers are not separate subjects; they are peripheral blocks connected to CPU through buses and controlled by registers.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architecture image from the previous slide and ask students: where does sensor voltage enter? Where does PWM leave? Which bus carries configuration writes?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diagram slowly. Ask students to point out where each GPIO configuration field acts: MODER, OTYPER, PUPDR, IDR, ODR, BSRR and AFR.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over-teach register programming to 2nd year students; use these names as mental anchors so HAL code is not treated like magic.</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when transitioning from GPIO analog mode to actual ADC conversion. Emphasize that ADC does not read temperature directly; it reads voltage that must be scaled and interpreted.</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this example live. Make students calculate raw counts for 0V, 1.65V and 3.3V. Clarify resolution: 12-bit means 0 to 4095.</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diagram to connect the timer numeric formulas to the hardware blocks. Students should be able to point to PSC, CNT, ARR and CCR.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first one as instructor demonstration, then let students solve the second and third quickly.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at the end if students have enough lab time. Otherwise assign as post-class task.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a:effectLst/>
      </p:bgPr>
    </p:bg>
    <p:spTree>
      <p:nvGrpSpPr>
        <p:cNvPr id="1" name=""/>
        <p:cNvGrpSpPr/>
        <p:nvPr/>
      </p:nvGrpSpPr>
      <p:grpSpPr>
        <a:xfrm>
          <a:off x="0" y="0"/>
          <a:ext cx="0" cy="0"/>
          <a:chOff x="0" y="0"/>
          <a:chExt cx="0" cy="0"/>
        </a:xfrm>
      </p:grpSpPr>
      <p:sp>
        <p:nvSpPr>
          <p:cNvPr id="2" name="Text 0"/>
          <p:cNvSpPr/>
          <p:nvPr/>
        </p:nvSpPr>
        <p:spPr>
          <a:xfrm>
            <a:off x="685800" y="1097280"/>
            <a:ext cx="6903720" cy="640080"/>
          </a:xfrm>
          <a:prstGeom prst="rect">
            <a:avLst/>
          </a:prstGeom>
          <a:noFill/>
          <a:ln/>
        </p:spPr>
        <p:txBody>
          <a:bodyPr wrap="square" lIns="0" tIns="0" rIns="0" bIns="0" rtlCol="0" anchor="ctr">
            <a:normAutofit fontScale="92500"/>
          </a:bodyPr>
          <a:lstStyle/>
          <a:p>
            <a:pPr marL="0" indent="0" algn="l">
              <a:buNone/>
            </a:pPr>
            <a:r>
              <a:rPr lang="en-US" sz="3000" b="1" dirty="0">
                <a:solidFill>
                  <a:srgbClr val="FFFFFF"/>
                </a:solidFill>
                <a:latin typeface="Aptos" pitchFamily="34" charset="0"/>
                <a:ea typeface="Aptos" pitchFamily="34" charset="-122"/>
                <a:cs typeface="Aptos" pitchFamily="34" charset="-120"/>
              </a:rPr>
              <a:t>CO2: STM32 GPIO, ADC, Timers &amp; PWM</a:t>
            </a:r>
            <a:endParaRPr lang="en-US" sz="3000" dirty="0"/>
          </a:p>
        </p:txBody>
      </p:sp>
      <p:sp>
        <p:nvSpPr>
          <p:cNvPr id="4" name="Text 2"/>
          <p:cNvSpPr/>
          <p:nvPr/>
        </p:nvSpPr>
        <p:spPr>
          <a:xfrm>
            <a:off x="713232" y="2359152"/>
            <a:ext cx="3840480" cy="310896"/>
          </a:xfrm>
          <a:prstGeom prst="rect">
            <a:avLst/>
          </a:prstGeom>
          <a:solidFill>
            <a:srgbClr val="FF9F1C"/>
          </a:solidFill>
          <a:ln>
            <a:solidFill>
              <a:srgbClr val="FF9F1C"/>
            </a:solidFill>
          </a:ln>
        </p:spPr>
        <p:txBody>
          <a:bodyPr wrap="square" lIns="254" tIns="254" rIns="254" bIns="254"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From pins to sensing and real-time actuation</a:t>
            </a:r>
            <a:endParaRPr lang="en-US" sz="1000" dirty="0"/>
          </a:p>
        </p:txBody>
      </p:sp>
      <p:sp>
        <p:nvSpPr>
          <p:cNvPr id="5" name="Text 3"/>
          <p:cNvSpPr/>
          <p:nvPr/>
        </p:nvSpPr>
        <p:spPr>
          <a:xfrm>
            <a:off x="8275320" y="1143000"/>
            <a:ext cx="2011680" cy="1051560"/>
          </a:xfrm>
          <a:prstGeom prst="rect">
            <a:avLst/>
          </a:prstGeom>
          <a:solidFill>
            <a:srgbClr val="E8F4FF"/>
          </a:solidFill>
          <a:ln w="16510">
            <a:solidFill>
              <a:srgbClr val="8BC6FF"/>
            </a:solidFill>
          </a:ln>
        </p:spPr>
        <p:txBody>
          <a:bodyPr wrap="square" lIns="762" tIns="762" rIns="762" bIns="762" rtlCol="0" anchor="ctr">
            <a:normAutofit/>
          </a:bodyPr>
          <a:lstStyle/>
          <a:p>
            <a:pPr marL="0" indent="0" algn="ctr">
              <a:buNone/>
            </a:pPr>
            <a:r>
              <a:rPr lang="en-US" sz="1700" b="1" dirty="0">
                <a:solidFill>
                  <a:srgbClr val="12263A"/>
                </a:solidFill>
                <a:latin typeface="Aptos" pitchFamily="34" charset="0"/>
                <a:ea typeface="Aptos" pitchFamily="34" charset="-122"/>
                <a:cs typeface="Aptos" pitchFamily="34" charset="-120"/>
              </a:rPr>
              <a:t>STM32</a:t>
            </a:r>
            <a:endParaRPr lang="en-US" sz="1700" dirty="0"/>
          </a:p>
          <a:p>
            <a:pPr marL="0" indent="0" algn="ctr">
              <a:buNone/>
            </a:pPr>
            <a:r>
              <a:rPr lang="en-US" sz="1700" b="1" dirty="0">
                <a:solidFill>
                  <a:srgbClr val="12263A"/>
                </a:solidFill>
                <a:latin typeface="Aptos" pitchFamily="34" charset="0"/>
                <a:ea typeface="Aptos" pitchFamily="34" charset="-122"/>
                <a:cs typeface="Aptos" pitchFamily="34" charset="-120"/>
              </a:rPr>
              <a:t>MCU</a:t>
            </a:r>
            <a:endParaRPr lang="en-US" sz="1700" dirty="0"/>
          </a:p>
        </p:txBody>
      </p:sp>
      <p:sp>
        <p:nvSpPr>
          <p:cNvPr id="6" name="Text 4"/>
          <p:cNvSpPr/>
          <p:nvPr/>
        </p:nvSpPr>
        <p:spPr>
          <a:xfrm>
            <a:off x="7360920" y="2816352"/>
            <a:ext cx="1234440" cy="530352"/>
          </a:xfrm>
          <a:prstGeom prst="rect">
            <a:avLst/>
          </a:prstGeom>
          <a:solidFill>
            <a:srgbClr val="FFFFFF"/>
          </a:solidFill>
          <a:ln w="16510">
            <a:solidFill>
              <a:srgbClr val="2EC4B6"/>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GPIO</a:t>
            </a:r>
            <a:endParaRPr lang="en-US" sz="1300" dirty="0"/>
          </a:p>
        </p:txBody>
      </p:sp>
      <p:sp>
        <p:nvSpPr>
          <p:cNvPr id="7" name="Text 5"/>
          <p:cNvSpPr/>
          <p:nvPr/>
        </p:nvSpPr>
        <p:spPr>
          <a:xfrm>
            <a:off x="8869680" y="2816352"/>
            <a:ext cx="1234440" cy="530352"/>
          </a:xfrm>
          <a:prstGeom prst="rect">
            <a:avLst/>
          </a:prstGeom>
          <a:solidFill>
            <a:srgbClr val="FFFFFF"/>
          </a:solidFill>
          <a:ln w="16510">
            <a:solidFill>
              <a:srgbClr val="FF9F1C"/>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ADC</a:t>
            </a:r>
            <a:endParaRPr lang="en-US" sz="1300" dirty="0"/>
          </a:p>
        </p:txBody>
      </p:sp>
      <p:sp>
        <p:nvSpPr>
          <p:cNvPr id="8" name="Text 6"/>
          <p:cNvSpPr/>
          <p:nvPr/>
        </p:nvSpPr>
        <p:spPr>
          <a:xfrm>
            <a:off x="10287000" y="2816352"/>
            <a:ext cx="1325880" cy="530352"/>
          </a:xfrm>
          <a:prstGeom prst="rect">
            <a:avLst/>
          </a:prstGeom>
          <a:solidFill>
            <a:srgbClr val="FFFFFF"/>
          </a:solidFill>
          <a:ln w="16510">
            <a:solidFill>
              <a:srgbClr val="6C63F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TIM/PWM</a:t>
            </a:r>
            <a:endParaRPr lang="en-US" sz="1200" dirty="0"/>
          </a:p>
        </p:txBody>
      </p:sp>
      <p:sp>
        <p:nvSpPr>
          <p:cNvPr id="9" name="Shape 7"/>
          <p:cNvSpPr/>
          <p:nvPr/>
        </p:nvSpPr>
        <p:spPr>
          <a:xfrm>
            <a:off x="8823960" y="2240280"/>
            <a:ext cx="0" cy="548640"/>
          </a:xfrm>
          <a:prstGeom prst="line">
            <a:avLst/>
          </a:prstGeom>
          <a:noFill/>
          <a:ln w="15240">
            <a:solidFill>
              <a:srgbClr val="8BC6FF"/>
            </a:solidFill>
            <a:prstDash val="solid"/>
            <a:headEnd type="none"/>
            <a:tailEnd type="triangle"/>
          </a:ln>
        </p:spPr>
      </p:sp>
      <p:sp>
        <p:nvSpPr>
          <p:cNvPr id="10" name="Shape 8"/>
          <p:cNvSpPr/>
          <p:nvPr/>
        </p:nvSpPr>
        <p:spPr>
          <a:xfrm>
            <a:off x="9281160" y="2240280"/>
            <a:ext cx="182880" cy="548640"/>
          </a:xfrm>
          <a:prstGeom prst="line">
            <a:avLst/>
          </a:prstGeom>
          <a:noFill/>
          <a:ln w="15240">
            <a:solidFill>
              <a:srgbClr val="8BC6FF"/>
            </a:solidFill>
            <a:prstDash val="solid"/>
            <a:headEnd type="none"/>
            <a:tailEnd type="triangle"/>
          </a:ln>
        </p:spPr>
      </p:sp>
      <p:sp>
        <p:nvSpPr>
          <p:cNvPr id="11" name="Shape 9"/>
          <p:cNvSpPr/>
          <p:nvPr/>
        </p:nvSpPr>
        <p:spPr>
          <a:xfrm>
            <a:off x="9738360" y="2240280"/>
            <a:ext cx="1188720" cy="548640"/>
          </a:xfrm>
          <a:prstGeom prst="line">
            <a:avLst/>
          </a:prstGeom>
          <a:noFill/>
          <a:ln w="15240">
            <a:solidFill>
              <a:srgbClr val="8BC6FF"/>
            </a:solidFill>
            <a:prstDash val="solid"/>
            <a:headEnd type="none"/>
            <a:tailEnd type="triangle"/>
          </a:ln>
        </p:spPr>
      </p:sp>
      <p:sp>
        <p:nvSpPr>
          <p:cNvPr id="12" name="Text 10"/>
          <p:cNvSpPr/>
          <p:nvPr/>
        </p:nvSpPr>
        <p:spPr>
          <a:xfrm>
            <a:off x="6629400" y="4343400"/>
            <a:ext cx="1645920" cy="658368"/>
          </a:xfrm>
          <a:prstGeom prst="rect">
            <a:avLst/>
          </a:prstGeom>
          <a:solidFill>
            <a:srgbClr val="F6F8FB"/>
          </a:solidFill>
          <a:ln w="16510">
            <a:solidFill>
              <a:srgbClr val="CAD3D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Sensors</a:t>
            </a:r>
            <a:endParaRPr lang="en-US" sz="1200" dirty="0"/>
          </a:p>
        </p:txBody>
      </p:sp>
      <p:sp>
        <p:nvSpPr>
          <p:cNvPr id="13" name="Text 11"/>
          <p:cNvSpPr/>
          <p:nvPr/>
        </p:nvSpPr>
        <p:spPr>
          <a:xfrm>
            <a:off x="8458200" y="4343400"/>
            <a:ext cx="1645920" cy="658368"/>
          </a:xfrm>
          <a:prstGeom prst="rect">
            <a:avLst/>
          </a:prstGeom>
          <a:solidFill>
            <a:srgbClr val="F6F8FB"/>
          </a:solidFill>
          <a:ln w="16510">
            <a:solidFill>
              <a:srgbClr val="CAD3D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LEDs / Relays</a:t>
            </a:r>
            <a:endParaRPr lang="en-US" sz="1200" dirty="0"/>
          </a:p>
        </p:txBody>
      </p:sp>
      <p:sp>
        <p:nvSpPr>
          <p:cNvPr id="14" name="Text 12"/>
          <p:cNvSpPr/>
          <p:nvPr/>
        </p:nvSpPr>
        <p:spPr>
          <a:xfrm>
            <a:off x="10287000" y="4343400"/>
            <a:ext cx="1645920" cy="658368"/>
          </a:xfrm>
          <a:prstGeom prst="rect">
            <a:avLst/>
          </a:prstGeom>
          <a:solidFill>
            <a:srgbClr val="F6F8FB"/>
          </a:solidFill>
          <a:ln w="16510">
            <a:solidFill>
              <a:srgbClr val="CAD3D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Motors / Servo</a:t>
            </a:r>
            <a:endParaRPr lang="en-US" sz="1200" dirty="0"/>
          </a:p>
        </p:txBody>
      </p:sp>
      <p:sp>
        <p:nvSpPr>
          <p:cNvPr id="15" name="Shape 13"/>
          <p:cNvSpPr/>
          <p:nvPr/>
        </p:nvSpPr>
        <p:spPr>
          <a:xfrm>
            <a:off x="7424928" y="3429000"/>
            <a:ext cx="0" cy="850392"/>
          </a:xfrm>
          <a:prstGeom prst="line">
            <a:avLst/>
          </a:prstGeom>
          <a:noFill/>
          <a:ln w="15240">
            <a:solidFill>
              <a:srgbClr val="D7E9FF"/>
            </a:solidFill>
            <a:prstDash val="solid"/>
            <a:headEnd type="none"/>
            <a:tailEnd type="triangle"/>
          </a:ln>
        </p:spPr>
      </p:sp>
      <p:sp>
        <p:nvSpPr>
          <p:cNvPr id="16" name="Shape 14"/>
          <p:cNvSpPr/>
          <p:nvPr/>
        </p:nvSpPr>
        <p:spPr>
          <a:xfrm>
            <a:off x="9281160" y="3429000"/>
            <a:ext cx="0" cy="850392"/>
          </a:xfrm>
          <a:prstGeom prst="line">
            <a:avLst/>
          </a:prstGeom>
          <a:noFill/>
          <a:ln w="15240">
            <a:solidFill>
              <a:srgbClr val="D7E9FF"/>
            </a:solidFill>
            <a:prstDash val="solid"/>
            <a:headEnd type="none"/>
            <a:tailEnd type="triangle"/>
          </a:ln>
        </p:spPr>
      </p:sp>
      <p:sp>
        <p:nvSpPr>
          <p:cNvPr id="17" name="Shape 15"/>
          <p:cNvSpPr/>
          <p:nvPr/>
        </p:nvSpPr>
        <p:spPr>
          <a:xfrm>
            <a:off x="10954512" y="3429000"/>
            <a:ext cx="0" cy="850392"/>
          </a:xfrm>
          <a:prstGeom prst="line">
            <a:avLst/>
          </a:prstGeom>
          <a:noFill/>
          <a:ln w="15240">
            <a:solidFill>
              <a:srgbClr val="D7E9FF"/>
            </a:solidFill>
            <a:prstDash val="solid"/>
            <a:headEnd type="none"/>
            <a:tailEnd type="triangle"/>
          </a:ln>
        </p:spPr>
      </p:sp>
      <p:sp>
        <p:nvSpPr>
          <p:cNvPr id="18" name="Text 16"/>
          <p:cNvSpPr/>
          <p:nvPr/>
        </p:nvSpPr>
        <p:spPr>
          <a:xfrm>
            <a:off x="713232" y="5989320"/>
            <a:ext cx="7955280" cy="329184"/>
          </a:xfrm>
          <a:prstGeom prst="rect">
            <a:avLst/>
          </a:prstGeom>
          <a:noFill/>
          <a:ln/>
        </p:spPr>
        <p:txBody>
          <a:bodyPr wrap="square" lIns="0" tIns="0" rIns="0" bIns="0" rtlCol="0" anchor="ctr">
            <a:normAutofit/>
          </a:bodyPr>
          <a:lstStyle/>
          <a:p>
            <a:pPr marL="0" indent="0" algn="l">
              <a:buNone/>
            </a:pPr>
            <a:r>
              <a:rPr lang="en-US" sz="1100" dirty="0">
                <a:solidFill>
                  <a:srgbClr val="D7E9FF"/>
                </a:solidFill>
                <a:latin typeface="Aptos" pitchFamily="34" charset="0"/>
                <a:ea typeface="Aptos" pitchFamily="34" charset="-122"/>
                <a:cs typeface="Aptos" pitchFamily="34" charset="-120"/>
              </a:rPr>
              <a:t>Prepared for lecture delivery: concepts, board-level intuition, HAL flow, formulas, labs, and assessment prompts.</a:t>
            </a:r>
            <a:endParaRPr lang="en-US" sz="1100" dirty="0"/>
          </a:p>
        </p:txBody>
      </p:sp>
      <p:sp>
        <p:nvSpPr>
          <p:cNvPr id="19" name="Text 17"/>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20" name="Text 18"/>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Lecture roadmap</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CO2 is best taught as a hardware data path: input → process → timed output</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02</a:t>
            </a:r>
            <a:endParaRPr lang="en-US" sz="850" dirty="0"/>
          </a:p>
        </p:txBody>
      </p:sp>
      <p:sp>
        <p:nvSpPr>
          <p:cNvPr id="8" name="Text 5"/>
          <p:cNvSpPr/>
          <p:nvPr/>
        </p:nvSpPr>
        <p:spPr>
          <a:xfrm>
            <a:off x="685800" y="1417320"/>
            <a:ext cx="1828800" cy="310896"/>
          </a:xfrm>
          <a:prstGeom prst="rect">
            <a:avLst/>
          </a:prstGeom>
          <a:solidFill>
            <a:srgbClr val="1E6091"/>
          </a:solidFill>
          <a:ln>
            <a:solidFill>
              <a:srgbClr val="1E6091"/>
            </a:solidFill>
          </a:ln>
        </p:spPr>
        <p:txBody>
          <a:bodyPr wrap="square" lIns="254" tIns="254" rIns="254" bIns="254"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1 · Digital I/O</a:t>
            </a:r>
            <a:endParaRPr lang="en-US" sz="1000" dirty="0"/>
          </a:p>
        </p:txBody>
      </p:sp>
      <p:sp>
        <p:nvSpPr>
          <p:cNvPr id="9" name="Text 6"/>
          <p:cNvSpPr/>
          <p:nvPr/>
        </p:nvSpPr>
        <p:spPr>
          <a:xfrm>
            <a:off x="3154680" y="1417320"/>
            <a:ext cx="2011680" cy="310896"/>
          </a:xfrm>
          <a:prstGeom prst="rect">
            <a:avLst/>
          </a:prstGeom>
          <a:solidFill>
            <a:srgbClr val="FF9F1C"/>
          </a:solidFill>
          <a:ln>
            <a:solidFill>
              <a:srgbClr val="FF9F1C"/>
            </a:solidFill>
          </a:ln>
        </p:spPr>
        <p:txBody>
          <a:bodyPr wrap="square" lIns="254" tIns="254" rIns="254" bIns="254"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2 · Analog sensing</a:t>
            </a:r>
            <a:endParaRPr lang="en-US" sz="1000" dirty="0"/>
          </a:p>
        </p:txBody>
      </p:sp>
      <p:sp>
        <p:nvSpPr>
          <p:cNvPr id="10" name="Text 7"/>
          <p:cNvSpPr/>
          <p:nvPr/>
        </p:nvSpPr>
        <p:spPr>
          <a:xfrm>
            <a:off x="5852160" y="1417320"/>
            <a:ext cx="2194560" cy="310896"/>
          </a:xfrm>
          <a:prstGeom prst="rect">
            <a:avLst/>
          </a:prstGeom>
          <a:solidFill>
            <a:srgbClr val="6C63FF"/>
          </a:solidFill>
          <a:ln>
            <a:solidFill>
              <a:srgbClr val="6C63FF"/>
            </a:solidFill>
          </a:ln>
        </p:spPr>
        <p:txBody>
          <a:bodyPr wrap="square" lIns="254" tIns="254" rIns="254" bIns="254"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3 · Timing hardware</a:t>
            </a:r>
            <a:endParaRPr lang="en-US" sz="1000" dirty="0"/>
          </a:p>
        </p:txBody>
      </p:sp>
      <p:sp>
        <p:nvSpPr>
          <p:cNvPr id="11" name="Text 8"/>
          <p:cNvSpPr/>
          <p:nvPr/>
        </p:nvSpPr>
        <p:spPr>
          <a:xfrm>
            <a:off x="8732520" y="1417320"/>
            <a:ext cx="1920240" cy="310896"/>
          </a:xfrm>
          <a:prstGeom prst="rect">
            <a:avLst/>
          </a:prstGeom>
          <a:solidFill>
            <a:srgbClr val="2A9D8F"/>
          </a:solidFill>
          <a:ln>
            <a:solidFill>
              <a:srgbClr val="2A9D8F"/>
            </a:solidFill>
          </a:ln>
        </p:spPr>
        <p:txBody>
          <a:bodyPr wrap="square" lIns="254" tIns="254" rIns="254" bIns="254" rtlCol="0" anchor="ctr">
            <a:normAutofit/>
          </a:bodyPr>
          <a:lstStyle/>
          <a:p>
            <a:pPr marL="0" indent="0" algn="ctr">
              <a:buNone/>
            </a:pPr>
            <a:r>
              <a:rPr lang="en-US" sz="1000" b="1" dirty="0">
                <a:solidFill>
                  <a:srgbClr val="FFFFFF"/>
                </a:solidFill>
                <a:latin typeface="Aptos" pitchFamily="34" charset="0"/>
                <a:ea typeface="Aptos" pitchFamily="34" charset="-122"/>
                <a:cs typeface="Aptos" pitchFamily="34" charset="-120"/>
              </a:rPr>
              <a:t>4 · PWM control</a:t>
            </a:r>
            <a:endParaRPr lang="en-US" sz="1000" dirty="0"/>
          </a:p>
        </p:txBody>
      </p:sp>
      <p:sp>
        <p:nvSpPr>
          <p:cNvPr id="12" name="Shape 9"/>
          <p:cNvSpPr/>
          <p:nvPr/>
        </p:nvSpPr>
        <p:spPr>
          <a:xfrm>
            <a:off x="2615184" y="1572768"/>
            <a:ext cx="448056" cy="0"/>
          </a:xfrm>
          <a:prstGeom prst="line">
            <a:avLst/>
          </a:prstGeom>
          <a:noFill/>
          <a:ln w="15240">
            <a:solidFill>
              <a:srgbClr val="5B677A"/>
            </a:solidFill>
            <a:prstDash val="solid"/>
            <a:headEnd type="none"/>
            <a:tailEnd type="triangle"/>
          </a:ln>
        </p:spPr>
      </p:sp>
      <p:sp>
        <p:nvSpPr>
          <p:cNvPr id="13" name="Shape 10"/>
          <p:cNvSpPr/>
          <p:nvPr/>
        </p:nvSpPr>
        <p:spPr>
          <a:xfrm>
            <a:off x="5330952" y="1572768"/>
            <a:ext cx="429768" cy="0"/>
          </a:xfrm>
          <a:prstGeom prst="line">
            <a:avLst/>
          </a:prstGeom>
          <a:noFill/>
          <a:ln w="15240">
            <a:solidFill>
              <a:srgbClr val="5B677A"/>
            </a:solidFill>
            <a:prstDash val="solid"/>
            <a:headEnd type="none"/>
            <a:tailEnd type="triangle"/>
          </a:ln>
        </p:spPr>
      </p:sp>
      <p:sp>
        <p:nvSpPr>
          <p:cNvPr id="14" name="Shape 11"/>
          <p:cNvSpPr/>
          <p:nvPr/>
        </p:nvSpPr>
        <p:spPr>
          <a:xfrm>
            <a:off x="8211312" y="1572768"/>
            <a:ext cx="429768" cy="0"/>
          </a:xfrm>
          <a:prstGeom prst="line">
            <a:avLst/>
          </a:prstGeom>
          <a:noFill/>
          <a:ln w="15240">
            <a:solidFill>
              <a:srgbClr val="5B677A"/>
            </a:solidFill>
            <a:prstDash val="solid"/>
            <a:headEnd type="none"/>
            <a:tailEnd type="triangle"/>
          </a:ln>
        </p:spPr>
      </p:sp>
      <p:sp>
        <p:nvSpPr>
          <p:cNvPr id="15" name="Text 12"/>
          <p:cNvSpPr/>
          <p:nvPr/>
        </p:nvSpPr>
        <p:spPr>
          <a:xfrm>
            <a:off x="713232" y="2194560"/>
            <a:ext cx="507492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By the end, students should be able to</a:t>
            </a:r>
            <a:endParaRPr lang="en-US" sz="1400" dirty="0"/>
          </a:p>
        </p:txBody>
      </p:sp>
      <p:sp>
        <p:nvSpPr>
          <p:cNvPr id="16" name="Text 13"/>
          <p:cNvSpPr/>
          <p:nvPr/>
        </p:nvSpPr>
        <p:spPr>
          <a:xfrm>
            <a:off x="713232" y="2505456"/>
            <a:ext cx="5074920" cy="256946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 Configure STM32 pins as input, output, analog, or alternate function</a:t>
            </a:r>
            <a:endParaRPr lang="en-US" sz="1250" dirty="0"/>
          </a:p>
          <a:p>
            <a:pPr marL="0" indent="0" algn="l">
              <a:buNone/>
            </a:pPr>
            <a:r>
              <a:rPr lang="en-US" sz="1250" dirty="0">
                <a:solidFill>
                  <a:srgbClr val="1D2433"/>
                </a:solidFill>
                <a:latin typeface="Aptos" pitchFamily="34" charset="0"/>
                <a:ea typeface="Aptos" pitchFamily="34" charset="-122"/>
                <a:cs typeface="Aptos" pitchFamily="34" charset="-120"/>
              </a:rPr>
              <a:t>• Explain pull-up/pull-down and floating pin errors</a:t>
            </a:r>
            <a:endParaRPr lang="en-US" sz="1250" dirty="0"/>
          </a:p>
          <a:p>
            <a:pPr marL="0" indent="0" algn="l">
              <a:buNone/>
            </a:pPr>
            <a:r>
              <a:rPr lang="en-US" sz="1250" dirty="0">
                <a:solidFill>
                  <a:srgbClr val="1D2433"/>
                </a:solidFill>
                <a:latin typeface="Aptos" pitchFamily="34" charset="0"/>
                <a:ea typeface="Aptos" pitchFamily="34" charset="-122"/>
                <a:cs typeface="Aptos" pitchFamily="34" charset="-120"/>
              </a:rPr>
              <a:t>• Use ADC for sensor values</a:t>
            </a:r>
            <a:endParaRPr lang="en-US" sz="1250" dirty="0"/>
          </a:p>
          <a:p>
            <a:pPr marL="0" indent="0" algn="l">
              <a:buNone/>
            </a:pPr>
            <a:r>
              <a:rPr lang="en-US" sz="1250" dirty="0">
                <a:solidFill>
                  <a:srgbClr val="1D2433"/>
                </a:solidFill>
                <a:latin typeface="Aptos" pitchFamily="34" charset="0"/>
                <a:ea typeface="Aptos" pitchFamily="34" charset="-122"/>
                <a:cs typeface="Aptos" pitchFamily="34" charset="-120"/>
              </a:rPr>
              <a:t>• Select timer subsystem and timer mode</a:t>
            </a:r>
            <a:endParaRPr lang="en-US" sz="1250" dirty="0"/>
          </a:p>
          <a:p>
            <a:pPr marL="0" indent="0" algn="l">
              <a:buNone/>
            </a:pPr>
            <a:r>
              <a:rPr lang="en-US" sz="1250" dirty="0">
                <a:solidFill>
                  <a:srgbClr val="1D2433"/>
                </a:solidFill>
                <a:latin typeface="Aptos" pitchFamily="34" charset="0"/>
                <a:ea typeface="Aptos" pitchFamily="34" charset="-122"/>
                <a:cs typeface="Aptos" pitchFamily="34" charset="-120"/>
              </a:rPr>
              <a:t>• Calculate PWM period, frequency, and duty cycle</a:t>
            </a:r>
            <a:endParaRPr lang="en-US" sz="1250" dirty="0"/>
          </a:p>
        </p:txBody>
      </p:sp>
      <p:sp>
        <p:nvSpPr>
          <p:cNvPr id="17" name="Text 14"/>
          <p:cNvSpPr/>
          <p:nvPr/>
        </p:nvSpPr>
        <p:spPr>
          <a:xfrm>
            <a:off x="6446520" y="2331720"/>
            <a:ext cx="489204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Lecture delivery structure</a:t>
            </a:r>
            <a:endParaRPr lang="en-US" sz="1400" dirty="0"/>
          </a:p>
        </p:txBody>
      </p:sp>
      <p:sp>
        <p:nvSpPr>
          <p:cNvPr id="18" name="Text 15"/>
          <p:cNvSpPr/>
          <p:nvPr/>
        </p:nvSpPr>
        <p:spPr>
          <a:xfrm>
            <a:off x="6446520" y="2642616"/>
            <a:ext cx="4892040" cy="156362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500" dirty="0">
                <a:solidFill>
                  <a:srgbClr val="1D2433"/>
                </a:solidFill>
                <a:latin typeface="Aptos" pitchFamily="34" charset="0"/>
                <a:ea typeface="Aptos" pitchFamily="34" charset="-122"/>
                <a:cs typeface="Aptos" pitchFamily="34" charset="-120"/>
              </a:rPr>
              <a:t>Concept → mental model → STM32 HAL mapping → IoT example → classroom check → mini-lab task</a:t>
            </a:r>
            <a:endParaRPr lang="en-US" sz="1500" dirty="0"/>
          </a:p>
        </p:txBody>
      </p:sp>
      <p:sp>
        <p:nvSpPr>
          <p:cNvPr id="19" name="Text 16"/>
          <p:cNvSpPr/>
          <p:nvPr/>
        </p:nvSpPr>
        <p:spPr>
          <a:xfrm>
            <a:off x="6446520" y="4663440"/>
            <a:ext cx="4800600" cy="731520"/>
          </a:xfrm>
          <a:prstGeom prst="rect">
            <a:avLst/>
          </a:prstGeom>
          <a:noFill/>
          <a:ln/>
        </p:spPr>
        <p:txBody>
          <a:bodyPr wrap="square" lIns="635" tIns="635" rIns="635" bIns="635" rtlCol="0" anchor="ctr">
            <a:normAutofit lnSpcReduction="10000"/>
          </a:bodyPr>
          <a:lstStyle/>
          <a:p>
            <a:pPr marL="0" indent="0" algn="l">
              <a:buNone/>
            </a:pPr>
            <a:r>
              <a:rPr lang="en-US" sz="1700" b="1" dirty="0">
                <a:solidFill>
                  <a:srgbClr val="12263A"/>
                </a:solidFill>
                <a:latin typeface="Aptos" pitchFamily="34" charset="0"/>
                <a:ea typeface="Aptos" pitchFamily="34" charset="-122"/>
                <a:cs typeface="Aptos" pitchFamily="34" charset="-120"/>
              </a:rPr>
              <a:t>Core principle: embedded programming is not only C code; it is controlled movement of voltage, time, and data.</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Why STM32 peripherals matter in IoT</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A microcontroller becomes useful only when its pins interact with the real world.</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03</a:t>
            </a:r>
            <a:endParaRPr lang="en-US" sz="850" dirty="0"/>
          </a:p>
        </p:txBody>
      </p:sp>
      <p:sp>
        <p:nvSpPr>
          <p:cNvPr id="8" name="Text 5"/>
          <p:cNvSpPr/>
          <p:nvPr/>
        </p:nvSpPr>
        <p:spPr>
          <a:xfrm>
            <a:off x="777240" y="1920240"/>
            <a:ext cx="2286000" cy="777240"/>
          </a:xfrm>
          <a:prstGeom prst="rect">
            <a:avLst/>
          </a:prstGeom>
          <a:solidFill>
            <a:srgbClr val="FFFFFF"/>
          </a:solidFill>
          <a:ln w="16510">
            <a:solidFill>
              <a:srgbClr val="CAD3DF"/>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External world</a:t>
            </a:r>
            <a:endParaRPr lang="en-US" sz="1300" dirty="0"/>
          </a:p>
          <a:p>
            <a:pPr marL="0" indent="0" algn="ctr">
              <a:buNone/>
            </a:pPr>
            <a:r>
              <a:rPr lang="en-US" sz="1300" b="1" dirty="0">
                <a:solidFill>
                  <a:srgbClr val="12263A"/>
                </a:solidFill>
                <a:latin typeface="Aptos" pitchFamily="34" charset="0"/>
                <a:ea typeface="Aptos" pitchFamily="34" charset="-122"/>
                <a:cs typeface="Aptos" pitchFamily="34" charset="-120"/>
              </a:rPr>
              <a:t>(button, sensor, motor)</a:t>
            </a:r>
            <a:endParaRPr lang="en-US" sz="1300" dirty="0"/>
          </a:p>
        </p:txBody>
      </p:sp>
      <p:sp>
        <p:nvSpPr>
          <p:cNvPr id="9" name="Text 6"/>
          <p:cNvSpPr/>
          <p:nvPr/>
        </p:nvSpPr>
        <p:spPr>
          <a:xfrm>
            <a:off x="3794760" y="1920240"/>
            <a:ext cx="2286000" cy="77724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STM32 peripheral</a:t>
            </a:r>
            <a:endParaRPr lang="en-US" sz="1300" dirty="0"/>
          </a:p>
          <a:p>
            <a:pPr marL="0" indent="0" algn="ctr">
              <a:buNone/>
            </a:pPr>
            <a:r>
              <a:rPr lang="en-US" sz="1300" b="1" dirty="0">
                <a:solidFill>
                  <a:srgbClr val="12263A"/>
                </a:solidFill>
                <a:latin typeface="Aptos" pitchFamily="34" charset="0"/>
                <a:ea typeface="Aptos" pitchFamily="34" charset="-122"/>
                <a:cs typeface="Aptos" pitchFamily="34" charset="-120"/>
              </a:rPr>
              <a:t>GPIO / ADC / Timer</a:t>
            </a:r>
            <a:endParaRPr lang="en-US" sz="1300" dirty="0"/>
          </a:p>
        </p:txBody>
      </p:sp>
      <p:sp>
        <p:nvSpPr>
          <p:cNvPr id="10" name="Text 7"/>
          <p:cNvSpPr/>
          <p:nvPr/>
        </p:nvSpPr>
        <p:spPr>
          <a:xfrm>
            <a:off x="6812280" y="1920240"/>
            <a:ext cx="2103120" cy="777240"/>
          </a:xfrm>
          <a:prstGeom prst="rect">
            <a:avLst/>
          </a:prstGeom>
          <a:solidFill>
            <a:srgbClr val="FFF3B0"/>
          </a:solidFill>
          <a:ln w="16510">
            <a:solidFill>
              <a:srgbClr val="FF9F1C"/>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Firmware decision</a:t>
            </a:r>
            <a:endParaRPr lang="en-US" sz="1300" dirty="0"/>
          </a:p>
          <a:p>
            <a:pPr marL="0" indent="0" algn="ctr">
              <a:buNone/>
            </a:pPr>
            <a:r>
              <a:rPr lang="en-US" sz="1300" b="1" dirty="0">
                <a:solidFill>
                  <a:srgbClr val="12263A"/>
                </a:solidFill>
                <a:latin typeface="Aptos" pitchFamily="34" charset="0"/>
                <a:ea typeface="Aptos" pitchFamily="34" charset="-122"/>
                <a:cs typeface="Aptos" pitchFamily="34" charset="-120"/>
              </a:rPr>
              <a:t>HAL + logic</a:t>
            </a:r>
            <a:endParaRPr lang="en-US" sz="1300" dirty="0"/>
          </a:p>
        </p:txBody>
      </p:sp>
      <p:sp>
        <p:nvSpPr>
          <p:cNvPr id="11" name="Text 8"/>
          <p:cNvSpPr/>
          <p:nvPr/>
        </p:nvSpPr>
        <p:spPr>
          <a:xfrm>
            <a:off x="9555480" y="1920240"/>
            <a:ext cx="2148840" cy="777240"/>
          </a:xfrm>
          <a:prstGeom prst="rect">
            <a:avLst/>
          </a:prstGeom>
          <a:solidFill>
            <a:srgbClr val="EAF8F5"/>
          </a:solidFill>
          <a:ln w="16510">
            <a:solidFill>
              <a:srgbClr val="2A9D8F"/>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IoT behavior</a:t>
            </a:r>
            <a:endParaRPr lang="en-US" sz="1300" dirty="0"/>
          </a:p>
          <a:p>
            <a:pPr marL="0" indent="0" algn="ctr">
              <a:buNone/>
            </a:pPr>
            <a:r>
              <a:rPr lang="en-US" sz="1300" b="1" dirty="0">
                <a:solidFill>
                  <a:srgbClr val="12263A"/>
                </a:solidFill>
                <a:latin typeface="Aptos" pitchFamily="34" charset="0"/>
                <a:ea typeface="Aptos" pitchFamily="34" charset="-122"/>
                <a:cs typeface="Aptos" pitchFamily="34" charset="-120"/>
              </a:rPr>
              <a:t>control + telemetry</a:t>
            </a:r>
            <a:endParaRPr lang="en-US" sz="1300" dirty="0"/>
          </a:p>
        </p:txBody>
      </p:sp>
      <p:sp>
        <p:nvSpPr>
          <p:cNvPr id="12" name="Shape 9"/>
          <p:cNvSpPr/>
          <p:nvPr/>
        </p:nvSpPr>
        <p:spPr>
          <a:xfrm>
            <a:off x="3172968" y="2304288"/>
            <a:ext cx="512064" cy="0"/>
          </a:xfrm>
          <a:prstGeom prst="line">
            <a:avLst/>
          </a:prstGeom>
          <a:noFill/>
          <a:ln w="15240">
            <a:solidFill>
              <a:srgbClr val="5B677A"/>
            </a:solidFill>
            <a:prstDash val="solid"/>
            <a:headEnd type="none"/>
            <a:tailEnd type="triangle"/>
          </a:ln>
        </p:spPr>
      </p:sp>
      <p:sp>
        <p:nvSpPr>
          <p:cNvPr id="13" name="Shape 10"/>
          <p:cNvSpPr/>
          <p:nvPr/>
        </p:nvSpPr>
        <p:spPr>
          <a:xfrm>
            <a:off x="6199632" y="2304288"/>
            <a:ext cx="502920" cy="0"/>
          </a:xfrm>
          <a:prstGeom prst="line">
            <a:avLst/>
          </a:prstGeom>
          <a:noFill/>
          <a:ln w="15240">
            <a:solidFill>
              <a:srgbClr val="5B677A"/>
            </a:solidFill>
            <a:prstDash val="solid"/>
            <a:headEnd type="none"/>
            <a:tailEnd type="triangle"/>
          </a:ln>
        </p:spPr>
      </p:sp>
      <p:sp>
        <p:nvSpPr>
          <p:cNvPr id="14" name="Shape 11"/>
          <p:cNvSpPr/>
          <p:nvPr/>
        </p:nvSpPr>
        <p:spPr>
          <a:xfrm>
            <a:off x="9034272" y="2304288"/>
            <a:ext cx="429768" cy="0"/>
          </a:xfrm>
          <a:prstGeom prst="line">
            <a:avLst/>
          </a:prstGeom>
          <a:noFill/>
          <a:ln w="15240">
            <a:solidFill>
              <a:srgbClr val="5B677A"/>
            </a:solidFill>
            <a:prstDash val="solid"/>
            <a:headEnd type="none"/>
            <a:tailEnd type="triangle"/>
          </a:ln>
        </p:spPr>
      </p:sp>
      <p:sp>
        <p:nvSpPr>
          <p:cNvPr id="15" name="Text 12"/>
          <p:cNvSpPr/>
          <p:nvPr/>
        </p:nvSpPr>
        <p:spPr>
          <a:xfrm>
            <a:off x="822960" y="3429000"/>
            <a:ext cx="502920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Examples students can visualize</a:t>
            </a:r>
            <a:endParaRPr lang="en-US" sz="1400" dirty="0"/>
          </a:p>
        </p:txBody>
      </p:sp>
      <p:sp>
        <p:nvSpPr>
          <p:cNvPr id="16" name="Text 13"/>
          <p:cNvSpPr/>
          <p:nvPr/>
        </p:nvSpPr>
        <p:spPr>
          <a:xfrm>
            <a:off x="822960" y="3739896"/>
            <a:ext cx="5029200" cy="174650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 Button → GPIO input</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 LED/relay → GPIO output</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 Potentiometer/temp sensor → ADC</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 Motor/servo/brightness → PWM</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 Frequency/pulse width → timer capture</a:t>
            </a:r>
            <a:endParaRPr lang="en-US" sz="1300" dirty="0"/>
          </a:p>
        </p:txBody>
      </p:sp>
      <p:sp>
        <p:nvSpPr>
          <p:cNvPr id="17" name="Text 14"/>
          <p:cNvSpPr/>
          <p:nvPr/>
        </p:nvSpPr>
        <p:spPr>
          <a:xfrm>
            <a:off x="6583680" y="3520440"/>
            <a:ext cx="4526280" cy="310896"/>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400" b="1" dirty="0">
                <a:solidFill>
                  <a:srgbClr val="E63946"/>
                </a:solidFill>
                <a:latin typeface="Aptos" pitchFamily="34" charset="0"/>
                <a:ea typeface="Aptos" pitchFamily="34" charset="-122"/>
                <a:cs typeface="Aptos" pitchFamily="34" charset="-120"/>
              </a:rPr>
              <a:t>Common engineering risk</a:t>
            </a:r>
            <a:endParaRPr lang="en-US" sz="1400" dirty="0"/>
          </a:p>
        </p:txBody>
      </p:sp>
      <p:sp>
        <p:nvSpPr>
          <p:cNvPr id="18" name="Text 15"/>
          <p:cNvSpPr/>
          <p:nvPr/>
        </p:nvSpPr>
        <p:spPr>
          <a:xfrm>
            <a:off x="6583680" y="3831336"/>
            <a:ext cx="4526280" cy="1380744"/>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500" dirty="0">
                <a:solidFill>
                  <a:srgbClr val="1D2433"/>
                </a:solidFill>
                <a:latin typeface="Aptos" pitchFamily="34" charset="0"/>
                <a:ea typeface="Aptos" pitchFamily="34" charset="-122"/>
                <a:cs typeface="Aptos" pitchFamily="34" charset="-120"/>
              </a:rPr>
              <a:t>Code may compile, but hardware still fails if pin mode, voltage level, pull resistor, timer clock, or duty-cycle calculation is wrong.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GPIO: general purpose input/output</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GPIO lets the STM32 read digital states and drive digital devices.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04</a:t>
            </a:r>
            <a:endParaRPr lang="en-US" sz="850" dirty="0"/>
          </a:p>
        </p:txBody>
      </p:sp>
      <p:sp>
        <p:nvSpPr>
          <p:cNvPr id="8" name="Text 5"/>
          <p:cNvSpPr/>
          <p:nvPr/>
        </p:nvSpPr>
        <p:spPr>
          <a:xfrm>
            <a:off x="822960" y="1828800"/>
            <a:ext cx="2103120" cy="822960"/>
          </a:xfrm>
          <a:prstGeom prst="rect">
            <a:avLst/>
          </a:prstGeom>
          <a:solidFill>
            <a:srgbClr val="FFFFFF"/>
          </a:solidFill>
          <a:ln w="16510">
            <a:solidFill>
              <a:srgbClr val="2EC4B6"/>
            </a:solidFill>
          </a:ln>
        </p:spPr>
        <p:txBody>
          <a:bodyPr wrap="square" lIns="762" tIns="762" rIns="762" bIns="762" rtlCol="0" anchor="ctr">
            <a:normAutofit/>
          </a:bodyPr>
          <a:lstStyle/>
          <a:p>
            <a:pPr marL="0" indent="0" algn="ctr">
              <a:buNone/>
            </a:pPr>
            <a:r>
              <a:rPr lang="en-US" sz="1400" b="1" dirty="0">
                <a:solidFill>
                  <a:srgbClr val="12263A"/>
                </a:solidFill>
                <a:latin typeface="Aptos" pitchFamily="34" charset="0"/>
                <a:ea typeface="Aptos" pitchFamily="34" charset="-122"/>
                <a:cs typeface="Aptos" pitchFamily="34" charset="-120"/>
              </a:rPr>
              <a:t>Input</a:t>
            </a:r>
            <a:endParaRPr lang="en-US" sz="1400" dirty="0"/>
          </a:p>
          <a:p>
            <a:pPr marL="0" indent="0" algn="ctr">
              <a:buNone/>
            </a:pPr>
            <a:r>
              <a:rPr lang="en-US" sz="1400" b="1" dirty="0">
                <a:solidFill>
                  <a:srgbClr val="12263A"/>
                </a:solidFill>
                <a:latin typeface="Aptos" pitchFamily="34" charset="0"/>
                <a:ea typeface="Aptos" pitchFamily="34" charset="-122"/>
                <a:cs typeface="Aptos" pitchFamily="34" charset="-120"/>
              </a:rPr>
              <a:t>read voltage level</a:t>
            </a:r>
            <a:endParaRPr lang="en-US" sz="1400" dirty="0"/>
          </a:p>
        </p:txBody>
      </p:sp>
      <p:sp>
        <p:nvSpPr>
          <p:cNvPr id="9" name="Text 6"/>
          <p:cNvSpPr/>
          <p:nvPr/>
        </p:nvSpPr>
        <p:spPr>
          <a:xfrm>
            <a:off x="3840480" y="1600200"/>
            <a:ext cx="2011680" cy="123444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500" b="1" dirty="0">
                <a:solidFill>
                  <a:srgbClr val="12263A"/>
                </a:solidFill>
                <a:latin typeface="Aptos" pitchFamily="34" charset="0"/>
                <a:ea typeface="Aptos" pitchFamily="34" charset="-122"/>
                <a:cs typeface="Aptos" pitchFamily="34" charset="-120"/>
              </a:rPr>
              <a:t>GPIO pin</a:t>
            </a:r>
            <a:endParaRPr lang="en-US" sz="1500" dirty="0"/>
          </a:p>
          <a:p>
            <a:pPr marL="0" indent="0" algn="ctr">
              <a:buNone/>
            </a:pPr>
            <a:r>
              <a:rPr lang="en-US" sz="1500" b="1" dirty="0">
                <a:solidFill>
                  <a:srgbClr val="12263A"/>
                </a:solidFill>
                <a:latin typeface="Aptos" pitchFamily="34" charset="0"/>
                <a:ea typeface="Aptos" pitchFamily="34" charset="-122"/>
                <a:cs typeface="Aptos" pitchFamily="34" charset="-120"/>
              </a:rPr>
              <a:t>PA0…PA15</a:t>
            </a:r>
            <a:endParaRPr lang="en-US" sz="1500" dirty="0"/>
          </a:p>
        </p:txBody>
      </p:sp>
      <p:sp>
        <p:nvSpPr>
          <p:cNvPr id="10" name="Text 7"/>
          <p:cNvSpPr/>
          <p:nvPr/>
        </p:nvSpPr>
        <p:spPr>
          <a:xfrm>
            <a:off x="6766560" y="1828800"/>
            <a:ext cx="2240280" cy="822960"/>
          </a:xfrm>
          <a:prstGeom prst="rect">
            <a:avLst/>
          </a:prstGeom>
          <a:solidFill>
            <a:srgbClr val="FFFFFF"/>
          </a:solidFill>
          <a:ln w="16510">
            <a:solidFill>
              <a:srgbClr val="FF9F1C"/>
            </a:solidFill>
          </a:ln>
        </p:spPr>
        <p:txBody>
          <a:bodyPr wrap="square" lIns="762" tIns="762" rIns="762" bIns="762" rtlCol="0" anchor="ctr">
            <a:normAutofit/>
          </a:bodyPr>
          <a:lstStyle/>
          <a:p>
            <a:pPr marL="0" indent="0" algn="ctr">
              <a:buNone/>
            </a:pPr>
            <a:r>
              <a:rPr lang="en-US" sz="1400" b="1" dirty="0">
                <a:solidFill>
                  <a:srgbClr val="12263A"/>
                </a:solidFill>
                <a:latin typeface="Aptos" pitchFamily="34" charset="0"/>
                <a:ea typeface="Aptos" pitchFamily="34" charset="-122"/>
                <a:cs typeface="Aptos" pitchFamily="34" charset="-120"/>
              </a:rPr>
              <a:t>Output</a:t>
            </a:r>
            <a:endParaRPr lang="en-US" sz="1400" dirty="0"/>
          </a:p>
          <a:p>
            <a:pPr marL="0" indent="0" algn="ctr">
              <a:buNone/>
            </a:pPr>
            <a:r>
              <a:rPr lang="en-US" sz="1400" b="1" dirty="0">
                <a:solidFill>
                  <a:srgbClr val="12263A"/>
                </a:solidFill>
                <a:latin typeface="Aptos" pitchFamily="34" charset="0"/>
                <a:ea typeface="Aptos" pitchFamily="34" charset="-122"/>
                <a:cs typeface="Aptos" pitchFamily="34" charset="-120"/>
              </a:rPr>
              <a:t>drive voltage level</a:t>
            </a:r>
            <a:endParaRPr lang="en-US" sz="1400" dirty="0"/>
          </a:p>
        </p:txBody>
      </p:sp>
      <p:sp>
        <p:nvSpPr>
          <p:cNvPr id="11" name="Text 8"/>
          <p:cNvSpPr/>
          <p:nvPr/>
        </p:nvSpPr>
        <p:spPr>
          <a:xfrm>
            <a:off x="9464040" y="1828800"/>
            <a:ext cx="2194560" cy="822960"/>
          </a:xfrm>
          <a:prstGeom prst="rect">
            <a:avLst/>
          </a:prstGeom>
          <a:solidFill>
            <a:srgbClr val="FFFFFF"/>
          </a:solidFill>
          <a:ln w="16510">
            <a:solidFill>
              <a:srgbClr val="6C63FF"/>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Alternate function</a:t>
            </a:r>
            <a:endParaRPr lang="en-US" sz="1300" dirty="0"/>
          </a:p>
          <a:p>
            <a:pPr marL="0" indent="0" algn="ctr">
              <a:buNone/>
            </a:pPr>
            <a:r>
              <a:rPr lang="en-US" sz="1300" b="1" dirty="0">
                <a:solidFill>
                  <a:srgbClr val="12263A"/>
                </a:solidFill>
                <a:latin typeface="Aptos" pitchFamily="34" charset="0"/>
                <a:ea typeface="Aptos" pitchFamily="34" charset="-122"/>
                <a:cs typeface="Aptos" pitchFamily="34" charset="-120"/>
              </a:rPr>
              <a:t>connect to peripheral</a:t>
            </a:r>
            <a:endParaRPr lang="en-US" sz="1300" dirty="0"/>
          </a:p>
        </p:txBody>
      </p:sp>
      <p:sp>
        <p:nvSpPr>
          <p:cNvPr id="12" name="Shape 9"/>
          <p:cNvSpPr/>
          <p:nvPr/>
        </p:nvSpPr>
        <p:spPr>
          <a:xfrm>
            <a:off x="2971800" y="2240280"/>
            <a:ext cx="731520" cy="0"/>
          </a:xfrm>
          <a:prstGeom prst="line">
            <a:avLst/>
          </a:prstGeom>
          <a:noFill/>
          <a:ln w="15240">
            <a:solidFill>
              <a:srgbClr val="5B677A"/>
            </a:solidFill>
            <a:prstDash val="solid"/>
            <a:headEnd type="none"/>
            <a:tailEnd type="triangle"/>
          </a:ln>
        </p:spPr>
      </p:sp>
      <p:sp>
        <p:nvSpPr>
          <p:cNvPr id="13" name="Shape 10"/>
          <p:cNvSpPr/>
          <p:nvPr/>
        </p:nvSpPr>
        <p:spPr>
          <a:xfrm>
            <a:off x="5989320" y="2240280"/>
            <a:ext cx="640080" cy="0"/>
          </a:xfrm>
          <a:prstGeom prst="line">
            <a:avLst/>
          </a:prstGeom>
          <a:noFill/>
          <a:ln w="15240">
            <a:solidFill>
              <a:srgbClr val="5B677A"/>
            </a:solidFill>
            <a:prstDash val="solid"/>
            <a:headEnd type="none"/>
            <a:tailEnd type="triangle"/>
          </a:ln>
        </p:spPr>
      </p:sp>
      <p:sp>
        <p:nvSpPr>
          <p:cNvPr id="14" name="Shape 11"/>
          <p:cNvSpPr/>
          <p:nvPr/>
        </p:nvSpPr>
        <p:spPr>
          <a:xfrm>
            <a:off x="9098280" y="2240280"/>
            <a:ext cx="274320" cy="0"/>
          </a:xfrm>
          <a:prstGeom prst="line">
            <a:avLst/>
          </a:prstGeom>
          <a:noFill/>
          <a:ln w="15240">
            <a:solidFill>
              <a:srgbClr val="5B677A"/>
            </a:solidFill>
            <a:prstDash val="solid"/>
            <a:headEnd type="none"/>
            <a:tailEnd type="triangle"/>
          </a:ln>
        </p:spPr>
      </p:sp>
      <p:sp>
        <p:nvSpPr>
          <p:cNvPr id="15" name="Text 12"/>
          <p:cNvSpPr/>
          <p:nvPr/>
        </p:nvSpPr>
        <p:spPr>
          <a:xfrm>
            <a:off x="896112" y="3703320"/>
            <a:ext cx="4754880" cy="1828800"/>
          </a:xfrm>
          <a:prstGeom prst="rect">
            <a:avLst/>
          </a:prstGeom>
          <a:noFill/>
          <a:ln/>
        </p:spPr>
        <p:txBody>
          <a:bodyPr wrap="square" lIns="1524" tIns="1524" rIns="1524" bIns="1524" rtlCol="0" anchor="ctr">
            <a:normAutofit/>
          </a:bodyPr>
          <a:lstStyle/>
          <a:p>
            <a:r>
              <a:rPr lang="en-US" sz="1400" dirty="0">
                <a:solidFill>
                  <a:srgbClr val="1D2433"/>
                </a:solidFill>
              </a:rPr>
              <a:t>Digital input: button, limit switch, interrupt pin</a:t>
            </a:r>
            <a:endParaRPr lang="en-US" sz="1400" dirty="0"/>
          </a:p>
          <a:p>
            <a:r>
              <a:rPr lang="en-US" sz="1400" dirty="0">
                <a:solidFill>
                  <a:srgbClr val="1D2433"/>
                </a:solidFill>
              </a:rPr>
              <a:t>Digital output: LED, relay, buzzer enable</a:t>
            </a:r>
            <a:endParaRPr lang="en-US" sz="1400" dirty="0"/>
          </a:p>
          <a:p>
            <a:r>
              <a:rPr lang="en-US" sz="1400" dirty="0">
                <a:solidFill>
                  <a:srgbClr val="1D2433"/>
                </a:solidFill>
              </a:rPr>
              <a:t>Analog mode: sensor voltage into ADC</a:t>
            </a:r>
            <a:endParaRPr lang="en-US" sz="1400" dirty="0"/>
          </a:p>
          <a:p>
            <a:r>
              <a:rPr lang="en-US" sz="1400" dirty="0">
                <a:solidFill>
                  <a:srgbClr val="1D2433"/>
                </a:solidFill>
              </a:rPr>
              <a:t>Alternate function: UART, SPI, I2C, timer PWM</a:t>
            </a:r>
            <a:endParaRPr lang="en-US" sz="1400" dirty="0"/>
          </a:p>
        </p:txBody>
      </p:sp>
      <p:sp>
        <p:nvSpPr>
          <p:cNvPr id="16" name="Text 13"/>
          <p:cNvSpPr/>
          <p:nvPr/>
        </p:nvSpPr>
        <p:spPr>
          <a:xfrm>
            <a:off x="6400800" y="3657600"/>
            <a:ext cx="489204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Key message</a:t>
            </a:r>
            <a:endParaRPr lang="en-US" sz="1400" dirty="0"/>
          </a:p>
        </p:txBody>
      </p:sp>
      <p:sp>
        <p:nvSpPr>
          <p:cNvPr id="17" name="Text 14"/>
          <p:cNvSpPr/>
          <p:nvPr/>
        </p:nvSpPr>
        <p:spPr>
          <a:xfrm>
            <a:off x="6400800" y="3968496"/>
            <a:ext cx="4892040" cy="128930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GPIO is not one function. It is a configurable electrical interface controlled by mode, pull, speed, output type, and alternate-function selection.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STM32 GPIO port structure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Ports group pins. A typical GPIO port contains 16 pins: Px0 to Px15.</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05</a:t>
            </a:r>
            <a:endParaRPr lang="en-US" sz="850" dirty="0"/>
          </a:p>
        </p:txBody>
      </p:sp>
      <p:sp>
        <p:nvSpPr>
          <p:cNvPr id="8" name="Text 5"/>
          <p:cNvSpPr/>
          <p:nvPr/>
        </p:nvSpPr>
        <p:spPr>
          <a:xfrm>
            <a:off x="777240" y="1417320"/>
            <a:ext cx="2560320" cy="292608"/>
          </a:xfrm>
          <a:prstGeom prst="rect">
            <a:avLst/>
          </a:prstGeom>
          <a:noFill/>
          <a:ln/>
        </p:spPr>
        <p:txBody>
          <a:bodyPr wrap="square" lIns="0" tIns="0" rIns="0" bIns="0" rtlCol="0" anchor="ctr">
            <a:normAutofit/>
          </a:bodyPr>
          <a:lstStyle/>
          <a:p>
            <a:pPr marL="0" indent="0" algn="l">
              <a:buNone/>
            </a:pPr>
            <a:r>
              <a:rPr lang="en-US" sz="1600" b="1" dirty="0">
                <a:solidFill>
                  <a:srgbClr val="1E6091"/>
                </a:solidFill>
                <a:latin typeface="Aptos" pitchFamily="34" charset="0"/>
                <a:ea typeface="Aptos" pitchFamily="34" charset="-122"/>
                <a:cs typeface="Aptos" pitchFamily="34" charset="-120"/>
              </a:rPr>
              <a:t>Example: GPIOA port</a:t>
            </a:r>
            <a:endParaRPr lang="en-US" sz="1600" dirty="0"/>
          </a:p>
        </p:txBody>
      </p:sp>
      <p:sp>
        <p:nvSpPr>
          <p:cNvPr id="9" name="Text 6"/>
          <p:cNvSpPr/>
          <p:nvPr/>
        </p:nvSpPr>
        <p:spPr>
          <a:xfrm>
            <a:off x="777240" y="1874520"/>
            <a:ext cx="612648" cy="384048"/>
          </a:xfrm>
          <a:prstGeom prst="rect">
            <a:avLst/>
          </a:prstGeom>
          <a:solidFill>
            <a:srgbClr val="E8F4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PA0</a:t>
            </a:r>
            <a:endParaRPr lang="en-US" sz="1000" dirty="0"/>
          </a:p>
        </p:txBody>
      </p:sp>
      <p:sp>
        <p:nvSpPr>
          <p:cNvPr id="10" name="Text 7"/>
          <p:cNvSpPr/>
          <p:nvPr/>
        </p:nvSpPr>
        <p:spPr>
          <a:xfrm>
            <a:off x="1490472" y="1874520"/>
            <a:ext cx="612648" cy="384048"/>
          </a:xfrm>
          <a:prstGeom prst="rect">
            <a:avLst/>
          </a:prstGeom>
          <a:solidFill>
            <a:srgbClr val="FFFF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PA1</a:t>
            </a:r>
            <a:endParaRPr lang="en-US" sz="1000" dirty="0"/>
          </a:p>
        </p:txBody>
      </p:sp>
      <p:sp>
        <p:nvSpPr>
          <p:cNvPr id="11" name="Text 8"/>
          <p:cNvSpPr/>
          <p:nvPr/>
        </p:nvSpPr>
        <p:spPr>
          <a:xfrm>
            <a:off x="2203704" y="1874520"/>
            <a:ext cx="612648" cy="384048"/>
          </a:xfrm>
          <a:prstGeom prst="rect">
            <a:avLst/>
          </a:prstGeom>
          <a:solidFill>
            <a:srgbClr val="E8F4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PA2</a:t>
            </a:r>
            <a:endParaRPr lang="en-US" sz="1000" dirty="0"/>
          </a:p>
        </p:txBody>
      </p:sp>
      <p:sp>
        <p:nvSpPr>
          <p:cNvPr id="12" name="Text 9"/>
          <p:cNvSpPr/>
          <p:nvPr/>
        </p:nvSpPr>
        <p:spPr>
          <a:xfrm>
            <a:off x="2916936" y="1874520"/>
            <a:ext cx="612648" cy="384048"/>
          </a:xfrm>
          <a:prstGeom prst="rect">
            <a:avLst/>
          </a:prstGeom>
          <a:solidFill>
            <a:srgbClr val="FFFF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PA3</a:t>
            </a:r>
            <a:endParaRPr lang="en-US" sz="1000" dirty="0"/>
          </a:p>
        </p:txBody>
      </p:sp>
      <p:sp>
        <p:nvSpPr>
          <p:cNvPr id="13" name="Text 10"/>
          <p:cNvSpPr/>
          <p:nvPr/>
        </p:nvSpPr>
        <p:spPr>
          <a:xfrm>
            <a:off x="3630168" y="1874520"/>
            <a:ext cx="612648" cy="384048"/>
          </a:xfrm>
          <a:prstGeom prst="rect">
            <a:avLst/>
          </a:prstGeom>
          <a:solidFill>
            <a:srgbClr val="E8F4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PA4</a:t>
            </a:r>
            <a:endParaRPr lang="en-US" sz="1000" dirty="0"/>
          </a:p>
        </p:txBody>
      </p:sp>
      <p:sp>
        <p:nvSpPr>
          <p:cNvPr id="14" name="Text 11"/>
          <p:cNvSpPr/>
          <p:nvPr/>
        </p:nvSpPr>
        <p:spPr>
          <a:xfrm>
            <a:off x="4343400" y="1874520"/>
            <a:ext cx="612648" cy="384048"/>
          </a:xfrm>
          <a:prstGeom prst="rect">
            <a:avLst/>
          </a:prstGeom>
          <a:solidFill>
            <a:srgbClr val="FFFF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PA5</a:t>
            </a:r>
            <a:endParaRPr lang="en-US" sz="1000" dirty="0"/>
          </a:p>
        </p:txBody>
      </p:sp>
      <p:sp>
        <p:nvSpPr>
          <p:cNvPr id="15" name="Text 12"/>
          <p:cNvSpPr/>
          <p:nvPr/>
        </p:nvSpPr>
        <p:spPr>
          <a:xfrm>
            <a:off x="5056632" y="1874520"/>
            <a:ext cx="612648" cy="384048"/>
          </a:xfrm>
          <a:prstGeom prst="rect">
            <a:avLst/>
          </a:prstGeom>
          <a:solidFill>
            <a:srgbClr val="E8F4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PA6</a:t>
            </a:r>
            <a:endParaRPr lang="en-US" sz="1000" dirty="0"/>
          </a:p>
        </p:txBody>
      </p:sp>
      <p:sp>
        <p:nvSpPr>
          <p:cNvPr id="16" name="Text 13"/>
          <p:cNvSpPr/>
          <p:nvPr/>
        </p:nvSpPr>
        <p:spPr>
          <a:xfrm>
            <a:off x="5769864" y="1874520"/>
            <a:ext cx="612648" cy="384048"/>
          </a:xfrm>
          <a:prstGeom prst="rect">
            <a:avLst/>
          </a:prstGeom>
          <a:solidFill>
            <a:srgbClr val="FFFF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PA7</a:t>
            </a:r>
            <a:endParaRPr lang="en-US" sz="1000" dirty="0"/>
          </a:p>
        </p:txBody>
      </p:sp>
      <p:sp>
        <p:nvSpPr>
          <p:cNvPr id="17" name="Text 14"/>
          <p:cNvSpPr/>
          <p:nvPr/>
        </p:nvSpPr>
        <p:spPr>
          <a:xfrm>
            <a:off x="777240" y="2496312"/>
            <a:ext cx="612648" cy="384048"/>
          </a:xfrm>
          <a:prstGeom prst="rect">
            <a:avLst/>
          </a:prstGeom>
          <a:solidFill>
            <a:srgbClr val="E8F4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PA8</a:t>
            </a:r>
            <a:endParaRPr lang="en-US" sz="1000" dirty="0"/>
          </a:p>
        </p:txBody>
      </p:sp>
      <p:sp>
        <p:nvSpPr>
          <p:cNvPr id="18" name="Text 15"/>
          <p:cNvSpPr/>
          <p:nvPr/>
        </p:nvSpPr>
        <p:spPr>
          <a:xfrm>
            <a:off x="1490472" y="2496312"/>
            <a:ext cx="612648" cy="384048"/>
          </a:xfrm>
          <a:prstGeom prst="rect">
            <a:avLst/>
          </a:prstGeom>
          <a:solidFill>
            <a:srgbClr val="FFFF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PA9</a:t>
            </a:r>
            <a:endParaRPr lang="en-US" sz="1000" dirty="0"/>
          </a:p>
        </p:txBody>
      </p:sp>
      <p:sp>
        <p:nvSpPr>
          <p:cNvPr id="19" name="Text 16"/>
          <p:cNvSpPr/>
          <p:nvPr/>
        </p:nvSpPr>
        <p:spPr>
          <a:xfrm>
            <a:off x="2203704" y="2496312"/>
            <a:ext cx="612648" cy="384048"/>
          </a:xfrm>
          <a:prstGeom prst="rect">
            <a:avLst/>
          </a:prstGeom>
          <a:solidFill>
            <a:srgbClr val="E8F4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PA10</a:t>
            </a:r>
            <a:endParaRPr lang="en-US" sz="1000" dirty="0"/>
          </a:p>
        </p:txBody>
      </p:sp>
      <p:sp>
        <p:nvSpPr>
          <p:cNvPr id="20" name="Text 17"/>
          <p:cNvSpPr/>
          <p:nvPr/>
        </p:nvSpPr>
        <p:spPr>
          <a:xfrm>
            <a:off x="2916936" y="2496312"/>
            <a:ext cx="612648" cy="384048"/>
          </a:xfrm>
          <a:prstGeom prst="rect">
            <a:avLst/>
          </a:prstGeom>
          <a:solidFill>
            <a:srgbClr val="FFFF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PA11</a:t>
            </a:r>
            <a:endParaRPr lang="en-US" sz="1000" dirty="0"/>
          </a:p>
        </p:txBody>
      </p:sp>
      <p:sp>
        <p:nvSpPr>
          <p:cNvPr id="21" name="Text 18"/>
          <p:cNvSpPr/>
          <p:nvPr/>
        </p:nvSpPr>
        <p:spPr>
          <a:xfrm>
            <a:off x="3630168" y="2496312"/>
            <a:ext cx="612648" cy="384048"/>
          </a:xfrm>
          <a:prstGeom prst="rect">
            <a:avLst/>
          </a:prstGeom>
          <a:solidFill>
            <a:srgbClr val="E8F4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PA12</a:t>
            </a:r>
            <a:endParaRPr lang="en-US" sz="1000" dirty="0"/>
          </a:p>
        </p:txBody>
      </p:sp>
      <p:sp>
        <p:nvSpPr>
          <p:cNvPr id="22" name="Text 19"/>
          <p:cNvSpPr/>
          <p:nvPr/>
        </p:nvSpPr>
        <p:spPr>
          <a:xfrm>
            <a:off x="4343400" y="2496312"/>
            <a:ext cx="612648" cy="384048"/>
          </a:xfrm>
          <a:prstGeom prst="rect">
            <a:avLst/>
          </a:prstGeom>
          <a:solidFill>
            <a:srgbClr val="FFFF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PA13</a:t>
            </a:r>
            <a:endParaRPr lang="en-US" sz="1000" dirty="0"/>
          </a:p>
        </p:txBody>
      </p:sp>
      <p:sp>
        <p:nvSpPr>
          <p:cNvPr id="23" name="Text 20"/>
          <p:cNvSpPr/>
          <p:nvPr/>
        </p:nvSpPr>
        <p:spPr>
          <a:xfrm>
            <a:off x="5056632" y="2496312"/>
            <a:ext cx="612648" cy="384048"/>
          </a:xfrm>
          <a:prstGeom prst="rect">
            <a:avLst/>
          </a:prstGeom>
          <a:solidFill>
            <a:srgbClr val="E8F4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PA14</a:t>
            </a:r>
            <a:endParaRPr lang="en-US" sz="1000" dirty="0"/>
          </a:p>
        </p:txBody>
      </p:sp>
      <p:sp>
        <p:nvSpPr>
          <p:cNvPr id="24" name="Text 21"/>
          <p:cNvSpPr/>
          <p:nvPr/>
        </p:nvSpPr>
        <p:spPr>
          <a:xfrm>
            <a:off x="5769864" y="2496312"/>
            <a:ext cx="612648" cy="384048"/>
          </a:xfrm>
          <a:prstGeom prst="rect">
            <a:avLst/>
          </a:prstGeom>
          <a:solidFill>
            <a:srgbClr val="FFFFFF"/>
          </a:solidFill>
          <a:ln w="10160">
            <a:solidFill>
              <a:srgbClr val="CAD3DF"/>
            </a:solidFill>
          </a:ln>
        </p:spPr>
        <p:txBody>
          <a:bodyPr wrap="square" lIns="254" tIns="254" rIns="254" bIns="254" rtlCol="0" anchor="ctr">
            <a:normAutofit/>
          </a:bodyPr>
          <a:lstStyle/>
          <a:p>
            <a:pPr marL="0" indent="0" algn="ctr">
              <a:buNone/>
            </a:pPr>
            <a:r>
              <a:rPr lang="en-US" sz="1000" b="1" dirty="0">
                <a:solidFill>
                  <a:srgbClr val="12263A"/>
                </a:solidFill>
                <a:latin typeface="Aptos" pitchFamily="34" charset="0"/>
                <a:ea typeface="Aptos" pitchFamily="34" charset="-122"/>
                <a:cs typeface="Aptos" pitchFamily="34" charset="-120"/>
              </a:rPr>
              <a:t>PA15</a:t>
            </a:r>
            <a:endParaRPr lang="en-US" sz="1000" dirty="0"/>
          </a:p>
        </p:txBody>
      </p:sp>
      <p:sp>
        <p:nvSpPr>
          <p:cNvPr id="25" name="Text 22"/>
          <p:cNvSpPr/>
          <p:nvPr/>
        </p:nvSpPr>
        <p:spPr>
          <a:xfrm>
            <a:off x="6537960" y="1600200"/>
            <a:ext cx="406908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Each pin includes</a:t>
            </a:r>
            <a:endParaRPr lang="en-US" sz="1400" dirty="0"/>
          </a:p>
        </p:txBody>
      </p:sp>
      <p:sp>
        <p:nvSpPr>
          <p:cNvPr id="26" name="Text 23"/>
          <p:cNvSpPr/>
          <p:nvPr/>
        </p:nvSpPr>
        <p:spPr>
          <a:xfrm>
            <a:off x="6537960" y="1911096"/>
            <a:ext cx="4069080" cy="165506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220" dirty="0">
                <a:solidFill>
                  <a:srgbClr val="1D2433"/>
                </a:solidFill>
                <a:latin typeface="Aptos" pitchFamily="34" charset="0"/>
                <a:ea typeface="Aptos" pitchFamily="34" charset="-122"/>
                <a:cs typeface="Aptos" pitchFamily="34" charset="-120"/>
              </a:rPr>
              <a:t>Input buffer</a:t>
            </a:r>
            <a:endParaRPr lang="en-US" sz="1220" dirty="0"/>
          </a:p>
          <a:p>
            <a:pPr marL="0" indent="0" algn="l">
              <a:buNone/>
            </a:pPr>
            <a:r>
              <a:rPr lang="en-US" sz="1220" dirty="0">
                <a:solidFill>
                  <a:srgbClr val="1D2433"/>
                </a:solidFill>
                <a:latin typeface="Aptos" pitchFamily="34" charset="0"/>
                <a:ea typeface="Aptos" pitchFamily="34" charset="-122"/>
                <a:cs typeface="Aptos" pitchFamily="34" charset="-120"/>
              </a:rPr>
              <a:t>Output driver</a:t>
            </a:r>
            <a:endParaRPr lang="en-US" sz="1220" dirty="0"/>
          </a:p>
          <a:p>
            <a:pPr marL="0" indent="0" algn="l">
              <a:buNone/>
            </a:pPr>
            <a:r>
              <a:rPr lang="en-US" sz="1220" dirty="0">
                <a:solidFill>
                  <a:srgbClr val="1D2433"/>
                </a:solidFill>
                <a:latin typeface="Aptos" pitchFamily="34" charset="0"/>
                <a:ea typeface="Aptos" pitchFamily="34" charset="-122"/>
                <a:cs typeface="Aptos" pitchFamily="34" charset="-120"/>
              </a:rPr>
              <a:t>Pull-up / pull-down network</a:t>
            </a:r>
            <a:endParaRPr lang="en-US" sz="1220" dirty="0"/>
          </a:p>
          <a:p>
            <a:pPr marL="0" indent="0" algn="l">
              <a:buNone/>
            </a:pPr>
            <a:r>
              <a:rPr lang="en-US" sz="1220" dirty="0">
                <a:solidFill>
                  <a:srgbClr val="1D2433"/>
                </a:solidFill>
                <a:latin typeface="Aptos" pitchFamily="34" charset="0"/>
                <a:ea typeface="Aptos" pitchFamily="34" charset="-122"/>
                <a:cs typeface="Aptos" pitchFamily="34" charset="-120"/>
              </a:rPr>
              <a:t>Alternate-function multiplexer</a:t>
            </a:r>
            <a:endParaRPr lang="en-US" sz="1220" dirty="0"/>
          </a:p>
          <a:p>
            <a:pPr marL="0" indent="0" algn="l">
              <a:buNone/>
            </a:pPr>
            <a:r>
              <a:rPr lang="en-US" sz="1220" dirty="0">
                <a:solidFill>
                  <a:srgbClr val="1D2433"/>
                </a:solidFill>
                <a:latin typeface="Aptos" pitchFamily="34" charset="0"/>
                <a:ea typeface="Aptos" pitchFamily="34" charset="-122"/>
                <a:cs typeface="Aptos" pitchFamily="34" charset="-120"/>
              </a:rPr>
              <a:t>Analog switch path</a:t>
            </a:r>
            <a:endParaRPr lang="en-US" sz="1220" dirty="0"/>
          </a:p>
        </p:txBody>
      </p:sp>
      <p:sp>
        <p:nvSpPr>
          <p:cNvPr id="27" name="Text 24"/>
          <p:cNvSpPr/>
          <p:nvPr/>
        </p:nvSpPr>
        <p:spPr>
          <a:xfrm>
            <a:off x="960120" y="4160520"/>
            <a:ext cx="521208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Interpretation for students</a:t>
            </a:r>
            <a:endParaRPr lang="en-US" sz="1400" dirty="0"/>
          </a:p>
        </p:txBody>
      </p:sp>
      <p:sp>
        <p:nvSpPr>
          <p:cNvPr id="28" name="Text 25"/>
          <p:cNvSpPr/>
          <p:nvPr/>
        </p:nvSpPr>
        <p:spPr>
          <a:xfrm>
            <a:off x="960120" y="4471416"/>
            <a:ext cx="5212080" cy="110642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When you configure PA5 as output, you are not “creating” a pin. You are enabling a driver and choosing how it connects to the MCU internal logic.</a:t>
            </a:r>
            <a:endParaRPr lang="en-US" sz="1400" dirty="0"/>
          </a:p>
        </p:txBody>
      </p:sp>
      <p:sp>
        <p:nvSpPr>
          <p:cNvPr id="29" name="Text 26"/>
          <p:cNvSpPr/>
          <p:nvPr/>
        </p:nvSpPr>
        <p:spPr>
          <a:xfrm>
            <a:off x="6537960" y="4187952"/>
            <a:ext cx="4069080" cy="310896"/>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Caution</a:t>
            </a:r>
            <a:endParaRPr lang="en-US" sz="1400" dirty="0"/>
          </a:p>
        </p:txBody>
      </p:sp>
      <p:sp>
        <p:nvSpPr>
          <p:cNvPr id="30" name="Text 27"/>
          <p:cNvSpPr/>
          <p:nvPr/>
        </p:nvSpPr>
        <p:spPr>
          <a:xfrm>
            <a:off x="6537960" y="4498848"/>
            <a:ext cx="4069080" cy="740664"/>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Same pin may support many functions, but only one active function is selected at a time.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GPIO configuration parameters</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Correct GPIO behavior depends on multiple settings, not only pin number.</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06</a:t>
            </a:r>
            <a:endParaRPr lang="en-US" sz="850" dirty="0"/>
          </a:p>
        </p:txBody>
      </p:sp>
      <p:sp>
        <p:nvSpPr>
          <p:cNvPr id="8" name="Text 5"/>
          <p:cNvSpPr/>
          <p:nvPr/>
        </p:nvSpPr>
        <p:spPr>
          <a:xfrm>
            <a:off x="685800" y="1463040"/>
            <a:ext cx="205740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Pin</a:t>
            </a:r>
            <a:endParaRPr lang="en-US" sz="1400" dirty="0"/>
          </a:p>
        </p:txBody>
      </p:sp>
      <p:sp>
        <p:nvSpPr>
          <p:cNvPr id="9" name="Text 6"/>
          <p:cNvSpPr/>
          <p:nvPr/>
        </p:nvSpPr>
        <p:spPr>
          <a:xfrm>
            <a:off x="685800" y="1773936"/>
            <a:ext cx="2057400" cy="92354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Which physical pin?</a:t>
            </a:r>
            <a:endParaRPr lang="en-US" sz="1250" dirty="0"/>
          </a:p>
          <a:p>
            <a:pPr marL="0" indent="0" algn="l">
              <a:buNone/>
            </a:pPr>
            <a:r>
              <a:rPr lang="en-US" sz="1250" dirty="0">
                <a:solidFill>
                  <a:srgbClr val="1D2433"/>
                </a:solidFill>
                <a:latin typeface="Aptos" pitchFamily="34" charset="0"/>
                <a:ea typeface="Aptos" pitchFamily="34" charset="-122"/>
                <a:cs typeface="Aptos" pitchFamily="34" charset="-120"/>
              </a:rPr>
              <a:t>Example: GPIO_PIN_5 on GPIOA</a:t>
            </a:r>
            <a:endParaRPr lang="en-US" sz="1250" dirty="0"/>
          </a:p>
        </p:txBody>
      </p:sp>
      <p:sp>
        <p:nvSpPr>
          <p:cNvPr id="10" name="Text 7"/>
          <p:cNvSpPr/>
          <p:nvPr/>
        </p:nvSpPr>
        <p:spPr>
          <a:xfrm>
            <a:off x="3063240" y="1463040"/>
            <a:ext cx="205740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Mode</a:t>
            </a:r>
            <a:endParaRPr lang="en-US" sz="1400" dirty="0"/>
          </a:p>
        </p:txBody>
      </p:sp>
      <p:sp>
        <p:nvSpPr>
          <p:cNvPr id="11" name="Text 8"/>
          <p:cNvSpPr/>
          <p:nvPr/>
        </p:nvSpPr>
        <p:spPr>
          <a:xfrm>
            <a:off x="3063240" y="1773936"/>
            <a:ext cx="2057400" cy="92354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Input, output, analog, alternate function, interrupt/event</a:t>
            </a:r>
            <a:endParaRPr lang="en-US" sz="1250" dirty="0"/>
          </a:p>
        </p:txBody>
      </p:sp>
      <p:sp>
        <p:nvSpPr>
          <p:cNvPr id="12" name="Text 9"/>
          <p:cNvSpPr/>
          <p:nvPr/>
        </p:nvSpPr>
        <p:spPr>
          <a:xfrm>
            <a:off x="5440680" y="1463040"/>
            <a:ext cx="205740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Pull</a:t>
            </a:r>
            <a:endParaRPr lang="en-US" sz="1400" dirty="0"/>
          </a:p>
        </p:txBody>
      </p:sp>
      <p:sp>
        <p:nvSpPr>
          <p:cNvPr id="13" name="Text 10"/>
          <p:cNvSpPr/>
          <p:nvPr/>
        </p:nvSpPr>
        <p:spPr>
          <a:xfrm>
            <a:off x="5440680" y="1773936"/>
            <a:ext cx="2057400" cy="92354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No pull, pull-up, or pull-down to avoid floating input</a:t>
            </a:r>
            <a:endParaRPr lang="en-US" sz="1250" dirty="0"/>
          </a:p>
        </p:txBody>
      </p:sp>
      <p:sp>
        <p:nvSpPr>
          <p:cNvPr id="14" name="Text 11"/>
          <p:cNvSpPr/>
          <p:nvPr/>
        </p:nvSpPr>
        <p:spPr>
          <a:xfrm>
            <a:off x="7818120" y="1463040"/>
            <a:ext cx="205740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Speed</a:t>
            </a:r>
            <a:endParaRPr lang="en-US" sz="1400" dirty="0"/>
          </a:p>
        </p:txBody>
      </p:sp>
      <p:sp>
        <p:nvSpPr>
          <p:cNvPr id="15" name="Text 12"/>
          <p:cNvSpPr/>
          <p:nvPr/>
        </p:nvSpPr>
        <p:spPr>
          <a:xfrm>
            <a:off x="7818120" y="1773936"/>
            <a:ext cx="2057400" cy="92354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Output edge speed. Higher speed can increase noise/EMI.</a:t>
            </a:r>
            <a:endParaRPr lang="en-US" sz="1250" dirty="0"/>
          </a:p>
        </p:txBody>
      </p:sp>
      <p:sp>
        <p:nvSpPr>
          <p:cNvPr id="16" name="Text 13"/>
          <p:cNvSpPr/>
          <p:nvPr/>
        </p:nvSpPr>
        <p:spPr>
          <a:xfrm>
            <a:off x="5440680" y="3291840"/>
            <a:ext cx="256032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Alternate</a:t>
            </a:r>
            <a:endParaRPr lang="en-US" sz="1400" dirty="0"/>
          </a:p>
        </p:txBody>
      </p:sp>
      <p:sp>
        <p:nvSpPr>
          <p:cNvPr id="17" name="Text 14"/>
          <p:cNvSpPr/>
          <p:nvPr/>
        </p:nvSpPr>
        <p:spPr>
          <a:xfrm>
            <a:off x="5440680" y="3602736"/>
            <a:ext cx="2560320" cy="92354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AF number routes pin to UART, SPI, I2C, timer, etc.</a:t>
            </a:r>
            <a:endParaRPr lang="en-US" sz="1250" dirty="0"/>
          </a:p>
        </p:txBody>
      </p:sp>
      <p:sp>
        <p:nvSpPr>
          <p:cNvPr id="18" name="Shape 15"/>
          <p:cNvSpPr/>
          <p:nvPr/>
        </p:nvSpPr>
        <p:spPr>
          <a:xfrm>
            <a:off x="2770632" y="2075688"/>
            <a:ext cx="265176" cy="0"/>
          </a:xfrm>
          <a:prstGeom prst="line">
            <a:avLst/>
          </a:prstGeom>
          <a:noFill/>
          <a:ln w="15240">
            <a:solidFill>
              <a:srgbClr val="5B677A"/>
            </a:solidFill>
            <a:prstDash val="solid"/>
            <a:headEnd type="none"/>
            <a:tailEnd type="triangle"/>
          </a:ln>
        </p:spPr>
      </p:sp>
      <p:sp>
        <p:nvSpPr>
          <p:cNvPr id="19" name="Shape 16"/>
          <p:cNvSpPr/>
          <p:nvPr/>
        </p:nvSpPr>
        <p:spPr>
          <a:xfrm>
            <a:off x="5138928" y="2075688"/>
            <a:ext cx="274320" cy="0"/>
          </a:xfrm>
          <a:prstGeom prst="line">
            <a:avLst/>
          </a:prstGeom>
          <a:noFill/>
          <a:ln w="15240">
            <a:solidFill>
              <a:srgbClr val="5B677A"/>
            </a:solidFill>
            <a:prstDash val="solid"/>
            <a:headEnd type="none"/>
            <a:tailEnd type="triangle"/>
          </a:ln>
        </p:spPr>
      </p:sp>
      <p:sp>
        <p:nvSpPr>
          <p:cNvPr id="20" name="Shape 17"/>
          <p:cNvSpPr/>
          <p:nvPr/>
        </p:nvSpPr>
        <p:spPr>
          <a:xfrm>
            <a:off x="7516368" y="2075688"/>
            <a:ext cx="274320" cy="0"/>
          </a:xfrm>
          <a:prstGeom prst="line">
            <a:avLst/>
          </a:prstGeom>
          <a:noFill/>
          <a:ln w="15240">
            <a:solidFill>
              <a:srgbClr val="5B677A"/>
            </a:solidFill>
            <a:prstDash val="solid"/>
            <a:headEnd type="none"/>
            <a:tailEnd type="triangle"/>
          </a:ln>
        </p:spPr>
      </p:sp>
      <p:sp>
        <p:nvSpPr>
          <p:cNvPr id="21" name="Shape 18"/>
          <p:cNvSpPr/>
          <p:nvPr/>
        </p:nvSpPr>
        <p:spPr>
          <a:xfrm>
            <a:off x="8805672" y="2715768"/>
            <a:ext cx="0" cy="548640"/>
          </a:xfrm>
          <a:prstGeom prst="line">
            <a:avLst/>
          </a:prstGeom>
          <a:noFill/>
          <a:ln w="15240">
            <a:solidFill>
              <a:srgbClr val="5B677A"/>
            </a:solidFill>
            <a:prstDash val="solid"/>
            <a:headEnd type="none"/>
            <a:tailEnd type="triangle"/>
          </a:ln>
        </p:spPr>
      </p:sp>
      <p:sp>
        <p:nvSpPr>
          <p:cNvPr id="22" name="Text 19"/>
          <p:cNvSpPr/>
          <p:nvPr/>
        </p:nvSpPr>
        <p:spPr>
          <a:xfrm>
            <a:off x="960120" y="5230368"/>
            <a:ext cx="10149840" cy="384048"/>
          </a:xfrm>
          <a:prstGeom prst="rect">
            <a:avLst/>
          </a:prstGeom>
          <a:solidFill>
            <a:srgbClr val="E8F4FF"/>
          </a:solidFill>
          <a:ln>
            <a:solidFill>
              <a:srgbClr val="8BC6FF"/>
            </a:solidFill>
          </a:ln>
        </p:spPr>
        <p:txBody>
          <a:bodyPr wrap="square" lIns="254" tIns="254" rIns="254" bIns="254" rtlCol="0" anchor="ctr">
            <a:normAutofit fontScale="92500"/>
          </a:bodyPr>
          <a:lstStyle/>
          <a:p>
            <a:pPr marL="0" indent="0" algn="ctr">
              <a:buNone/>
            </a:pPr>
            <a:r>
              <a:rPr lang="en-US" sz="1600" b="1" dirty="0">
                <a:solidFill>
                  <a:srgbClr val="12263A"/>
                </a:solidFill>
                <a:latin typeface="Aptos" pitchFamily="34" charset="0"/>
                <a:ea typeface="Aptos" pitchFamily="34" charset="-122"/>
                <a:cs typeface="Aptos" pitchFamily="34" charset="-120"/>
              </a:rPr>
              <a:t>Classroom rule: never configure a pin from memory. Confirm board pinout + MCU datasheet + CubeMX pin view.</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GPIO modes at a glance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Mode decides whether the pin receives, drives, samples analog voltage, or connects to a peripheral.</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07</a:t>
            </a:r>
            <a:endParaRPr lang="en-US" sz="850" dirty="0"/>
          </a:p>
        </p:txBody>
      </p:sp>
      <p:sp>
        <p:nvSpPr>
          <p:cNvPr id="8" name="Text 5"/>
          <p:cNvSpPr/>
          <p:nvPr/>
        </p:nvSpPr>
        <p:spPr>
          <a:xfrm>
            <a:off x="731520" y="1645920"/>
            <a:ext cx="2240280" cy="310896"/>
          </a:xfrm>
          <a:prstGeom prst="rect">
            <a:avLst/>
          </a:prstGeom>
          <a:solidFill>
            <a:srgbClr val="FFFFFF"/>
          </a:solidFill>
          <a:ln w="12700">
            <a:solidFill>
              <a:srgbClr val="2EC4B6"/>
            </a:solidFill>
          </a:ln>
        </p:spPr>
        <p:txBody>
          <a:bodyPr wrap="square" lIns="1270" tIns="1270" rIns="1270" bIns="1270" rtlCol="0" anchor="ctr">
            <a:normAutofit/>
          </a:bodyPr>
          <a:lstStyle/>
          <a:p>
            <a:pPr marL="0" indent="0" algn="l">
              <a:buNone/>
            </a:pPr>
            <a:r>
              <a:rPr lang="en-US" sz="1400" b="1" dirty="0">
                <a:solidFill>
                  <a:srgbClr val="2EC4B6"/>
                </a:solidFill>
                <a:latin typeface="Aptos" pitchFamily="34" charset="0"/>
                <a:ea typeface="Aptos" pitchFamily="34" charset="-122"/>
                <a:cs typeface="Aptos" pitchFamily="34" charset="-120"/>
              </a:rPr>
              <a:t>Input</a:t>
            </a:r>
            <a:endParaRPr lang="en-US" sz="1400" dirty="0"/>
          </a:p>
        </p:txBody>
      </p:sp>
      <p:sp>
        <p:nvSpPr>
          <p:cNvPr id="9" name="Text 6"/>
          <p:cNvSpPr/>
          <p:nvPr/>
        </p:nvSpPr>
        <p:spPr>
          <a:xfrm>
            <a:off x="731520" y="1956816"/>
            <a:ext cx="2240280" cy="1517904"/>
          </a:xfrm>
          <a:prstGeom prst="rect">
            <a:avLst/>
          </a:prstGeom>
          <a:solidFill>
            <a:srgbClr val="FFFFFF"/>
          </a:solidFill>
          <a:ln w="12700">
            <a:solidFill>
              <a:srgbClr val="2EC4B6"/>
            </a:solidFill>
          </a:ln>
        </p:spPr>
        <p:txBody>
          <a:bodyPr wrap="square" lIns="1270" tIns="1270" rIns="1270" bIns="1270" rtlCol="0" anchor="ctr">
            <a:normAutofit/>
          </a:bodyPr>
          <a:lstStyle/>
          <a:p>
            <a:pPr marL="0" indent="0" algn="l">
              <a:buNone/>
            </a:pPr>
            <a:r>
              <a:rPr lang="en-US" sz="1280" dirty="0">
                <a:solidFill>
                  <a:srgbClr val="1D2433"/>
                </a:solidFill>
                <a:latin typeface="Aptos" pitchFamily="34" charset="0"/>
                <a:ea typeface="Aptos" pitchFamily="34" charset="-122"/>
                <a:cs typeface="Aptos" pitchFamily="34" charset="-120"/>
              </a:rPr>
              <a:t>Read HIGH/LOW</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Button, switch, digital sensor</a:t>
            </a:r>
            <a:endParaRPr lang="en-US" sz="1280" dirty="0"/>
          </a:p>
        </p:txBody>
      </p:sp>
      <p:sp>
        <p:nvSpPr>
          <p:cNvPr id="10" name="Text 7"/>
          <p:cNvSpPr/>
          <p:nvPr/>
        </p:nvSpPr>
        <p:spPr>
          <a:xfrm>
            <a:off x="3520440" y="1645920"/>
            <a:ext cx="2240280" cy="310896"/>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Output</a:t>
            </a:r>
            <a:endParaRPr lang="en-US" sz="1400" dirty="0"/>
          </a:p>
        </p:txBody>
      </p:sp>
      <p:sp>
        <p:nvSpPr>
          <p:cNvPr id="11" name="Text 8"/>
          <p:cNvSpPr/>
          <p:nvPr/>
        </p:nvSpPr>
        <p:spPr>
          <a:xfrm>
            <a:off x="3520440" y="1956816"/>
            <a:ext cx="2240280" cy="1517904"/>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280" dirty="0">
                <a:solidFill>
                  <a:srgbClr val="1D2433"/>
                </a:solidFill>
                <a:latin typeface="Aptos" pitchFamily="34" charset="0"/>
                <a:ea typeface="Aptos" pitchFamily="34" charset="-122"/>
                <a:cs typeface="Aptos" pitchFamily="34" charset="-120"/>
              </a:rPr>
              <a:t>Drive HIGH/LOW</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LED, relay, enable pin</a:t>
            </a:r>
            <a:endParaRPr lang="en-US" sz="1280" dirty="0"/>
          </a:p>
        </p:txBody>
      </p:sp>
      <p:sp>
        <p:nvSpPr>
          <p:cNvPr id="12" name="Text 9"/>
          <p:cNvSpPr/>
          <p:nvPr/>
        </p:nvSpPr>
        <p:spPr>
          <a:xfrm>
            <a:off x="6309360" y="1645920"/>
            <a:ext cx="224028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Analog</a:t>
            </a:r>
            <a:endParaRPr lang="en-US" sz="1400" dirty="0"/>
          </a:p>
        </p:txBody>
      </p:sp>
      <p:sp>
        <p:nvSpPr>
          <p:cNvPr id="13" name="Text 10"/>
          <p:cNvSpPr/>
          <p:nvPr/>
        </p:nvSpPr>
        <p:spPr>
          <a:xfrm>
            <a:off x="6309360" y="1956816"/>
            <a:ext cx="2240280" cy="151790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280" dirty="0">
                <a:solidFill>
                  <a:srgbClr val="1D2433"/>
                </a:solidFill>
                <a:latin typeface="Aptos" pitchFamily="34" charset="0"/>
                <a:ea typeface="Aptos" pitchFamily="34" charset="-122"/>
                <a:cs typeface="Aptos" pitchFamily="34" charset="-120"/>
              </a:rPr>
              <a:t>ADC / DAC path</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Sensor voltage</a:t>
            </a:r>
            <a:endParaRPr lang="en-US" sz="1280" dirty="0"/>
          </a:p>
        </p:txBody>
      </p:sp>
      <p:sp>
        <p:nvSpPr>
          <p:cNvPr id="14" name="Text 11"/>
          <p:cNvSpPr/>
          <p:nvPr/>
        </p:nvSpPr>
        <p:spPr>
          <a:xfrm>
            <a:off x="9098280" y="1645920"/>
            <a:ext cx="224028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Alternate Function</a:t>
            </a:r>
            <a:endParaRPr lang="en-US" sz="1400" dirty="0"/>
          </a:p>
        </p:txBody>
      </p:sp>
      <p:sp>
        <p:nvSpPr>
          <p:cNvPr id="15" name="Text 12"/>
          <p:cNvSpPr/>
          <p:nvPr/>
        </p:nvSpPr>
        <p:spPr>
          <a:xfrm>
            <a:off x="9098280" y="1956816"/>
            <a:ext cx="2240280" cy="151790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280" dirty="0">
                <a:solidFill>
                  <a:srgbClr val="1D2433"/>
                </a:solidFill>
                <a:latin typeface="Aptos" pitchFamily="34" charset="0"/>
                <a:ea typeface="Aptos" pitchFamily="34" charset="-122"/>
                <a:cs typeface="Aptos" pitchFamily="34" charset="-120"/>
              </a:rPr>
              <a:t>UART, SPI, I2C, PWM</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Pin routed to hardware block</a:t>
            </a:r>
            <a:endParaRPr lang="en-US" sz="1280" dirty="0"/>
          </a:p>
        </p:txBody>
      </p:sp>
      <p:sp>
        <p:nvSpPr>
          <p:cNvPr id="16" name="Text 13"/>
          <p:cNvSpPr/>
          <p:nvPr/>
        </p:nvSpPr>
        <p:spPr>
          <a:xfrm>
            <a:off x="5074920" y="4315968"/>
            <a:ext cx="1920240" cy="59436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400" b="1" dirty="0">
                <a:solidFill>
                  <a:srgbClr val="12263A"/>
                </a:solidFill>
                <a:latin typeface="Aptos" pitchFamily="34" charset="0"/>
                <a:ea typeface="Aptos" pitchFamily="34" charset="-122"/>
                <a:cs typeface="Aptos" pitchFamily="34" charset="-120"/>
              </a:rPr>
              <a:t>One physical pin</a:t>
            </a:r>
            <a:endParaRPr lang="en-US" sz="1400" dirty="0"/>
          </a:p>
        </p:txBody>
      </p:sp>
      <p:sp>
        <p:nvSpPr>
          <p:cNvPr id="17" name="Text 14"/>
          <p:cNvSpPr/>
          <p:nvPr/>
        </p:nvSpPr>
        <p:spPr>
          <a:xfrm>
            <a:off x="4983480" y="5230368"/>
            <a:ext cx="2103120" cy="594360"/>
          </a:xfrm>
          <a:prstGeom prst="rect">
            <a:avLst/>
          </a:prstGeom>
          <a:solidFill>
            <a:srgbClr val="FFF3B0"/>
          </a:solidFill>
          <a:ln w="16510">
            <a:solidFill>
              <a:srgbClr val="FF9F1C"/>
            </a:solidFill>
          </a:ln>
        </p:spPr>
        <p:txBody>
          <a:bodyPr wrap="square" lIns="762" tIns="762" rIns="762" bIns="762" rtlCol="0" anchor="ctr">
            <a:normAutofit/>
          </a:bodyPr>
          <a:lstStyle/>
          <a:p>
            <a:pPr marL="0" indent="0" algn="ctr">
              <a:buNone/>
            </a:pPr>
            <a:r>
              <a:rPr lang="en-US" sz="1400" b="1" dirty="0">
                <a:solidFill>
                  <a:srgbClr val="12263A"/>
                </a:solidFill>
                <a:latin typeface="Aptos" pitchFamily="34" charset="0"/>
                <a:ea typeface="Aptos" pitchFamily="34" charset="-122"/>
                <a:cs typeface="Aptos" pitchFamily="34" charset="-120"/>
              </a:rPr>
              <a:t>MUX chooses route</a:t>
            </a:r>
            <a:endParaRPr lang="en-US" sz="1400" dirty="0"/>
          </a:p>
        </p:txBody>
      </p:sp>
      <p:sp>
        <p:nvSpPr>
          <p:cNvPr id="18" name="Shape 15"/>
          <p:cNvSpPr/>
          <p:nvPr/>
        </p:nvSpPr>
        <p:spPr>
          <a:xfrm>
            <a:off x="6035040" y="4919472"/>
            <a:ext cx="0" cy="265176"/>
          </a:xfrm>
          <a:prstGeom prst="line">
            <a:avLst/>
          </a:prstGeom>
          <a:noFill/>
          <a:ln w="15240">
            <a:solidFill>
              <a:srgbClr val="5B677A"/>
            </a:solidFill>
            <a:prstDash val="solid"/>
            <a:headEnd type="none"/>
            <a:tailEnd type="triangle"/>
          </a:ln>
        </p:spPr>
      </p:sp>
      <p:sp>
        <p:nvSpPr>
          <p:cNvPr id="19" name="Text 16"/>
          <p:cNvSpPr/>
          <p:nvPr/>
        </p:nvSpPr>
        <p:spPr>
          <a:xfrm>
            <a:off x="1097280" y="5897880"/>
            <a:ext cx="9966960" cy="256032"/>
          </a:xfrm>
          <a:prstGeom prst="rect">
            <a:avLst/>
          </a:prstGeom>
          <a:noFill/>
          <a:ln/>
        </p:spPr>
        <p:txBody>
          <a:bodyPr wrap="square" lIns="0" tIns="0" rIns="0" bIns="0" rtlCol="0" anchor="ctr">
            <a:normAutofit/>
          </a:bodyPr>
          <a:lstStyle/>
          <a:p>
            <a:pPr marL="0" indent="0" algn="ctr">
              <a:buNone/>
            </a:pPr>
            <a:r>
              <a:rPr lang="en-US" sz="1350" dirty="0">
                <a:solidFill>
                  <a:srgbClr val="5B677A"/>
                </a:solidFill>
                <a:latin typeface="Aptos" pitchFamily="34" charset="0"/>
                <a:ea typeface="Aptos" pitchFamily="34" charset="-122"/>
                <a:cs typeface="Aptos" pitchFamily="34" charset="-120"/>
              </a:rPr>
              <a:t>Important: changing the mode changes the internal electrical path of that pin.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Input mode: reading external digital signals</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In input mode, the pin is high impedance and the input buffer detects HIGH or LOW.</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08</a:t>
            </a:r>
            <a:endParaRPr lang="en-US" sz="850" dirty="0"/>
          </a:p>
        </p:txBody>
      </p:sp>
      <p:sp>
        <p:nvSpPr>
          <p:cNvPr id="8" name="Text 5"/>
          <p:cNvSpPr/>
          <p:nvPr/>
        </p:nvSpPr>
        <p:spPr>
          <a:xfrm>
            <a:off x="914400" y="1965960"/>
            <a:ext cx="1828800" cy="685800"/>
          </a:xfrm>
          <a:prstGeom prst="rect">
            <a:avLst/>
          </a:prstGeom>
          <a:solidFill>
            <a:srgbClr val="FFFFFF"/>
          </a:solidFill>
          <a:ln w="16510">
            <a:solidFill>
              <a:srgbClr val="CAD3D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External signal</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0 V or VDD</a:t>
            </a:r>
            <a:endParaRPr lang="en-US" sz="1200" dirty="0"/>
          </a:p>
        </p:txBody>
      </p:sp>
      <p:sp>
        <p:nvSpPr>
          <p:cNvPr id="9" name="Text 6"/>
          <p:cNvSpPr/>
          <p:nvPr/>
        </p:nvSpPr>
        <p:spPr>
          <a:xfrm>
            <a:off x="3703320" y="1965960"/>
            <a:ext cx="2103120" cy="68580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GPIO input buffer</a:t>
            </a:r>
            <a:endParaRPr lang="en-US" sz="1300" dirty="0"/>
          </a:p>
        </p:txBody>
      </p:sp>
      <p:sp>
        <p:nvSpPr>
          <p:cNvPr id="10" name="Text 7"/>
          <p:cNvSpPr/>
          <p:nvPr/>
        </p:nvSpPr>
        <p:spPr>
          <a:xfrm>
            <a:off x="6629400" y="1965960"/>
            <a:ext cx="2560320" cy="685800"/>
          </a:xfrm>
          <a:prstGeom prst="rect">
            <a:avLst/>
          </a:prstGeom>
          <a:solidFill>
            <a:srgbClr val="FFFFFF"/>
          </a:solidFill>
          <a:ln w="16510">
            <a:solidFill>
              <a:srgbClr val="2EC4B6"/>
            </a:solidFill>
          </a:ln>
        </p:spPr>
        <p:txBody>
          <a:bodyPr wrap="square" lIns="762" tIns="762" rIns="762" bIns="762" rtlCol="0" anchor="ctr">
            <a:normAutofit/>
          </a:bodyPr>
          <a:lstStyle/>
          <a:p>
            <a:pPr marL="0" indent="0" algn="ctr">
              <a:buNone/>
            </a:pPr>
            <a:r>
              <a:rPr lang="en-US" sz="1250" b="1" dirty="0">
                <a:solidFill>
                  <a:srgbClr val="12263A"/>
                </a:solidFill>
                <a:latin typeface="Aptos" pitchFamily="34" charset="0"/>
                <a:ea typeface="Aptos" pitchFamily="34" charset="-122"/>
                <a:cs typeface="Aptos" pitchFamily="34" charset="-120"/>
              </a:rPr>
              <a:t>Firmware reads</a:t>
            </a:r>
            <a:endParaRPr lang="en-US" sz="1250" dirty="0"/>
          </a:p>
          <a:p>
            <a:pPr marL="0" indent="0" algn="ctr">
              <a:buNone/>
            </a:pPr>
            <a:r>
              <a:rPr lang="en-US" sz="1250" b="1" dirty="0">
                <a:solidFill>
                  <a:srgbClr val="12263A"/>
                </a:solidFill>
                <a:latin typeface="Aptos" pitchFamily="34" charset="0"/>
                <a:ea typeface="Aptos" pitchFamily="34" charset="-122"/>
                <a:cs typeface="Aptos" pitchFamily="34" charset="-120"/>
              </a:rPr>
              <a:t>HAL_GPIO_ReadPin()</a:t>
            </a:r>
            <a:endParaRPr lang="en-US" sz="1250" dirty="0"/>
          </a:p>
        </p:txBody>
      </p:sp>
      <p:sp>
        <p:nvSpPr>
          <p:cNvPr id="11" name="Text 8"/>
          <p:cNvSpPr/>
          <p:nvPr/>
        </p:nvSpPr>
        <p:spPr>
          <a:xfrm>
            <a:off x="9921240" y="1965960"/>
            <a:ext cx="1463040" cy="685800"/>
          </a:xfrm>
          <a:prstGeom prst="rect">
            <a:avLst/>
          </a:prstGeom>
          <a:solidFill>
            <a:srgbClr val="FFF3B0"/>
          </a:solidFill>
          <a:ln w="16510">
            <a:solidFill>
              <a:srgbClr val="FF9F1C"/>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Decision</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if HIGH / LOW</a:t>
            </a:r>
            <a:endParaRPr lang="en-US" sz="1200" dirty="0"/>
          </a:p>
        </p:txBody>
      </p:sp>
      <p:sp>
        <p:nvSpPr>
          <p:cNvPr id="12" name="Shape 9"/>
          <p:cNvSpPr/>
          <p:nvPr/>
        </p:nvSpPr>
        <p:spPr>
          <a:xfrm>
            <a:off x="2852928" y="2304288"/>
            <a:ext cx="758952" cy="0"/>
          </a:xfrm>
          <a:prstGeom prst="line">
            <a:avLst/>
          </a:prstGeom>
          <a:noFill/>
          <a:ln w="15240">
            <a:solidFill>
              <a:srgbClr val="5B677A"/>
            </a:solidFill>
            <a:prstDash val="solid"/>
            <a:headEnd type="none"/>
            <a:tailEnd type="triangle"/>
          </a:ln>
        </p:spPr>
      </p:sp>
      <p:sp>
        <p:nvSpPr>
          <p:cNvPr id="13" name="Shape 10"/>
          <p:cNvSpPr/>
          <p:nvPr/>
        </p:nvSpPr>
        <p:spPr>
          <a:xfrm>
            <a:off x="5897880" y="2304288"/>
            <a:ext cx="640080" cy="0"/>
          </a:xfrm>
          <a:prstGeom prst="line">
            <a:avLst/>
          </a:prstGeom>
          <a:noFill/>
          <a:ln w="15240">
            <a:solidFill>
              <a:srgbClr val="5B677A"/>
            </a:solidFill>
            <a:prstDash val="solid"/>
            <a:headEnd type="none"/>
            <a:tailEnd type="triangle"/>
          </a:ln>
        </p:spPr>
      </p:sp>
      <p:sp>
        <p:nvSpPr>
          <p:cNvPr id="14" name="Shape 11"/>
          <p:cNvSpPr/>
          <p:nvPr/>
        </p:nvSpPr>
        <p:spPr>
          <a:xfrm>
            <a:off x="9281160" y="2304288"/>
            <a:ext cx="548640" cy="0"/>
          </a:xfrm>
          <a:prstGeom prst="line">
            <a:avLst/>
          </a:prstGeom>
          <a:noFill/>
          <a:ln w="15240">
            <a:solidFill>
              <a:srgbClr val="5B677A"/>
            </a:solidFill>
            <a:prstDash val="solid"/>
            <a:headEnd type="none"/>
            <a:tailEnd type="triangle"/>
          </a:ln>
        </p:spPr>
      </p:sp>
      <p:sp>
        <p:nvSpPr>
          <p:cNvPr id="15" name="Text 12"/>
          <p:cNvSpPr/>
          <p:nvPr/>
        </p:nvSpPr>
        <p:spPr>
          <a:xfrm>
            <a:off x="868680" y="3657600"/>
            <a:ext cx="402336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Logic state</a:t>
            </a:r>
            <a:endParaRPr lang="en-US" sz="1400" dirty="0"/>
          </a:p>
        </p:txBody>
      </p:sp>
      <p:sp>
        <p:nvSpPr>
          <p:cNvPr id="16" name="Text 13"/>
          <p:cNvSpPr/>
          <p:nvPr/>
        </p:nvSpPr>
        <p:spPr>
          <a:xfrm>
            <a:off x="868680" y="3968496"/>
            <a:ext cx="4023360" cy="138074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280" dirty="0">
                <a:solidFill>
                  <a:srgbClr val="1D2433"/>
                </a:solidFill>
                <a:latin typeface="Aptos" pitchFamily="34" charset="0"/>
                <a:ea typeface="Aptos" pitchFamily="34" charset="-122"/>
                <a:cs typeface="Aptos" pitchFamily="34" charset="-120"/>
              </a:rPr>
              <a:t>HIGH ≈ voltage interpreted as 1</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LOW ≈ voltage interpreted as 0</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Exact thresholds depend on MCU family and supply voltage.</a:t>
            </a:r>
            <a:endParaRPr lang="en-US" sz="1280" dirty="0"/>
          </a:p>
        </p:txBody>
      </p:sp>
      <p:sp>
        <p:nvSpPr>
          <p:cNvPr id="17" name="Text 14"/>
          <p:cNvSpPr/>
          <p:nvPr/>
        </p:nvSpPr>
        <p:spPr>
          <a:xfrm>
            <a:off x="5897880" y="3657600"/>
            <a:ext cx="4892040" cy="310896"/>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Mistake to avoid</a:t>
            </a:r>
            <a:endParaRPr lang="en-US" sz="1400" dirty="0"/>
          </a:p>
        </p:txBody>
      </p:sp>
      <p:sp>
        <p:nvSpPr>
          <p:cNvPr id="18" name="Text 15"/>
          <p:cNvSpPr/>
          <p:nvPr/>
        </p:nvSpPr>
        <p:spPr>
          <a:xfrm>
            <a:off x="5897880" y="3968496"/>
            <a:ext cx="4892040" cy="1106424"/>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Unconnected input is floating: it can randomly switch because it picks up noise like a small antenna.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Pull-up and pull-down resistors</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They define a safe default state for input pins when no active signal is driving the line.</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09</a:t>
            </a:r>
            <a:endParaRPr lang="en-US" sz="850" dirty="0"/>
          </a:p>
        </p:txBody>
      </p:sp>
      <p:sp>
        <p:nvSpPr>
          <p:cNvPr id="8" name="Text 5"/>
          <p:cNvSpPr/>
          <p:nvPr/>
        </p:nvSpPr>
        <p:spPr>
          <a:xfrm>
            <a:off x="731520" y="1554480"/>
            <a:ext cx="315468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Pull-up configuration</a:t>
            </a:r>
            <a:endParaRPr lang="en-US" sz="1400" dirty="0"/>
          </a:p>
        </p:txBody>
      </p:sp>
      <p:sp>
        <p:nvSpPr>
          <p:cNvPr id="9" name="Text 6"/>
          <p:cNvSpPr/>
          <p:nvPr/>
        </p:nvSpPr>
        <p:spPr>
          <a:xfrm>
            <a:off x="731520" y="1865376"/>
            <a:ext cx="3154680" cy="188366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Default state: HIGH (1)</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Button/switch pulls pin to GND</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Pressed state: LOW (0)</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Common for active-low buttons</a:t>
            </a:r>
            <a:endParaRPr lang="en-US" sz="1300" dirty="0"/>
          </a:p>
        </p:txBody>
      </p:sp>
      <p:sp>
        <p:nvSpPr>
          <p:cNvPr id="10" name="Text 7"/>
          <p:cNvSpPr/>
          <p:nvPr/>
        </p:nvSpPr>
        <p:spPr>
          <a:xfrm>
            <a:off x="4526280" y="1554480"/>
            <a:ext cx="315468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Pull-down configuration</a:t>
            </a:r>
            <a:endParaRPr lang="en-US" sz="1400" dirty="0"/>
          </a:p>
        </p:txBody>
      </p:sp>
      <p:sp>
        <p:nvSpPr>
          <p:cNvPr id="11" name="Text 8"/>
          <p:cNvSpPr/>
          <p:nvPr/>
        </p:nvSpPr>
        <p:spPr>
          <a:xfrm>
            <a:off x="4526280" y="1865376"/>
            <a:ext cx="3154680" cy="188366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Default state: LOW (0)</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Button/switch pulls pin to VDD</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Pressed state: HIGH (1)</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Common for active-high inputs</a:t>
            </a:r>
            <a:endParaRPr lang="en-US" sz="1300" dirty="0"/>
          </a:p>
        </p:txBody>
      </p:sp>
      <p:sp>
        <p:nvSpPr>
          <p:cNvPr id="12" name="Text 9"/>
          <p:cNvSpPr/>
          <p:nvPr/>
        </p:nvSpPr>
        <p:spPr>
          <a:xfrm>
            <a:off x="8321040" y="1554480"/>
            <a:ext cx="3108960" cy="310896"/>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Why students must care</a:t>
            </a:r>
            <a:endParaRPr lang="en-US" sz="1400" dirty="0"/>
          </a:p>
        </p:txBody>
      </p:sp>
      <p:sp>
        <p:nvSpPr>
          <p:cNvPr id="13" name="Text 10"/>
          <p:cNvSpPr/>
          <p:nvPr/>
        </p:nvSpPr>
        <p:spPr>
          <a:xfrm>
            <a:off x="8321040" y="1865376"/>
            <a:ext cx="3108960" cy="1883664"/>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A floating input can create false interrupts, unstable button readings, wrong event counts, and random IoT device behavior.</a:t>
            </a:r>
            <a:endParaRPr lang="en-US" sz="1300" dirty="0"/>
          </a:p>
        </p:txBody>
      </p:sp>
      <p:sp>
        <p:nvSpPr>
          <p:cNvPr id="14" name="Text 11"/>
          <p:cNvSpPr/>
          <p:nvPr/>
        </p:nvSpPr>
        <p:spPr>
          <a:xfrm>
            <a:off x="914400" y="4754880"/>
            <a:ext cx="10241280" cy="457200"/>
          </a:xfrm>
          <a:prstGeom prst="rect">
            <a:avLst/>
          </a:prstGeom>
          <a:solidFill>
            <a:srgbClr val="E8F4FF"/>
          </a:solidFill>
          <a:ln>
            <a:solidFill>
              <a:srgbClr val="8BC6FF"/>
            </a:solidFill>
          </a:ln>
        </p:spPr>
        <p:txBody>
          <a:bodyPr wrap="square" lIns="508" tIns="508" rIns="508" bIns="508" rtlCol="0" anchor="ctr">
            <a:normAutofit/>
          </a:bodyPr>
          <a:lstStyle/>
          <a:p>
            <a:pPr marL="0" indent="0" algn="ctr">
              <a:buNone/>
            </a:pPr>
            <a:r>
              <a:rPr lang="en-US" sz="1700" b="1" dirty="0">
                <a:solidFill>
                  <a:srgbClr val="12263A"/>
                </a:solidFill>
                <a:latin typeface="Aptos" pitchFamily="34" charset="0"/>
                <a:ea typeface="Aptos" pitchFamily="34" charset="-122"/>
                <a:cs typeface="Aptos" pitchFamily="34" charset="-120"/>
              </a:rPr>
              <a:t>Quick check: With GPIO_PULLUP and button connected to ground, pressed = 0, released = 1.</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Output mode: driving external devices</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The pin output driver actively drives HIGH or LOW.</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10</a:t>
            </a:r>
            <a:endParaRPr lang="en-US" sz="850" dirty="0"/>
          </a:p>
        </p:txBody>
      </p:sp>
      <p:sp>
        <p:nvSpPr>
          <p:cNvPr id="8" name="Text 5"/>
          <p:cNvSpPr/>
          <p:nvPr/>
        </p:nvSpPr>
        <p:spPr>
          <a:xfrm>
            <a:off x="868680" y="1874520"/>
            <a:ext cx="2194560" cy="731520"/>
          </a:xfrm>
          <a:prstGeom prst="rect">
            <a:avLst/>
          </a:prstGeom>
          <a:solidFill>
            <a:srgbClr val="FFFFFF"/>
          </a:solidFill>
          <a:ln w="16510">
            <a:solidFill>
              <a:srgbClr val="2EC4B6"/>
            </a:solidFill>
          </a:ln>
        </p:spPr>
        <p:txBody>
          <a:bodyPr wrap="square" lIns="762" tIns="762" rIns="762" bIns="762" rtlCol="0" anchor="ctr">
            <a:normAutofit/>
          </a:bodyPr>
          <a:lstStyle/>
          <a:p>
            <a:pPr marL="0" indent="0" algn="ctr">
              <a:buNone/>
            </a:pPr>
            <a:r>
              <a:rPr lang="en-US" sz="1250" b="1" dirty="0">
                <a:solidFill>
                  <a:srgbClr val="12263A"/>
                </a:solidFill>
                <a:latin typeface="Aptos" pitchFamily="34" charset="0"/>
                <a:ea typeface="Aptos" pitchFamily="34" charset="-122"/>
                <a:cs typeface="Aptos" pitchFamily="34" charset="-120"/>
              </a:rPr>
              <a:t>Firmware command</a:t>
            </a:r>
            <a:endParaRPr lang="en-US" sz="1250" dirty="0"/>
          </a:p>
          <a:p>
            <a:pPr marL="0" indent="0" algn="ctr">
              <a:buNone/>
            </a:pPr>
            <a:r>
              <a:rPr lang="en-US" sz="1250" b="1" dirty="0">
                <a:solidFill>
                  <a:srgbClr val="12263A"/>
                </a:solidFill>
                <a:latin typeface="Aptos" pitchFamily="34" charset="0"/>
                <a:ea typeface="Aptos" pitchFamily="34" charset="-122"/>
                <a:cs typeface="Aptos" pitchFamily="34" charset="-120"/>
              </a:rPr>
              <a:t>WritePin / TogglePin</a:t>
            </a:r>
            <a:endParaRPr lang="en-US" sz="1250" dirty="0"/>
          </a:p>
        </p:txBody>
      </p:sp>
      <p:sp>
        <p:nvSpPr>
          <p:cNvPr id="9" name="Text 6"/>
          <p:cNvSpPr/>
          <p:nvPr/>
        </p:nvSpPr>
        <p:spPr>
          <a:xfrm>
            <a:off x="3840480" y="1874520"/>
            <a:ext cx="2011680" cy="73152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GPIO output driver</a:t>
            </a:r>
            <a:endParaRPr lang="en-US" sz="1300" dirty="0"/>
          </a:p>
        </p:txBody>
      </p:sp>
      <p:sp>
        <p:nvSpPr>
          <p:cNvPr id="10" name="Text 7"/>
          <p:cNvSpPr/>
          <p:nvPr/>
        </p:nvSpPr>
        <p:spPr>
          <a:xfrm>
            <a:off x="6675120" y="1874520"/>
            <a:ext cx="1920240" cy="731520"/>
          </a:xfrm>
          <a:prstGeom prst="rect">
            <a:avLst/>
          </a:prstGeom>
          <a:solidFill>
            <a:srgbClr val="FFFFFF"/>
          </a:solidFill>
          <a:ln w="16510">
            <a:solidFill>
              <a:srgbClr val="FF9F1C"/>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Pin voltage</a:t>
            </a:r>
            <a:endParaRPr lang="en-US" sz="1300" dirty="0"/>
          </a:p>
          <a:p>
            <a:pPr marL="0" indent="0" algn="ctr">
              <a:buNone/>
            </a:pPr>
            <a:r>
              <a:rPr lang="en-US" sz="1300" b="1" dirty="0">
                <a:solidFill>
                  <a:srgbClr val="12263A"/>
                </a:solidFill>
                <a:latin typeface="Aptos" pitchFamily="34" charset="0"/>
                <a:ea typeface="Aptos" pitchFamily="34" charset="-122"/>
                <a:cs typeface="Aptos" pitchFamily="34" charset="-120"/>
              </a:rPr>
              <a:t>HIGH or LOW</a:t>
            </a:r>
            <a:endParaRPr lang="en-US" sz="1300" dirty="0"/>
          </a:p>
        </p:txBody>
      </p:sp>
      <p:sp>
        <p:nvSpPr>
          <p:cNvPr id="11" name="Text 8"/>
          <p:cNvSpPr/>
          <p:nvPr/>
        </p:nvSpPr>
        <p:spPr>
          <a:xfrm>
            <a:off x="9372600" y="1874520"/>
            <a:ext cx="2011680" cy="731520"/>
          </a:xfrm>
          <a:prstGeom prst="rect">
            <a:avLst/>
          </a:prstGeom>
          <a:solidFill>
            <a:srgbClr val="FFFFFF"/>
          </a:solidFill>
          <a:ln w="16510">
            <a:solidFill>
              <a:srgbClr val="CAD3DF"/>
            </a:solidFill>
          </a:ln>
        </p:spPr>
        <p:txBody>
          <a:bodyPr wrap="square" lIns="762" tIns="762" rIns="762" bIns="762" rtlCol="0" anchor="ctr">
            <a:normAutofit/>
          </a:bodyPr>
          <a:lstStyle/>
          <a:p>
            <a:pPr marL="0" indent="0" algn="ctr">
              <a:buNone/>
            </a:pPr>
            <a:r>
              <a:rPr lang="en-US" sz="1250" b="1" dirty="0">
                <a:solidFill>
                  <a:srgbClr val="12263A"/>
                </a:solidFill>
                <a:latin typeface="Aptos" pitchFamily="34" charset="0"/>
                <a:ea typeface="Aptos" pitchFamily="34" charset="-122"/>
                <a:cs typeface="Aptos" pitchFamily="34" charset="-120"/>
              </a:rPr>
              <a:t>Load</a:t>
            </a:r>
            <a:endParaRPr lang="en-US" sz="1250" dirty="0"/>
          </a:p>
          <a:p>
            <a:pPr marL="0" indent="0" algn="ctr">
              <a:buNone/>
            </a:pPr>
            <a:r>
              <a:rPr lang="en-US" sz="1250" b="1" dirty="0">
                <a:solidFill>
                  <a:srgbClr val="12263A"/>
                </a:solidFill>
                <a:latin typeface="Aptos" pitchFamily="34" charset="0"/>
                <a:ea typeface="Aptos" pitchFamily="34" charset="-122"/>
                <a:cs typeface="Aptos" pitchFamily="34" charset="-120"/>
              </a:rPr>
              <a:t>LED / relay driver</a:t>
            </a:r>
            <a:endParaRPr lang="en-US" sz="1250" dirty="0"/>
          </a:p>
        </p:txBody>
      </p:sp>
      <p:sp>
        <p:nvSpPr>
          <p:cNvPr id="12" name="Shape 9"/>
          <p:cNvSpPr/>
          <p:nvPr/>
        </p:nvSpPr>
        <p:spPr>
          <a:xfrm>
            <a:off x="3172968" y="2240280"/>
            <a:ext cx="557784" cy="0"/>
          </a:xfrm>
          <a:prstGeom prst="line">
            <a:avLst/>
          </a:prstGeom>
          <a:noFill/>
          <a:ln w="15240">
            <a:solidFill>
              <a:srgbClr val="5B677A"/>
            </a:solidFill>
            <a:prstDash val="solid"/>
            <a:headEnd type="none"/>
            <a:tailEnd type="triangle"/>
          </a:ln>
        </p:spPr>
      </p:sp>
      <p:sp>
        <p:nvSpPr>
          <p:cNvPr id="13" name="Shape 10"/>
          <p:cNvSpPr/>
          <p:nvPr/>
        </p:nvSpPr>
        <p:spPr>
          <a:xfrm>
            <a:off x="5943600" y="2240280"/>
            <a:ext cx="621792" cy="0"/>
          </a:xfrm>
          <a:prstGeom prst="line">
            <a:avLst/>
          </a:prstGeom>
          <a:noFill/>
          <a:ln w="15240">
            <a:solidFill>
              <a:srgbClr val="5B677A"/>
            </a:solidFill>
            <a:prstDash val="solid"/>
            <a:headEnd type="none"/>
            <a:tailEnd type="triangle"/>
          </a:ln>
        </p:spPr>
      </p:sp>
      <p:sp>
        <p:nvSpPr>
          <p:cNvPr id="14" name="Shape 11"/>
          <p:cNvSpPr/>
          <p:nvPr/>
        </p:nvSpPr>
        <p:spPr>
          <a:xfrm>
            <a:off x="8686800" y="2240280"/>
            <a:ext cx="576072" cy="0"/>
          </a:xfrm>
          <a:prstGeom prst="line">
            <a:avLst/>
          </a:prstGeom>
          <a:noFill/>
          <a:ln w="15240">
            <a:solidFill>
              <a:srgbClr val="5B677A"/>
            </a:solidFill>
            <a:prstDash val="solid"/>
            <a:headEnd type="none"/>
            <a:tailEnd type="triangle"/>
          </a:ln>
        </p:spPr>
      </p:sp>
      <p:sp>
        <p:nvSpPr>
          <p:cNvPr id="15" name="Text 12"/>
          <p:cNvSpPr/>
          <p:nvPr/>
        </p:nvSpPr>
        <p:spPr>
          <a:xfrm>
            <a:off x="1005840" y="3657600"/>
            <a:ext cx="384048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Push-pull</a:t>
            </a:r>
            <a:endParaRPr lang="en-US" sz="1400" dirty="0"/>
          </a:p>
        </p:txBody>
      </p:sp>
      <p:sp>
        <p:nvSpPr>
          <p:cNvPr id="16" name="Text 13"/>
          <p:cNvSpPr/>
          <p:nvPr/>
        </p:nvSpPr>
        <p:spPr>
          <a:xfrm>
            <a:off x="1005840" y="3968496"/>
            <a:ext cx="3840480" cy="110642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Can drive HIGH and LOW</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Strong output</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Most common for LED and logic output</a:t>
            </a:r>
            <a:endParaRPr lang="en-US" sz="1300" dirty="0"/>
          </a:p>
        </p:txBody>
      </p:sp>
      <p:sp>
        <p:nvSpPr>
          <p:cNvPr id="17" name="Text 14"/>
          <p:cNvSpPr/>
          <p:nvPr/>
        </p:nvSpPr>
        <p:spPr>
          <a:xfrm>
            <a:off x="6492240" y="3657600"/>
            <a:ext cx="384048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Open-drain</a:t>
            </a:r>
            <a:endParaRPr lang="en-US" sz="1400" dirty="0"/>
          </a:p>
        </p:txBody>
      </p:sp>
      <p:sp>
        <p:nvSpPr>
          <p:cNvPr id="18" name="Text 15"/>
          <p:cNvSpPr/>
          <p:nvPr/>
        </p:nvSpPr>
        <p:spPr>
          <a:xfrm>
            <a:off x="6492240" y="3968496"/>
            <a:ext cx="3840480" cy="110642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Can only pull LOW</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Needs pull-up resistor</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Used in shared buses like I²C</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Push-pull vs open-drain</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Select output type based on circuit behavior, not convenience.</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11</a:t>
            </a:r>
            <a:endParaRPr lang="en-US" sz="850" dirty="0"/>
          </a:p>
        </p:txBody>
      </p:sp>
      <p:sp>
        <p:nvSpPr>
          <p:cNvPr id="8" name="Text 5"/>
          <p:cNvSpPr/>
          <p:nvPr/>
        </p:nvSpPr>
        <p:spPr>
          <a:xfrm>
            <a:off x="822960" y="1508760"/>
            <a:ext cx="347472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Push-pull output</a:t>
            </a:r>
            <a:endParaRPr lang="en-US" sz="1400" dirty="0"/>
          </a:p>
        </p:txBody>
      </p:sp>
      <p:sp>
        <p:nvSpPr>
          <p:cNvPr id="9" name="Text 6"/>
          <p:cNvSpPr/>
          <p:nvPr/>
        </p:nvSpPr>
        <p:spPr>
          <a:xfrm>
            <a:off x="822960" y="1819656"/>
            <a:ext cx="3474720" cy="156362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HIGH: PMOS/upper switch ON</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LOW: NMOS/lower switch ON</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Fast, strong, direct logic output</a:t>
            </a:r>
            <a:endParaRPr lang="en-US" sz="1350" dirty="0"/>
          </a:p>
        </p:txBody>
      </p:sp>
      <p:sp>
        <p:nvSpPr>
          <p:cNvPr id="10" name="Text 7"/>
          <p:cNvSpPr/>
          <p:nvPr/>
        </p:nvSpPr>
        <p:spPr>
          <a:xfrm>
            <a:off x="4526280" y="1508760"/>
            <a:ext cx="347472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Open-drain output</a:t>
            </a:r>
            <a:endParaRPr lang="en-US" sz="1400" dirty="0"/>
          </a:p>
        </p:txBody>
      </p:sp>
      <p:sp>
        <p:nvSpPr>
          <p:cNvPr id="11" name="Text 8"/>
          <p:cNvSpPr/>
          <p:nvPr/>
        </p:nvSpPr>
        <p:spPr>
          <a:xfrm>
            <a:off x="4526280" y="1819656"/>
            <a:ext cx="3474720" cy="156362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LOW: transistor pulls to ground</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HIGH: pin is released</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Requires pull-up to become HIGH</a:t>
            </a:r>
            <a:endParaRPr lang="en-US" sz="1350" dirty="0"/>
          </a:p>
        </p:txBody>
      </p:sp>
      <p:sp>
        <p:nvSpPr>
          <p:cNvPr id="12" name="Text 9"/>
          <p:cNvSpPr/>
          <p:nvPr/>
        </p:nvSpPr>
        <p:spPr>
          <a:xfrm>
            <a:off x="8229600" y="1508760"/>
            <a:ext cx="3154680" cy="310896"/>
          </a:xfrm>
          <a:prstGeom prst="rect">
            <a:avLst/>
          </a:prstGeom>
          <a:solidFill>
            <a:srgbClr val="FFF3B0"/>
          </a:solidFill>
          <a:ln w="12700">
            <a:solidFill>
              <a:srgbClr val="E63946"/>
            </a:solidFill>
          </a:ln>
        </p:spPr>
        <p:txBody>
          <a:bodyPr wrap="square" lIns="1270" tIns="1270" rIns="1270" bIns="1270" rtlCol="0" anchor="ctr">
            <a:normAutofit/>
          </a:bodyPr>
          <a:lstStyle/>
          <a:p>
            <a:pPr marL="0" indent="0" algn="l">
              <a:buNone/>
            </a:pPr>
            <a:r>
              <a:rPr lang="en-US" sz="1400" b="1" dirty="0">
                <a:solidFill>
                  <a:srgbClr val="E63946"/>
                </a:solidFill>
                <a:latin typeface="Aptos" pitchFamily="34" charset="0"/>
                <a:ea typeface="Aptos" pitchFamily="34" charset="-122"/>
                <a:cs typeface="Aptos" pitchFamily="34" charset="-120"/>
              </a:rPr>
              <a:t>Design rule</a:t>
            </a:r>
            <a:endParaRPr lang="en-US" sz="1400" dirty="0"/>
          </a:p>
        </p:txBody>
      </p:sp>
      <p:sp>
        <p:nvSpPr>
          <p:cNvPr id="13" name="Text 10"/>
          <p:cNvSpPr/>
          <p:nvPr/>
        </p:nvSpPr>
        <p:spPr>
          <a:xfrm>
            <a:off x="8229600" y="1819656"/>
            <a:ext cx="3154680" cy="1563624"/>
          </a:xfrm>
          <a:prstGeom prst="rect">
            <a:avLst/>
          </a:prstGeom>
          <a:solidFill>
            <a:srgbClr val="FFF3B0"/>
          </a:solidFill>
          <a:ln w="12700">
            <a:solidFill>
              <a:srgbClr val="E63946"/>
            </a:solidFill>
          </a:ln>
        </p:spPr>
        <p:txBody>
          <a:bodyPr wrap="square" lIns="1270" tIns="1270" rIns="1270" bIns="1270" rtlCol="0" anchor="ctr">
            <a:normAutofit/>
          </a:bodyPr>
          <a:lstStyle/>
          <a:p>
            <a:pPr marL="0" indent="0" algn="l">
              <a:buNone/>
            </a:pPr>
            <a:r>
              <a:rPr lang="en-US" sz="1380" dirty="0">
                <a:solidFill>
                  <a:srgbClr val="1D2433"/>
                </a:solidFill>
                <a:latin typeface="Aptos" pitchFamily="34" charset="0"/>
                <a:ea typeface="Aptos" pitchFamily="34" charset="-122"/>
                <a:cs typeface="Aptos" pitchFamily="34" charset="-120"/>
              </a:rPr>
              <a:t>Never connect two push-pull outputs together. If both drive opposite states, a short-like conflict can occur.</a:t>
            </a:r>
            <a:endParaRPr lang="en-US" sz="1380" dirty="0"/>
          </a:p>
        </p:txBody>
      </p:sp>
      <p:sp>
        <p:nvSpPr>
          <p:cNvPr id="14" name="Text 11"/>
          <p:cNvSpPr/>
          <p:nvPr/>
        </p:nvSpPr>
        <p:spPr>
          <a:xfrm>
            <a:off x="914400" y="4206240"/>
            <a:ext cx="1828800" cy="274320"/>
          </a:xfrm>
          <a:prstGeom prst="rect">
            <a:avLst/>
          </a:prstGeom>
          <a:noFill/>
          <a:ln/>
        </p:spPr>
        <p:txBody>
          <a:bodyPr wrap="square" lIns="0" tIns="0" rIns="0" bIns="0" rtlCol="0" anchor="ctr">
            <a:normAutofit/>
          </a:bodyPr>
          <a:lstStyle/>
          <a:p>
            <a:pPr marL="0" indent="0" algn="l">
              <a:buNone/>
            </a:pPr>
            <a:r>
              <a:rPr lang="en-US" sz="1600" b="1" dirty="0">
                <a:solidFill>
                  <a:srgbClr val="12263A"/>
                </a:solidFill>
                <a:latin typeface="Aptos" pitchFamily="34" charset="0"/>
                <a:ea typeface="Aptos" pitchFamily="34" charset="-122"/>
                <a:cs typeface="Aptos" pitchFamily="34" charset="-120"/>
              </a:rPr>
              <a:t>Good use cases</a:t>
            </a:r>
            <a:endParaRPr lang="en-US" sz="1600" dirty="0"/>
          </a:p>
        </p:txBody>
      </p:sp>
      <p:sp>
        <p:nvSpPr>
          <p:cNvPr id="15" name="Text 12"/>
          <p:cNvSpPr/>
          <p:nvPr/>
        </p:nvSpPr>
        <p:spPr>
          <a:xfrm>
            <a:off x="914400" y="4617720"/>
            <a:ext cx="4663440" cy="914400"/>
          </a:xfrm>
          <a:prstGeom prst="rect">
            <a:avLst/>
          </a:prstGeom>
          <a:noFill/>
          <a:ln/>
        </p:spPr>
        <p:txBody>
          <a:bodyPr wrap="square" lIns="1524" tIns="1524" rIns="1524" bIns="1524" rtlCol="0" anchor="ctr">
            <a:normAutofit/>
          </a:bodyPr>
          <a:lstStyle/>
          <a:p>
            <a:r>
              <a:rPr lang="en-US" sz="1400" dirty="0">
                <a:solidFill>
                  <a:srgbClr val="1D2433"/>
                </a:solidFill>
              </a:rPr>
              <a:t>Push-pull: LED, chip-select, enable pins</a:t>
            </a:r>
            <a:endParaRPr lang="en-US" sz="1400" dirty="0"/>
          </a:p>
          <a:p>
            <a:r>
              <a:rPr lang="en-US" sz="1400" dirty="0">
                <a:solidFill>
                  <a:srgbClr val="1D2433"/>
                </a:solidFill>
              </a:rPr>
              <a:t>Open-drain: I²C SDA/SCL, shared interrupt lines, wired logic</a:t>
            </a:r>
            <a:endParaRPr lang="en-US" sz="1400" dirty="0"/>
          </a:p>
        </p:txBody>
      </p:sp>
      <p:sp>
        <p:nvSpPr>
          <p:cNvPr id="16" name="Text 13"/>
          <p:cNvSpPr/>
          <p:nvPr/>
        </p:nvSpPr>
        <p:spPr>
          <a:xfrm>
            <a:off x="6492240" y="4206240"/>
            <a:ext cx="1828800" cy="274320"/>
          </a:xfrm>
          <a:prstGeom prst="rect">
            <a:avLst/>
          </a:prstGeom>
          <a:noFill/>
          <a:ln/>
        </p:spPr>
        <p:txBody>
          <a:bodyPr wrap="square" lIns="0" tIns="0" rIns="0" bIns="0" rtlCol="0" anchor="ctr">
            <a:normAutofit/>
          </a:bodyPr>
          <a:lstStyle/>
          <a:p>
            <a:pPr marL="0" indent="0" algn="l">
              <a:buNone/>
            </a:pPr>
            <a:r>
              <a:rPr lang="en-US" sz="1600" b="1" dirty="0">
                <a:solidFill>
                  <a:srgbClr val="12263A"/>
                </a:solidFill>
                <a:latin typeface="Aptos" pitchFamily="34" charset="0"/>
                <a:ea typeface="Aptos" pitchFamily="34" charset="-122"/>
                <a:cs typeface="Aptos" pitchFamily="34" charset="-120"/>
              </a:rPr>
              <a:t>Exam angle</a:t>
            </a:r>
            <a:endParaRPr lang="en-US" sz="1600" dirty="0"/>
          </a:p>
        </p:txBody>
      </p:sp>
      <p:sp>
        <p:nvSpPr>
          <p:cNvPr id="17" name="Text 14"/>
          <p:cNvSpPr/>
          <p:nvPr/>
        </p:nvSpPr>
        <p:spPr>
          <a:xfrm>
            <a:off x="6492240" y="4617720"/>
            <a:ext cx="4480560" cy="914400"/>
          </a:xfrm>
          <a:prstGeom prst="rect">
            <a:avLst/>
          </a:prstGeom>
          <a:noFill/>
          <a:ln/>
        </p:spPr>
        <p:txBody>
          <a:bodyPr wrap="square" lIns="1524" tIns="1524" rIns="1524" bIns="1524" rtlCol="0" anchor="ctr">
            <a:normAutofit/>
          </a:bodyPr>
          <a:lstStyle/>
          <a:p>
            <a:r>
              <a:rPr lang="en-US" sz="1400" dirty="0">
                <a:solidFill>
                  <a:srgbClr val="1D2433"/>
                </a:solidFill>
              </a:rPr>
              <a:t>Explain current path and default state</a:t>
            </a:r>
            <a:endParaRPr lang="en-US" sz="1400" dirty="0"/>
          </a:p>
          <a:p>
            <a:r>
              <a:rPr lang="en-US" sz="1400" dirty="0">
                <a:solidFill>
                  <a:srgbClr val="1D2433"/>
                </a:solidFill>
              </a:rPr>
              <a:t>Justify why pull-up is mandatory for open-drain HIGH</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Alternate function mode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GPIO pin is routed to a dedicated peripheral instead of normal software-controlled I/O.</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12</a:t>
            </a:r>
            <a:endParaRPr lang="en-US" sz="850" dirty="0"/>
          </a:p>
        </p:txBody>
      </p:sp>
      <p:sp>
        <p:nvSpPr>
          <p:cNvPr id="8" name="Text 5"/>
          <p:cNvSpPr/>
          <p:nvPr/>
        </p:nvSpPr>
        <p:spPr>
          <a:xfrm>
            <a:off x="960120" y="2743200"/>
            <a:ext cx="1463040" cy="685800"/>
          </a:xfrm>
          <a:prstGeom prst="rect">
            <a:avLst/>
          </a:prstGeom>
          <a:solidFill>
            <a:srgbClr val="FFFFFF"/>
          </a:solidFill>
          <a:ln w="16510">
            <a:solidFill>
              <a:srgbClr val="CAD3DF"/>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Physical pin</a:t>
            </a:r>
            <a:endParaRPr lang="en-US" sz="1300" dirty="0"/>
          </a:p>
          <a:p>
            <a:pPr marL="0" indent="0" algn="ctr">
              <a:buNone/>
            </a:pPr>
            <a:r>
              <a:rPr lang="en-US" sz="1300" b="1" dirty="0">
                <a:solidFill>
                  <a:srgbClr val="12263A"/>
                </a:solidFill>
                <a:latin typeface="Aptos" pitchFamily="34" charset="0"/>
                <a:ea typeface="Aptos" pitchFamily="34" charset="-122"/>
                <a:cs typeface="Aptos" pitchFamily="34" charset="-120"/>
              </a:rPr>
              <a:t>PA9</a:t>
            </a:r>
            <a:endParaRPr lang="en-US" sz="1300" dirty="0"/>
          </a:p>
        </p:txBody>
      </p:sp>
      <p:sp>
        <p:nvSpPr>
          <p:cNvPr id="9" name="Text 6"/>
          <p:cNvSpPr/>
          <p:nvPr/>
        </p:nvSpPr>
        <p:spPr>
          <a:xfrm>
            <a:off x="3657600" y="2606040"/>
            <a:ext cx="1920240" cy="96012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Alternate</a:t>
            </a:r>
            <a:endParaRPr lang="en-US" sz="1300" dirty="0"/>
          </a:p>
          <a:p>
            <a:pPr marL="0" indent="0" algn="ctr">
              <a:buNone/>
            </a:pPr>
            <a:r>
              <a:rPr lang="en-US" sz="1300" b="1" dirty="0">
                <a:solidFill>
                  <a:srgbClr val="12263A"/>
                </a:solidFill>
                <a:latin typeface="Aptos" pitchFamily="34" charset="0"/>
                <a:ea typeface="Aptos" pitchFamily="34" charset="-122"/>
                <a:cs typeface="Aptos" pitchFamily="34" charset="-120"/>
              </a:rPr>
              <a:t>Function MUX</a:t>
            </a:r>
            <a:endParaRPr lang="en-US" sz="1300" dirty="0"/>
          </a:p>
        </p:txBody>
      </p:sp>
      <p:sp>
        <p:nvSpPr>
          <p:cNvPr id="10" name="Text 7"/>
          <p:cNvSpPr/>
          <p:nvPr/>
        </p:nvSpPr>
        <p:spPr>
          <a:xfrm>
            <a:off x="6720840" y="1508760"/>
            <a:ext cx="1417320" cy="548640"/>
          </a:xfrm>
          <a:prstGeom prst="rect">
            <a:avLst/>
          </a:prstGeom>
          <a:solidFill>
            <a:srgbClr val="FFFFFF"/>
          </a:solidFill>
          <a:ln w="16510">
            <a:solidFill>
              <a:srgbClr val="2EC4B6"/>
            </a:solidFill>
          </a:ln>
        </p:spPr>
        <p:txBody>
          <a:bodyPr wrap="square" lIns="762" tIns="762" rIns="762" bIns="762" rtlCol="0" anchor="ctr">
            <a:normAutofit/>
          </a:bodyPr>
          <a:lstStyle/>
          <a:p>
            <a:pPr marL="0" indent="0" algn="ctr">
              <a:buNone/>
            </a:pPr>
            <a:r>
              <a:rPr lang="en-US" sz="1150" b="1" dirty="0">
                <a:solidFill>
                  <a:srgbClr val="12263A"/>
                </a:solidFill>
                <a:latin typeface="Aptos" pitchFamily="34" charset="0"/>
                <a:ea typeface="Aptos" pitchFamily="34" charset="-122"/>
                <a:cs typeface="Aptos" pitchFamily="34" charset="-120"/>
              </a:rPr>
              <a:t>USART TX</a:t>
            </a:r>
            <a:endParaRPr lang="en-US" sz="1150" dirty="0"/>
          </a:p>
        </p:txBody>
      </p:sp>
      <p:sp>
        <p:nvSpPr>
          <p:cNvPr id="11" name="Text 8"/>
          <p:cNvSpPr/>
          <p:nvPr/>
        </p:nvSpPr>
        <p:spPr>
          <a:xfrm>
            <a:off x="6720840" y="2331720"/>
            <a:ext cx="1417320" cy="548640"/>
          </a:xfrm>
          <a:prstGeom prst="rect">
            <a:avLst/>
          </a:prstGeom>
          <a:solidFill>
            <a:srgbClr val="FFFFFF"/>
          </a:solidFill>
          <a:ln w="16510">
            <a:solidFill>
              <a:srgbClr val="FF9F1C"/>
            </a:solidFill>
          </a:ln>
        </p:spPr>
        <p:txBody>
          <a:bodyPr wrap="square" lIns="762" tIns="762" rIns="762" bIns="762" rtlCol="0" anchor="ctr">
            <a:normAutofit/>
          </a:bodyPr>
          <a:lstStyle/>
          <a:p>
            <a:pPr marL="0" indent="0" algn="ctr">
              <a:buNone/>
            </a:pPr>
            <a:r>
              <a:rPr lang="en-US" sz="1150" b="1" dirty="0">
                <a:solidFill>
                  <a:srgbClr val="12263A"/>
                </a:solidFill>
                <a:latin typeface="Aptos" pitchFamily="34" charset="0"/>
                <a:ea typeface="Aptos" pitchFamily="34" charset="-122"/>
                <a:cs typeface="Aptos" pitchFamily="34" charset="-120"/>
              </a:rPr>
              <a:t>SPI SCK</a:t>
            </a:r>
            <a:endParaRPr lang="en-US" sz="1150" dirty="0"/>
          </a:p>
        </p:txBody>
      </p:sp>
      <p:sp>
        <p:nvSpPr>
          <p:cNvPr id="12" name="Text 9"/>
          <p:cNvSpPr/>
          <p:nvPr/>
        </p:nvSpPr>
        <p:spPr>
          <a:xfrm>
            <a:off x="6720840" y="3154680"/>
            <a:ext cx="1417320" cy="548640"/>
          </a:xfrm>
          <a:prstGeom prst="rect">
            <a:avLst/>
          </a:prstGeom>
          <a:solidFill>
            <a:srgbClr val="FFFFFF"/>
          </a:solidFill>
          <a:ln w="16510">
            <a:solidFill>
              <a:srgbClr val="6C63FF"/>
            </a:solidFill>
          </a:ln>
        </p:spPr>
        <p:txBody>
          <a:bodyPr wrap="square" lIns="762" tIns="762" rIns="762" bIns="762" rtlCol="0" anchor="ctr">
            <a:normAutofit/>
          </a:bodyPr>
          <a:lstStyle/>
          <a:p>
            <a:pPr marL="0" indent="0" algn="ctr">
              <a:buNone/>
            </a:pPr>
            <a:r>
              <a:rPr lang="en-US" sz="1150" b="1" dirty="0">
                <a:solidFill>
                  <a:srgbClr val="12263A"/>
                </a:solidFill>
                <a:latin typeface="Aptos" pitchFamily="34" charset="0"/>
                <a:ea typeface="Aptos" pitchFamily="34" charset="-122"/>
                <a:cs typeface="Aptos" pitchFamily="34" charset="-120"/>
              </a:rPr>
              <a:t>Timer PWM</a:t>
            </a:r>
            <a:endParaRPr lang="en-US" sz="1150" dirty="0"/>
          </a:p>
        </p:txBody>
      </p:sp>
      <p:sp>
        <p:nvSpPr>
          <p:cNvPr id="13" name="Text 10"/>
          <p:cNvSpPr/>
          <p:nvPr/>
        </p:nvSpPr>
        <p:spPr>
          <a:xfrm>
            <a:off x="6720840" y="3977640"/>
            <a:ext cx="1417320" cy="548640"/>
          </a:xfrm>
          <a:prstGeom prst="rect">
            <a:avLst/>
          </a:prstGeom>
          <a:solidFill>
            <a:srgbClr val="FFFFFF"/>
          </a:solidFill>
          <a:ln w="16510">
            <a:solidFill>
              <a:srgbClr val="2A9D8F"/>
            </a:solidFill>
          </a:ln>
        </p:spPr>
        <p:txBody>
          <a:bodyPr wrap="square" lIns="762" tIns="762" rIns="762" bIns="762" rtlCol="0" anchor="ctr">
            <a:normAutofit/>
          </a:bodyPr>
          <a:lstStyle/>
          <a:p>
            <a:pPr marL="0" indent="0" algn="ctr">
              <a:buNone/>
            </a:pPr>
            <a:r>
              <a:rPr lang="en-US" sz="1150" b="1" dirty="0">
                <a:solidFill>
                  <a:srgbClr val="12263A"/>
                </a:solidFill>
                <a:latin typeface="Aptos" pitchFamily="34" charset="0"/>
                <a:ea typeface="Aptos" pitchFamily="34" charset="-122"/>
                <a:cs typeface="Aptos" pitchFamily="34" charset="-120"/>
              </a:rPr>
              <a:t>I2C SCL</a:t>
            </a:r>
            <a:endParaRPr lang="en-US" sz="1150" dirty="0"/>
          </a:p>
        </p:txBody>
      </p:sp>
      <p:sp>
        <p:nvSpPr>
          <p:cNvPr id="14" name="Shape 11"/>
          <p:cNvSpPr/>
          <p:nvPr/>
        </p:nvSpPr>
        <p:spPr>
          <a:xfrm>
            <a:off x="2542032" y="3090672"/>
            <a:ext cx="1024128" cy="0"/>
          </a:xfrm>
          <a:prstGeom prst="line">
            <a:avLst/>
          </a:prstGeom>
          <a:noFill/>
          <a:ln w="15240">
            <a:solidFill>
              <a:srgbClr val="5B677A"/>
            </a:solidFill>
            <a:prstDash val="solid"/>
            <a:headEnd type="none"/>
            <a:tailEnd type="triangle"/>
          </a:ln>
        </p:spPr>
      </p:sp>
      <p:sp>
        <p:nvSpPr>
          <p:cNvPr id="15" name="Shape 12"/>
          <p:cNvSpPr/>
          <p:nvPr/>
        </p:nvSpPr>
        <p:spPr>
          <a:xfrm>
            <a:off x="5687568" y="3090672"/>
            <a:ext cx="941832" cy="0"/>
          </a:xfrm>
          <a:prstGeom prst="line">
            <a:avLst/>
          </a:prstGeom>
          <a:noFill/>
          <a:ln w="15240">
            <a:solidFill>
              <a:srgbClr val="5B677A"/>
            </a:solidFill>
            <a:prstDash val="solid"/>
            <a:headEnd type="none"/>
            <a:tailEnd type="triangle"/>
          </a:ln>
        </p:spPr>
      </p:sp>
      <p:sp>
        <p:nvSpPr>
          <p:cNvPr id="16" name="Shape 13"/>
          <p:cNvSpPr/>
          <p:nvPr/>
        </p:nvSpPr>
        <p:spPr>
          <a:xfrm>
            <a:off x="5687568" y="3090672"/>
            <a:ext cx="941832" cy="0"/>
          </a:xfrm>
          <a:prstGeom prst="line">
            <a:avLst/>
          </a:prstGeom>
          <a:noFill/>
          <a:ln w="15240">
            <a:solidFill>
              <a:srgbClr val="5B677A"/>
            </a:solidFill>
            <a:prstDash val="solid"/>
            <a:headEnd type="none"/>
            <a:tailEnd type="triangle"/>
          </a:ln>
        </p:spPr>
      </p:sp>
      <p:sp>
        <p:nvSpPr>
          <p:cNvPr id="17" name="Shape 14"/>
          <p:cNvSpPr/>
          <p:nvPr/>
        </p:nvSpPr>
        <p:spPr>
          <a:xfrm>
            <a:off x="5687568" y="3090672"/>
            <a:ext cx="941832" cy="338328"/>
          </a:xfrm>
          <a:prstGeom prst="line">
            <a:avLst/>
          </a:prstGeom>
          <a:noFill/>
          <a:ln w="15240">
            <a:solidFill>
              <a:srgbClr val="5B677A"/>
            </a:solidFill>
            <a:prstDash val="solid"/>
            <a:headEnd type="none"/>
            <a:tailEnd type="triangle"/>
          </a:ln>
        </p:spPr>
      </p:sp>
      <p:sp>
        <p:nvSpPr>
          <p:cNvPr id="18" name="Shape 15"/>
          <p:cNvSpPr/>
          <p:nvPr/>
        </p:nvSpPr>
        <p:spPr>
          <a:xfrm>
            <a:off x="5687568" y="3090672"/>
            <a:ext cx="941832" cy="1161288"/>
          </a:xfrm>
          <a:prstGeom prst="line">
            <a:avLst/>
          </a:prstGeom>
          <a:noFill/>
          <a:ln w="15240">
            <a:solidFill>
              <a:srgbClr val="5B677A"/>
            </a:solidFill>
            <a:prstDash val="solid"/>
            <a:headEnd type="none"/>
            <a:tailEnd type="triangle"/>
          </a:ln>
        </p:spPr>
      </p:sp>
      <p:sp>
        <p:nvSpPr>
          <p:cNvPr id="19" name="Text 16"/>
          <p:cNvSpPr/>
          <p:nvPr/>
        </p:nvSpPr>
        <p:spPr>
          <a:xfrm>
            <a:off x="8686800" y="2057400"/>
            <a:ext cx="2560320" cy="310896"/>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Teaching point</a:t>
            </a:r>
            <a:endParaRPr lang="en-US" sz="1400" dirty="0"/>
          </a:p>
        </p:txBody>
      </p:sp>
      <p:sp>
        <p:nvSpPr>
          <p:cNvPr id="20" name="Text 17"/>
          <p:cNvSpPr/>
          <p:nvPr/>
        </p:nvSpPr>
        <p:spPr>
          <a:xfrm>
            <a:off x="8686800" y="2368296"/>
            <a:ext cx="2560320" cy="1792224"/>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The alternate-function number is device-specific. CubeMX helps, but the datasheet/reference manual is the authority.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HAL API mapping for GPIO</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HAL functions hide register details, but students must understand what the hardware is doing.</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13</a:t>
            </a:r>
            <a:endParaRPr lang="en-US" sz="850" dirty="0"/>
          </a:p>
        </p:txBody>
      </p:sp>
      <p:sp>
        <p:nvSpPr>
          <p:cNvPr id="8" name="Text 5"/>
          <p:cNvSpPr/>
          <p:nvPr/>
        </p:nvSpPr>
        <p:spPr>
          <a:xfrm>
            <a:off x="731520" y="1417320"/>
            <a:ext cx="352044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Read input</a:t>
            </a:r>
            <a:endParaRPr lang="en-US" sz="1400" dirty="0"/>
          </a:p>
        </p:txBody>
      </p:sp>
      <p:sp>
        <p:nvSpPr>
          <p:cNvPr id="9" name="Text 6"/>
          <p:cNvSpPr/>
          <p:nvPr/>
        </p:nvSpPr>
        <p:spPr>
          <a:xfrm>
            <a:off x="731520" y="1728216"/>
            <a:ext cx="3520440" cy="101498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130" dirty="0">
                <a:solidFill>
                  <a:srgbClr val="1D2433"/>
                </a:solidFill>
                <a:latin typeface="Aptos" pitchFamily="34" charset="0"/>
                <a:ea typeface="Aptos" pitchFamily="34" charset="-122"/>
                <a:cs typeface="Aptos" pitchFamily="34" charset="-120"/>
              </a:rPr>
              <a:t>HAL_GPIO_ReadPin(GPIOx, GPIO_PIN_y)</a:t>
            </a:r>
            <a:endParaRPr lang="en-US" sz="1130" dirty="0"/>
          </a:p>
          <a:p>
            <a:pPr marL="0" indent="0" algn="l">
              <a:buNone/>
            </a:pPr>
            <a:r>
              <a:rPr lang="en-US" sz="1130" dirty="0">
                <a:solidFill>
                  <a:srgbClr val="1D2433"/>
                </a:solidFill>
                <a:latin typeface="Aptos" pitchFamily="34" charset="0"/>
                <a:ea typeface="Aptos" pitchFamily="34" charset="-122"/>
                <a:cs typeface="Aptos" pitchFamily="34" charset="-120"/>
              </a:rPr>
              <a:t>Returns GPIO_PIN_SET or GPIO_PIN_RESET</a:t>
            </a:r>
            <a:endParaRPr lang="en-US" sz="1130" dirty="0"/>
          </a:p>
        </p:txBody>
      </p:sp>
      <p:sp>
        <p:nvSpPr>
          <p:cNvPr id="10" name="Text 7"/>
          <p:cNvSpPr/>
          <p:nvPr/>
        </p:nvSpPr>
        <p:spPr>
          <a:xfrm>
            <a:off x="4526280" y="1417320"/>
            <a:ext cx="3520440" cy="310896"/>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Write output</a:t>
            </a:r>
            <a:endParaRPr lang="en-US" sz="1400" dirty="0"/>
          </a:p>
        </p:txBody>
      </p:sp>
      <p:sp>
        <p:nvSpPr>
          <p:cNvPr id="11" name="Text 8"/>
          <p:cNvSpPr/>
          <p:nvPr/>
        </p:nvSpPr>
        <p:spPr>
          <a:xfrm>
            <a:off x="4526280" y="1728216"/>
            <a:ext cx="3520440" cy="1014984"/>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130" dirty="0">
                <a:solidFill>
                  <a:srgbClr val="1D2433"/>
                </a:solidFill>
                <a:latin typeface="Aptos" pitchFamily="34" charset="0"/>
                <a:ea typeface="Aptos" pitchFamily="34" charset="-122"/>
                <a:cs typeface="Aptos" pitchFamily="34" charset="-120"/>
              </a:rPr>
              <a:t>HAL_GPIO_WritePin(GPIOx, GPIO_PIN_y, state)</a:t>
            </a:r>
            <a:endParaRPr lang="en-US" sz="1130" dirty="0"/>
          </a:p>
          <a:p>
            <a:pPr marL="0" indent="0" algn="l">
              <a:buNone/>
            </a:pPr>
            <a:r>
              <a:rPr lang="en-US" sz="1130" dirty="0">
                <a:solidFill>
                  <a:srgbClr val="1D2433"/>
                </a:solidFill>
                <a:latin typeface="Aptos" pitchFamily="34" charset="0"/>
                <a:ea typeface="Aptos" pitchFamily="34" charset="-122"/>
                <a:cs typeface="Aptos" pitchFamily="34" charset="-120"/>
              </a:rPr>
              <a:t>Sets output to HIGH/LOW</a:t>
            </a:r>
            <a:endParaRPr lang="en-US" sz="1130" dirty="0"/>
          </a:p>
        </p:txBody>
      </p:sp>
      <p:sp>
        <p:nvSpPr>
          <p:cNvPr id="12" name="Text 9"/>
          <p:cNvSpPr/>
          <p:nvPr/>
        </p:nvSpPr>
        <p:spPr>
          <a:xfrm>
            <a:off x="8321040" y="1417320"/>
            <a:ext cx="306324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Toggle output</a:t>
            </a:r>
            <a:endParaRPr lang="en-US" sz="1400" dirty="0"/>
          </a:p>
        </p:txBody>
      </p:sp>
      <p:sp>
        <p:nvSpPr>
          <p:cNvPr id="13" name="Text 10"/>
          <p:cNvSpPr/>
          <p:nvPr/>
        </p:nvSpPr>
        <p:spPr>
          <a:xfrm>
            <a:off x="8321040" y="1728216"/>
            <a:ext cx="3063240" cy="101498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130" dirty="0">
                <a:solidFill>
                  <a:srgbClr val="1D2433"/>
                </a:solidFill>
                <a:latin typeface="Aptos" pitchFamily="34" charset="0"/>
                <a:ea typeface="Aptos" pitchFamily="34" charset="-122"/>
                <a:cs typeface="Aptos" pitchFamily="34" charset="-120"/>
              </a:rPr>
              <a:t>HAL_GPIO_TogglePin(GPIOx, GPIO_PIN_y)</a:t>
            </a:r>
            <a:endParaRPr lang="en-US" sz="1130" dirty="0"/>
          </a:p>
          <a:p>
            <a:pPr marL="0" indent="0" algn="l">
              <a:buNone/>
            </a:pPr>
            <a:r>
              <a:rPr lang="en-US" sz="1130" dirty="0">
                <a:solidFill>
                  <a:srgbClr val="1D2433"/>
                </a:solidFill>
                <a:latin typeface="Aptos" pitchFamily="34" charset="0"/>
                <a:ea typeface="Aptos" pitchFamily="34" charset="-122"/>
                <a:cs typeface="Aptos" pitchFamily="34" charset="-120"/>
              </a:rPr>
              <a:t>Useful for LED blink and status signals</a:t>
            </a:r>
            <a:endParaRPr lang="en-US" sz="1130" dirty="0"/>
          </a:p>
        </p:txBody>
      </p:sp>
      <p:sp>
        <p:nvSpPr>
          <p:cNvPr id="14" name="Text 11"/>
          <p:cNvSpPr/>
          <p:nvPr/>
        </p:nvSpPr>
        <p:spPr>
          <a:xfrm>
            <a:off x="822960" y="3337560"/>
            <a:ext cx="4389120" cy="274320"/>
          </a:xfrm>
          <a:prstGeom prst="rect">
            <a:avLst/>
          </a:prstGeom>
          <a:noFill/>
          <a:ln/>
        </p:spPr>
        <p:txBody>
          <a:bodyPr wrap="square" lIns="0" tIns="0" rIns="0" bIns="0" rtlCol="0" anchor="ctr">
            <a:normAutofit/>
          </a:bodyPr>
          <a:lstStyle/>
          <a:p>
            <a:pPr marL="0" indent="0" algn="l">
              <a:buNone/>
            </a:pPr>
            <a:r>
              <a:rPr lang="en-US" sz="1600" b="1" dirty="0">
                <a:solidFill>
                  <a:srgbClr val="12263A"/>
                </a:solidFill>
                <a:latin typeface="Aptos" pitchFamily="34" charset="0"/>
                <a:ea typeface="Aptos" pitchFamily="34" charset="-122"/>
                <a:cs typeface="Aptos" pitchFamily="34" charset="-120"/>
              </a:rPr>
              <a:t>Typical GPIO initialization pattern</a:t>
            </a:r>
            <a:endParaRPr lang="en-US" sz="1600" dirty="0"/>
          </a:p>
        </p:txBody>
      </p:sp>
      <p:sp>
        <p:nvSpPr>
          <p:cNvPr id="15" name="Text 12"/>
          <p:cNvSpPr/>
          <p:nvPr/>
        </p:nvSpPr>
        <p:spPr>
          <a:xfrm>
            <a:off x="822960" y="3703320"/>
            <a:ext cx="5486400" cy="1828800"/>
          </a:xfrm>
          <a:prstGeom prst="rect">
            <a:avLst/>
          </a:prstGeom>
          <a:solidFill>
            <a:srgbClr val="0B1320"/>
          </a:solidFill>
          <a:ln>
            <a:solidFill>
              <a:srgbClr val="0B1320"/>
            </a:solidFill>
          </a:ln>
        </p:spPr>
        <p:txBody>
          <a:bodyPr wrap="square" lIns="1524" tIns="1524" rIns="1524" bIns="1524" rtlCol="0" anchor="ctr">
            <a:normAutofit/>
          </a:bodyPr>
          <a:lstStyle/>
          <a:p>
            <a:pPr marL="0" indent="0" algn="l">
              <a:buNone/>
            </a:pPr>
            <a:r>
              <a:rPr lang="en-US" sz="1040" dirty="0">
                <a:solidFill>
                  <a:srgbClr val="FFFFFF"/>
                </a:solidFill>
                <a:latin typeface="Consolas" pitchFamily="34" charset="0"/>
                <a:ea typeface="Consolas" pitchFamily="34" charset="-122"/>
                <a:cs typeface="Consolas" pitchFamily="34" charset="-120"/>
              </a:rPr>
              <a:t>GPIO_InitTypeDef GPIO_InitStruct = {0};</a:t>
            </a:r>
            <a:endParaRPr lang="en-US" sz="1040" dirty="0"/>
          </a:p>
          <a:p>
            <a:pPr marL="0" indent="0" algn="l">
              <a:buNone/>
            </a:pPr>
            <a:r>
              <a:rPr lang="en-US" sz="1040" dirty="0">
                <a:solidFill>
                  <a:srgbClr val="FFFFFF"/>
                </a:solidFill>
                <a:latin typeface="Consolas" pitchFamily="34" charset="0"/>
                <a:ea typeface="Consolas" pitchFamily="34" charset="-122"/>
                <a:cs typeface="Consolas" pitchFamily="34" charset="-120"/>
              </a:rPr>
              <a:t>__HAL_RCC_GPIOA_CLK_ENABLE();</a:t>
            </a:r>
            <a:endParaRPr lang="en-US" sz="1040" dirty="0"/>
          </a:p>
          <a:p>
            <a:pPr marL="0" indent="0" algn="l">
              <a:buNone/>
            </a:pPr>
            <a:r>
              <a:rPr lang="en-US" sz="1040" dirty="0">
                <a:solidFill>
                  <a:srgbClr val="FFFFFF"/>
                </a:solidFill>
                <a:latin typeface="Consolas" pitchFamily="34" charset="0"/>
                <a:ea typeface="Consolas" pitchFamily="34" charset="-122"/>
                <a:cs typeface="Consolas" pitchFamily="34" charset="-120"/>
              </a:rPr>
              <a:t>GPIO_InitStruct.Pin = GPIO_PIN_5;</a:t>
            </a:r>
            <a:endParaRPr lang="en-US" sz="1040" dirty="0"/>
          </a:p>
          <a:p>
            <a:pPr marL="0" indent="0" algn="l">
              <a:buNone/>
            </a:pPr>
            <a:r>
              <a:rPr lang="en-US" sz="1040" dirty="0">
                <a:solidFill>
                  <a:srgbClr val="FFFFFF"/>
                </a:solidFill>
                <a:latin typeface="Consolas" pitchFamily="34" charset="0"/>
                <a:ea typeface="Consolas" pitchFamily="34" charset="-122"/>
                <a:cs typeface="Consolas" pitchFamily="34" charset="-120"/>
              </a:rPr>
              <a:t>GPIO_InitStruct.Mode = GPIO_MODE_OUTPUT_PP;</a:t>
            </a:r>
            <a:endParaRPr lang="en-US" sz="1040" dirty="0"/>
          </a:p>
          <a:p>
            <a:pPr marL="0" indent="0" algn="l">
              <a:buNone/>
            </a:pPr>
            <a:r>
              <a:rPr lang="en-US" sz="1040" dirty="0">
                <a:solidFill>
                  <a:srgbClr val="FFFFFF"/>
                </a:solidFill>
                <a:latin typeface="Consolas" pitchFamily="34" charset="0"/>
                <a:ea typeface="Consolas" pitchFamily="34" charset="-122"/>
                <a:cs typeface="Consolas" pitchFamily="34" charset="-120"/>
              </a:rPr>
              <a:t>GPIO_InitStruct.Pull = GPIO_NOPULL;</a:t>
            </a:r>
            <a:endParaRPr lang="en-US" sz="1040" dirty="0"/>
          </a:p>
          <a:p>
            <a:pPr marL="0" indent="0" algn="l">
              <a:buNone/>
            </a:pPr>
            <a:r>
              <a:rPr lang="en-US" sz="1040" dirty="0">
                <a:solidFill>
                  <a:srgbClr val="FFFFFF"/>
                </a:solidFill>
                <a:latin typeface="Consolas" pitchFamily="34" charset="0"/>
                <a:ea typeface="Consolas" pitchFamily="34" charset="-122"/>
                <a:cs typeface="Consolas" pitchFamily="34" charset="-120"/>
              </a:rPr>
              <a:t>GPIO_InitStruct.Speed = GPIO_SPEED_FREQ_LOW;</a:t>
            </a:r>
            <a:endParaRPr lang="en-US" sz="1040" dirty="0"/>
          </a:p>
          <a:p>
            <a:pPr marL="0" indent="0" algn="l">
              <a:buNone/>
            </a:pPr>
            <a:r>
              <a:rPr lang="en-US" sz="1040" dirty="0">
                <a:solidFill>
                  <a:srgbClr val="FFFFFF"/>
                </a:solidFill>
                <a:latin typeface="Consolas" pitchFamily="34" charset="0"/>
                <a:ea typeface="Consolas" pitchFamily="34" charset="-122"/>
                <a:cs typeface="Consolas" pitchFamily="34" charset="-120"/>
              </a:rPr>
              <a:t>HAL_GPIO_Init(GPIOA, &amp;GPIO_InitStruct);</a:t>
            </a:r>
            <a:endParaRPr lang="en-US" sz="1040" dirty="0"/>
          </a:p>
        </p:txBody>
      </p:sp>
      <p:sp>
        <p:nvSpPr>
          <p:cNvPr id="16" name="Text 13"/>
          <p:cNvSpPr/>
          <p:nvPr/>
        </p:nvSpPr>
        <p:spPr>
          <a:xfrm>
            <a:off x="6812280" y="3749040"/>
            <a:ext cx="416052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Explain, do not just run</a:t>
            </a:r>
            <a:endParaRPr lang="en-US" sz="1400" dirty="0"/>
          </a:p>
        </p:txBody>
      </p:sp>
      <p:sp>
        <p:nvSpPr>
          <p:cNvPr id="17" name="Text 14"/>
          <p:cNvSpPr/>
          <p:nvPr/>
        </p:nvSpPr>
        <p:spPr>
          <a:xfrm>
            <a:off x="6812280" y="4059936"/>
            <a:ext cx="4160520" cy="110642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Clock must be enabled before pin works. Mode chooses path. Pull stabilizes input. Speed affects output edges.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ADC: analog-to-digital conversion</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ADC converts a continuously varying sensor voltage into a numerical value the MCU can process.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14</a:t>
            </a:r>
            <a:endParaRPr lang="en-US" sz="850" dirty="0"/>
          </a:p>
        </p:txBody>
      </p:sp>
      <p:sp>
        <p:nvSpPr>
          <p:cNvPr id="8" name="Text 5"/>
          <p:cNvSpPr/>
          <p:nvPr/>
        </p:nvSpPr>
        <p:spPr>
          <a:xfrm>
            <a:off x="822960" y="1874520"/>
            <a:ext cx="2057400" cy="731520"/>
          </a:xfrm>
          <a:prstGeom prst="rect">
            <a:avLst/>
          </a:prstGeom>
          <a:solidFill>
            <a:srgbClr val="FFFFFF"/>
          </a:solidFill>
          <a:ln w="16510">
            <a:solidFill>
              <a:srgbClr val="CAD3D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Physical quantity</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light / temp / pressure</a:t>
            </a:r>
            <a:endParaRPr lang="en-US" sz="1200" dirty="0"/>
          </a:p>
        </p:txBody>
      </p:sp>
      <p:sp>
        <p:nvSpPr>
          <p:cNvPr id="9" name="Text 6"/>
          <p:cNvSpPr/>
          <p:nvPr/>
        </p:nvSpPr>
        <p:spPr>
          <a:xfrm>
            <a:off x="3520440" y="1874520"/>
            <a:ext cx="1737360" cy="731520"/>
          </a:xfrm>
          <a:prstGeom prst="rect">
            <a:avLst/>
          </a:prstGeom>
          <a:solidFill>
            <a:srgbClr val="FFFFFF"/>
          </a:solidFill>
          <a:ln w="16510">
            <a:solidFill>
              <a:srgbClr val="2EC4B6"/>
            </a:solidFill>
          </a:ln>
        </p:spPr>
        <p:txBody>
          <a:bodyPr wrap="square" lIns="762" tIns="762" rIns="762" bIns="762" rtlCol="0" anchor="ctr">
            <a:normAutofit/>
          </a:bodyPr>
          <a:lstStyle/>
          <a:p>
            <a:pPr marL="0" indent="0" algn="ctr">
              <a:buNone/>
            </a:pPr>
            <a:r>
              <a:rPr lang="en-US" sz="1250" b="1" dirty="0">
                <a:solidFill>
                  <a:srgbClr val="12263A"/>
                </a:solidFill>
                <a:latin typeface="Aptos" pitchFamily="34" charset="0"/>
                <a:ea typeface="Aptos" pitchFamily="34" charset="-122"/>
                <a:cs typeface="Aptos" pitchFamily="34" charset="-120"/>
              </a:rPr>
              <a:t>Sensor voltage</a:t>
            </a:r>
            <a:endParaRPr lang="en-US" sz="1250" dirty="0"/>
          </a:p>
          <a:p>
            <a:pPr marL="0" indent="0" algn="ctr">
              <a:buNone/>
            </a:pPr>
            <a:r>
              <a:rPr lang="en-US" sz="1250" b="1" dirty="0">
                <a:solidFill>
                  <a:srgbClr val="12263A"/>
                </a:solidFill>
                <a:latin typeface="Aptos" pitchFamily="34" charset="0"/>
                <a:ea typeface="Aptos" pitchFamily="34" charset="-122"/>
                <a:cs typeface="Aptos" pitchFamily="34" charset="-120"/>
              </a:rPr>
              <a:t>0–3.3 V</a:t>
            </a:r>
            <a:endParaRPr lang="en-US" sz="1250" dirty="0"/>
          </a:p>
        </p:txBody>
      </p:sp>
      <p:sp>
        <p:nvSpPr>
          <p:cNvPr id="10" name="Text 7"/>
          <p:cNvSpPr/>
          <p:nvPr/>
        </p:nvSpPr>
        <p:spPr>
          <a:xfrm>
            <a:off x="5989320" y="1874520"/>
            <a:ext cx="1645920" cy="73152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ADC channel</a:t>
            </a:r>
            <a:endParaRPr lang="en-US" sz="1300" dirty="0"/>
          </a:p>
        </p:txBody>
      </p:sp>
      <p:sp>
        <p:nvSpPr>
          <p:cNvPr id="11" name="Text 8"/>
          <p:cNvSpPr/>
          <p:nvPr/>
        </p:nvSpPr>
        <p:spPr>
          <a:xfrm>
            <a:off x="8275320" y="1874520"/>
            <a:ext cx="1691640" cy="731520"/>
          </a:xfrm>
          <a:prstGeom prst="rect">
            <a:avLst/>
          </a:prstGeom>
          <a:solidFill>
            <a:srgbClr val="FFF3B0"/>
          </a:solidFill>
          <a:ln w="16510">
            <a:solidFill>
              <a:srgbClr val="FF9F1C"/>
            </a:solidFill>
          </a:ln>
        </p:spPr>
        <p:txBody>
          <a:bodyPr wrap="square" lIns="762" tIns="762" rIns="762" bIns="762" rtlCol="0" anchor="ctr">
            <a:normAutofit/>
          </a:bodyPr>
          <a:lstStyle/>
          <a:p>
            <a:pPr marL="0" indent="0" algn="ctr">
              <a:buNone/>
            </a:pPr>
            <a:r>
              <a:rPr lang="en-US" sz="1300" b="1" dirty="0">
                <a:solidFill>
                  <a:srgbClr val="12263A"/>
                </a:solidFill>
                <a:latin typeface="Aptos" pitchFamily="34" charset="0"/>
                <a:ea typeface="Aptos" pitchFamily="34" charset="-122"/>
                <a:cs typeface="Aptos" pitchFamily="34" charset="-120"/>
              </a:rPr>
              <a:t>Digital count</a:t>
            </a:r>
            <a:endParaRPr lang="en-US" sz="1300" dirty="0"/>
          </a:p>
          <a:p>
            <a:pPr marL="0" indent="0" algn="ctr">
              <a:buNone/>
            </a:pPr>
            <a:r>
              <a:rPr lang="en-US" sz="1300" b="1" dirty="0">
                <a:solidFill>
                  <a:srgbClr val="12263A"/>
                </a:solidFill>
                <a:latin typeface="Aptos" pitchFamily="34" charset="0"/>
                <a:ea typeface="Aptos" pitchFamily="34" charset="-122"/>
                <a:cs typeface="Aptos" pitchFamily="34" charset="-120"/>
              </a:rPr>
              <a:t>0…4095</a:t>
            </a:r>
            <a:endParaRPr lang="en-US" sz="1300" dirty="0"/>
          </a:p>
        </p:txBody>
      </p:sp>
      <p:sp>
        <p:nvSpPr>
          <p:cNvPr id="12" name="Text 9"/>
          <p:cNvSpPr/>
          <p:nvPr/>
        </p:nvSpPr>
        <p:spPr>
          <a:xfrm>
            <a:off x="10424160" y="1874520"/>
            <a:ext cx="1234440" cy="731520"/>
          </a:xfrm>
          <a:prstGeom prst="rect">
            <a:avLst/>
          </a:prstGeom>
          <a:solidFill>
            <a:srgbClr val="FFFFFF"/>
          </a:solidFill>
          <a:ln w="16510">
            <a:solidFill>
              <a:srgbClr val="6C63FF"/>
            </a:solidFill>
          </a:ln>
        </p:spPr>
        <p:txBody>
          <a:bodyPr wrap="square" lIns="762" tIns="762" rIns="762" bIns="762" rtlCol="0" anchor="ctr">
            <a:normAutofit/>
          </a:bodyPr>
          <a:lstStyle/>
          <a:p>
            <a:pPr marL="0" indent="0" algn="ctr">
              <a:buNone/>
            </a:pPr>
            <a:r>
              <a:rPr lang="en-US" sz="1150" b="1" dirty="0">
                <a:solidFill>
                  <a:srgbClr val="12263A"/>
                </a:solidFill>
                <a:latin typeface="Aptos" pitchFamily="34" charset="0"/>
                <a:ea typeface="Aptos" pitchFamily="34" charset="-122"/>
                <a:cs typeface="Aptos" pitchFamily="34" charset="-120"/>
              </a:rPr>
              <a:t>Firmware logic</a:t>
            </a:r>
            <a:endParaRPr lang="en-US" sz="1150" dirty="0"/>
          </a:p>
        </p:txBody>
      </p:sp>
      <p:sp>
        <p:nvSpPr>
          <p:cNvPr id="13" name="Shape 10"/>
          <p:cNvSpPr/>
          <p:nvPr/>
        </p:nvSpPr>
        <p:spPr>
          <a:xfrm>
            <a:off x="2971800" y="2240280"/>
            <a:ext cx="438912" cy="0"/>
          </a:xfrm>
          <a:prstGeom prst="line">
            <a:avLst/>
          </a:prstGeom>
          <a:noFill/>
          <a:ln w="15240">
            <a:solidFill>
              <a:srgbClr val="5B677A"/>
            </a:solidFill>
            <a:prstDash val="solid"/>
            <a:headEnd type="none"/>
            <a:tailEnd type="triangle"/>
          </a:ln>
        </p:spPr>
      </p:sp>
      <p:sp>
        <p:nvSpPr>
          <p:cNvPr id="14" name="Shape 11"/>
          <p:cNvSpPr/>
          <p:nvPr/>
        </p:nvSpPr>
        <p:spPr>
          <a:xfrm>
            <a:off x="5349240" y="2240280"/>
            <a:ext cx="530352" cy="0"/>
          </a:xfrm>
          <a:prstGeom prst="line">
            <a:avLst/>
          </a:prstGeom>
          <a:noFill/>
          <a:ln w="15240">
            <a:solidFill>
              <a:srgbClr val="5B677A"/>
            </a:solidFill>
            <a:prstDash val="solid"/>
            <a:headEnd type="none"/>
            <a:tailEnd type="triangle"/>
          </a:ln>
        </p:spPr>
      </p:sp>
      <p:sp>
        <p:nvSpPr>
          <p:cNvPr id="15" name="Shape 12"/>
          <p:cNvSpPr/>
          <p:nvPr/>
        </p:nvSpPr>
        <p:spPr>
          <a:xfrm>
            <a:off x="7726680" y="2240280"/>
            <a:ext cx="438912" cy="0"/>
          </a:xfrm>
          <a:prstGeom prst="line">
            <a:avLst/>
          </a:prstGeom>
          <a:noFill/>
          <a:ln w="15240">
            <a:solidFill>
              <a:srgbClr val="5B677A"/>
            </a:solidFill>
            <a:prstDash val="solid"/>
            <a:headEnd type="none"/>
            <a:tailEnd type="triangle"/>
          </a:ln>
        </p:spPr>
      </p:sp>
      <p:sp>
        <p:nvSpPr>
          <p:cNvPr id="16" name="Shape 13"/>
          <p:cNvSpPr/>
          <p:nvPr/>
        </p:nvSpPr>
        <p:spPr>
          <a:xfrm>
            <a:off x="10040112" y="2240280"/>
            <a:ext cx="283464" cy="0"/>
          </a:xfrm>
          <a:prstGeom prst="line">
            <a:avLst/>
          </a:prstGeom>
          <a:noFill/>
          <a:ln w="15240">
            <a:solidFill>
              <a:srgbClr val="5B677A"/>
            </a:solidFill>
            <a:prstDash val="solid"/>
            <a:headEnd type="none"/>
            <a:tailEnd type="triangle"/>
          </a:ln>
        </p:spPr>
      </p:sp>
      <p:sp>
        <p:nvSpPr>
          <p:cNvPr id="17" name="Text 14"/>
          <p:cNvSpPr/>
          <p:nvPr/>
        </p:nvSpPr>
        <p:spPr>
          <a:xfrm>
            <a:off x="868680" y="3703320"/>
            <a:ext cx="466344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Example conversion</a:t>
            </a:r>
            <a:endParaRPr lang="en-US" sz="1400" dirty="0"/>
          </a:p>
        </p:txBody>
      </p:sp>
      <p:sp>
        <p:nvSpPr>
          <p:cNvPr id="18" name="Text 15"/>
          <p:cNvSpPr/>
          <p:nvPr/>
        </p:nvSpPr>
        <p:spPr>
          <a:xfrm>
            <a:off x="868680" y="4014216"/>
            <a:ext cx="4663440" cy="128930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For a 12-bit ADC with Vref = 3.3 V:</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Digital value = Vin / Vref × 4095</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If Vin = 1.65 V, result ≈ 2048</a:t>
            </a:r>
            <a:endParaRPr lang="en-US" sz="1400" dirty="0"/>
          </a:p>
        </p:txBody>
      </p:sp>
      <p:sp>
        <p:nvSpPr>
          <p:cNvPr id="19" name="Text 16"/>
          <p:cNvSpPr/>
          <p:nvPr/>
        </p:nvSpPr>
        <p:spPr>
          <a:xfrm>
            <a:off x="6583680" y="3749040"/>
            <a:ext cx="4343400" cy="310896"/>
          </a:xfrm>
          <a:prstGeom prst="rect">
            <a:avLst/>
          </a:prstGeom>
          <a:solidFill>
            <a:srgbClr val="FFF3B0"/>
          </a:solidFill>
          <a:ln w="12700">
            <a:solidFill>
              <a:srgbClr val="E63946"/>
            </a:solidFill>
          </a:ln>
        </p:spPr>
        <p:txBody>
          <a:bodyPr wrap="square" lIns="1270" tIns="1270" rIns="1270" bIns="1270" rtlCol="0" anchor="ctr">
            <a:normAutofit/>
          </a:bodyPr>
          <a:lstStyle/>
          <a:p>
            <a:pPr marL="0" indent="0" algn="l">
              <a:buNone/>
            </a:pPr>
            <a:r>
              <a:rPr lang="en-US" sz="1400" b="1" dirty="0">
                <a:solidFill>
                  <a:srgbClr val="E63946"/>
                </a:solidFill>
                <a:latin typeface="Aptos" pitchFamily="34" charset="0"/>
                <a:ea typeface="Aptos" pitchFamily="34" charset="-122"/>
                <a:cs typeface="Aptos" pitchFamily="34" charset="-120"/>
              </a:rPr>
              <a:t>Key caution</a:t>
            </a:r>
            <a:endParaRPr lang="en-US" sz="1400" dirty="0"/>
          </a:p>
        </p:txBody>
      </p:sp>
      <p:sp>
        <p:nvSpPr>
          <p:cNvPr id="20" name="Text 17"/>
          <p:cNvSpPr/>
          <p:nvPr/>
        </p:nvSpPr>
        <p:spPr>
          <a:xfrm>
            <a:off x="6583680" y="4059936"/>
            <a:ext cx="4343400" cy="1060704"/>
          </a:xfrm>
          <a:prstGeom prst="rect">
            <a:avLst/>
          </a:prstGeom>
          <a:solidFill>
            <a:srgbClr val="FFF3B0"/>
          </a:solidFill>
          <a:ln w="12700">
            <a:solidFill>
              <a:srgbClr val="E63946"/>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Most STM32 ADC inputs are not 5 V tolerant in analog mode. Match sensor output to MCU voltage range.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ADC workflow in an IoT node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Analog sensing is a chain: configure pin → sample → convert → scale → decide/send.</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15</a:t>
            </a:r>
            <a:endParaRPr lang="en-US" sz="850" dirty="0"/>
          </a:p>
        </p:txBody>
      </p:sp>
      <p:sp>
        <p:nvSpPr>
          <p:cNvPr id="8" name="Text 5"/>
          <p:cNvSpPr/>
          <p:nvPr/>
        </p:nvSpPr>
        <p:spPr>
          <a:xfrm>
            <a:off x="594360" y="1965960"/>
            <a:ext cx="1828800" cy="86868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080" b="1" dirty="0">
                <a:solidFill>
                  <a:srgbClr val="12263A"/>
                </a:solidFill>
                <a:latin typeface="Aptos" pitchFamily="34" charset="0"/>
                <a:ea typeface="Aptos" pitchFamily="34" charset="-122"/>
                <a:cs typeface="Aptos" pitchFamily="34" charset="-120"/>
              </a:rPr>
              <a:t>Configure</a:t>
            </a:r>
            <a:endParaRPr lang="en-US" sz="1080" dirty="0"/>
          </a:p>
          <a:p>
            <a:pPr marL="0" indent="0" algn="ctr">
              <a:buNone/>
            </a:pPr>
            <a:r>
              <a:rPr lang="en-US" sz="1080" b="1" dirty="0">
                <a:solidFill>
                  <a:srgbClr val="12263A"/>
                </a:solidFill>
                <a:latin typeface="Aptos" pitchFamily="34" charset="0"/>
                <a:ea typeface="Aptos" pitchFamily="34" charset="-122"/>
                <a:cs typeface="Aptos" pitchFamily="34" charset="-120"/>
              </a:rPr>
              <a:t>GPIO analog</a:t>
            </a:r>
            <a:endParaRPr lang="en-US" sz="1080" dirty="0"/>
          </a:p>
          <a:p>
            <a:pPr marL="0" indent="0" algn="ctr">
              <a:buNone/>
            </a:pPr>
            <a:r>
              <a:rPr lang="en-US" sz="1080" b="1" dirty="0">
                <a:solidFill>
                  <a:srgbClr val="12263A"/>
                </a:solidFill>
                <a:latin typeface="Aptos" pitchFamily="34" charset="0"/>
                <a:ea typeface="Aptos" pitchFamily="34" charset="-122"/>
                <a:cs typeface="Aptos" pitchFamily="34" charset="-120"/>
              </a:rPr>
              <a:t>PA0 as ADC_INx</a:t>
            </a:r>
            <a:endParaRPr lang="en-US" sz="1080" dirty="0"/>
          </a:p>
        </p:txBody>
      </p:sp>
      <p:sp>
        <p:nvSpPr>
          <p:cNvPr id="9" name="Shape 6"/>
          <p:cNvSpPr/>
          <p:nvPr/>
        </p:nvSpPr>
        <p:spPr>
          <a:xfrm>
            <a:off x="2450592" y="2404872"/>
            <a:ext cx="411480" cy="0"/>
          </a:xfrm>
          <a:prstGeom prst="line">
            <a:avLst/>
          </a:prstGeom>
          <a:noFill/>
          <a:ln w="15240">
            <a:solidFill>
              <a:srgbClr val="5B677A"/>
            </a:solidFill>
            <a:prstDash val="solid"/>
            <a:headEnd type="none"/>
            <a:tailEnd type="triangle"/>
          </a:ln>
        </p:spPr>
      </p:sp>
      <p:sp>
        <p:nvSpPr>
          <p:cNvPr id="10" name="Text 7"/>
          <p:cNvSpPr/>
          <p:nvPr/>
        </p:nvSpPr>
        <p:spPr>
          <a:xfrm>
            <a:off x="2926080" y="1965960"/>
            <a:ext cx="1828800" cy="868680"/>
          </a:xfrm>
          <a:prstGeom prst="rect">
            <a:avLst/>
          </a:prstGeom>
          <a:solidFill>
            <a:srgbClr val="FFFFFF"/>
          </a:solidFill>
          <a:ln w="16510">
            <a:solidFill>
              <a:srgbClr val="1E6091"/>
            </a:solidFill>
          </a:ln>
        </p:spPr>
        <p:txBody>
          <a:bodyPr wrap="square" lIns="762" tIns="762" rIns="762" bIns="762" rtlCol="0" anchor="ctr">
            <a:normAutofit/>
          </a:bodyPr>
          <a:lstStyle/>
          <a:p>
            <a:pPr marL="0" indent="0" algn="ctr">
              <a:buNone/>
            </a:pPr>
            <a:r>
              <a:rPr lang="en-US" sz="1080" b="1" dirty="0">
                <a:solidFill>
                  <a:srgbClr val="12263A"/>
                </a:solidFill>
                <a:latin typeface="Aptos" pitchFamily="34" charset="0"/>
                <a:ea typeface="Aptos" pitchFamily="34" charset="-122"/>
                <a:cs typeface="Aptos" pitchFamily="34" charset="-120"/>
              </a:rPr>
              <a:t>Start</a:t>
            </a:r>
            <a:endParaRPr lang="en-US" sz="1080" dirty="0"/>
          </a:p>
          <a:p>
            <a:pPr marL="0" indent="0" algn="ctr">
              <a:buNone/>
            </a:pPr>
            <a:r>
              <a:rPr lang="en-US" sz="1080" b="1" dirty="0">
                <a:solidFill>
                  <a:srgbClr val="12263A"/>
                </a:solidFill>
                <a:latin typeface="Aptos" pitchFamily="34" charset="0"/>
                <a:ea typeface="Aptos" pitchFamily="34" charset="-122"/>
                <a:cs typeface="Aptos" pitchFamily="34" charset="-120"/>
              </a:rPr>
              <a:t>conversion</a:t>
            </a:r>
            <a:endParaRPr lang="en-US" sz="1080" dirty="0"/>
          </a:p>
          <a:p>
            <a:pPr marL="0" indent="0" algn="ctr">
              <a:buNone/>
            </a:pPr>
            <a:r>
              <a:rPr lang="en-US" sz="1080" b="1" dirty="0">
                <a:solidFill>
                  <a:srgbClr val="12263A"/>
                </a:solidFill>
                <a:latin typeface="Aptos" pitchFamily="34" charset="0"/>
                <a:ea typeface="Aptos" pitchFamily="34" charset="-122"/>
                <a:cs typeface="Aptos" pitchFamily="34" charset="-120"/>
              </a:rPr>
              <a:t>polling / interrupt / DMA</a:t>
            </a:r>
            <a:endParaRPr lang="en-US" sz="1080" dirty="0"/>
          </a:p>
        </p:txBody>
      </p:sp>
      <p:sp>
        <p:nvSpPr>
          <p:cNvPr id="11" name="Shape 8"/>
          <p:cNvSpPr/>
          <p:nvPr/>
        </p:nvSpPr>
        <p:spPr>
          <a:xfrm>
            <a:off x="4782312" y="2404872"/>
            <a:ext cx="411480" cy="0"/>
          </a:xfrm>
          <a:prstGeom prst="line">
            <a:avLst/>
          </a:prstGeom>
          <a:noFill/>
          <a:ln w="15240">
            <a:solidFill>
              <a:srgbClr val="5B677A"/>
            </a:solidFill>
            <a:prstDash val="solid"/>
            <a:headEnd type="none"/>
            <a:tailEnd type="triangle"/>
          </a:ln>
        </p:spPr>
      </p:sp>
      <p:sp>
        <p:nvSpPr>
          <p:cNvPr id="12" name="Text 9"/>
          <p:cNvSpPr/>
          <p:nvPr/>
        </p:nvSpPr>
        <p:spPr>
          <a:xfrm>
            <a:off x="5257800" y="1965960"/>
            <a:ext cx="1828800" cy="868680"/>
          </a:xfrm>
          <a:prstGeom prst="rect">
            <a:avLst/>
          </a:prstGeom>
          <a:solidFill>
            <a:srgbClr val="FFFFFF"/>
          </a:solidFill>
          <a:ln w="16510">
            <a:solidFill>
              <a:srgbClr val="1E6091"/>
            </a:solidFill>
          </a:ln>
        </p:spPr>
        <p:txBody>
          <a:bodyPr wrap="square" lIns="762" tIns="762" rIns="762" bIns="762" rtlCol="0" anchor="ctr">
            <a:normAutofit/>
          </a:bodyPr>
          <a:lstStyle/>
          <a:p>
            <a:pPr marL="0" indent="0" algn="ctr">
              <a:buNone/>
            </a:pPr>
            <a:r>
              <a:rPr lang="en-US" sz="1080" b="1" dirty="0">
                <a:solidFill>
                  <a:srgbClr val="12263A"/>
                </a:solidFill>
                <a:latin typeface="Aptos" pitchFamily="34" charset="0"/>
                <a:ea typeface="Aptos" pitchFamily="34" charset="-122"/>
                <a:cs typeface="Aptos" pitchFamily="34" charset="-120"/>
              </a:rPr>
              <a:t>Read</a:t>
            </a:r>
            <a:endParaRPr lang="en-US" sz="1080" dirty="0"/>
          </a:p>
          <a:p>
            <a:pPr marL="0" indent="0" algn="ctr">
              <a:buNone/>
            </a:pPr>
            <a:r>
              <a:rPr lang="en-US" sz="1080" b="1" dirty="0">
                <a:solidFill>
                  <a:srgbClr val="12263A"/>
                </a:solidFill>
                <a:latin typeface="Aptos" pitchFamily="34" charset="0"/>
                <a:ea typeface="Aptos" pitchFamily="34" charset="-122"/>
                <a:cs typeface="Aptos" pitchFamily="34" charset="-120"/>
              </a:rPr>
              <a:t>raw count</a:t>
            </a:r>
            <a:endParaRPr lang="en-US" sz="1080" dirty="0"/>
          </a:p>
          <a:p>
            <a:pPr marL="0" indent="0" algn="ctr">
              <a:buNone/>
            </a:pPr>
            <a:r>
              <a:rPr lang="en-US" sz="1080" b="1" dirty="0">
                <a:solidFill>
                  <a:srgbClr val="12263A"/>
                </a:solidFill>
                <a:latin typeface="Aptos" pitchFamily="34" charset="0"/>
                <a:ea typeface="Aptos" pitchFamily="34" charset="-122"/>
                <a:cs typeface="Aptos" pitchFamily="34" charset="-120"/>
              </a:rPr>
              <a:t>0…4095 for 12-bit</a:t>
            </a:r>
            <a:endParaRPr lang="en-US" sz="1080" dirty="0"/>
          </a:p>
        </p:txBody>
      </p:sp>
      <p:sp>
        <p:nvSpPr>
          <p:cNvPr id="13" name="Shape 10"/>
          <p:cNvSpPr/>
          <p:nvPr/>
        </p:nvSpPr>
        <p:spPr>
          <a:xfrm>
            <a:off x="7114032" y="2404872"/>
            <a:ext cx="411480" cy="0"/>
          </a:xfrm>
          <a:prstGeom prst="line">
            <a:avLst/>
          </a:prstGeom>
          <a:noFill/>
          <a:ln w="15240">
            <a:solidFill>
              <a:srgbClr val="5B677A"/>
            </a:solidFill>
            <a:prstDash val="solid"/>
            <a:headEnd type="none"/>
            <a:tailEnd type="triangle"/>
          </a:ln>
        </p:spPr>
      </p:sp>
      <p:sp>
        <p:nvSpPr>
          <p:cNvPr id="14" name="Text 11"/>
          <p:cNvSpPr/>
          <p:nvPr/>
        </p:nvSpPr>
        <p:spPr>
          <a:xfrm>
            <a:off x="7589520" y="1965960"/>
            <a:ext cx="1828800" cy="868680"/>
          </a:xfrm>
          <a:prstGeom prst="rect">
            <a:avLst/>
          </a:prstGeom>
          <a:solidFill>
            <a:srgbClr val="FFFFFF"/>
          </a:solidFill>
          <a:ln w="16510">
            <a:solidFill>
              <a:srgbClr val="1E6091"/>
            </a:solidFill>
          </a:ln>
        </p:spPr>
        <p:txBody>
          <a:bodyPr wrap="square" lIns="762" tIns="762" rIns="762" bIns="762" rtlCol="0" anchor="ctr">
            <a:normAutofit/>
          </a:bodyPr>
          <a:lstStyle/>
          <a:p>
            <a:pPr marL="0" indent="0" algn="ctr">
              <a:buNone/>
            </a:pPr>
            <a:r>
              <a:rPr lang="en-US" sz="1080" b="1" dirty="0">
                <a:solidFill>
                  <a:srgbClr val="12263A"/>
                </a:solidFill>
                <a:latin typeface="Aptos" pitchFamily="34" charset="0"/>
                <a:ea typeface="Aptos" pitchFamily="34" charset="-122"/>
                <a:cs typeface="Aptos" pitchFamily="34" charset="-120"/>
              </a:rPr>
              <a:t>Scale</a:t>
            </a:r>
            <a:endParaRPr lang="en-US" sz="1080" dirty="0"/>
          </a:p>
          <a:p>
            <a:pPr marL="0" indent="0" algn="ctr">
              <a:buNone/>
            </a:pPr>
            <a:r>
              <a:rPr lang="en-US" sz="1080" b="1" dirty="0">
                <a:solidFill>
                  <a:srgbClr val="12263A"/>
                </a:solidFill>
                <a:latin typeface="Aptos" pitchFamily="34" charset="0"/>
                <a:ea typeface="Aptos" pitchFamily="34" charset="-122"/>
                <a:cs typeface="Aptos" pitchFamily="34" charset="-120"/>
              </a:rPr>
              <a:t>engineering value</a:t>
            </a:r>
            <a:endParaRPr lang="en-US" sz="1080" dirty="0"/>
          </a:p>
          <a:p>
            <a:pPr marL="0" indent="0" algn="ctr">
              <a:buNone/>
            </a:pPr>
            <a:r>
              <a:rPr lang="en-US" sz="1080" b="1" dirty="0">
                <a:solidFill>
                  <a:srgbClr val="12263A"/>
                </a:solidFill>
                <a:latin typeface="Aptos" pitchFamily="34" charset="0"/>
                <a:ea typeface="Aptos" pitchFamily="34" charset="-122"/>
                <a:cs typeface="Aptos" pitchFamily="34" charset="-120"/>
              </a:rPr>
              <a:t>°C, lux, %, V</a:t>
            </a:r>
            <a:endParaRPr lang="en-US" sz="1080" dirty="0"/>
          </a:p>
        </p:txBody>
      </p:sp>
      <p:sp>
        <p:nvSpPr>
          <p:cNvPr id="15" name="Shape 12"/>
          <p:cNvSpPr/>
          <p:nvPr/>
        </p:nvSpPr>
        <p:spPr>
          <a:xfrm>
            <a:off x="9445752" y="2404872"/>
            <a:ext cx="411480" cy="0"/>
          </a:xfrm>
          <a:prstGeom prst="line">
            <a:avLst/>
          </a:prstGeom>
          <a:noFill/>
          <a:ln w="15240">
            <a:solidFill>
              <a:srgbClr val="5B677A"/>
            </a:solidFill>
            <a:prstDash val="solid"/>
            <a:headEnd type="none"/>
            <a:tailEnd type="triangle"/>
          </a:ln>
        </p:spPr>
      </p:sp>
      <p:sp>
        <p:nvSpPr>
          <p:cNvPr id="16" name="Text 13"/>
          <p:cNvSpPr/>
          <p:nvPr/>
        </p:nvSpPr>
        <p:spPr>
          <a:xfrm>
            <a:off x="9921240" y="1965960"/>
            <a:ext cx="1828800" cy="868680"/>
          </a:xfrm>
          <a:prstGeom prst="rect">
            <a:avLst/>
          </a:prstGeom>
          <a:solidFill>
            <a:srgbClr val="FFFFFF"/>
          </a:solidFill>
          <a:ln w="16510">
            <a:solidFill>
              <a:srgbClr val="2A9D8F"/>
            </a:solidFill>
          </a:ln>
        </p:spPr>
        <p:txBody>
          <a:bodyPr wrap="square" lIns="762" tIns="762" rIns="762" bIns="762" rtlCol="0" anchor="ctr">
            <a:normAutofit/>
          </a:bodyPr>
          <a:lstStyle/>
          <a:p>
            <a:pPr marL="0" indent="0" algn="ctr">
              <a:buNone/>
            </a:pPr>
            <a:r>
              <a:rPr lang="en-US" sz="1080" b="1" dirty="0">
                <a:solidFill>
                  <a:srgbClr val="12263A"/>
                </a:solidFill>
                <a:latin typeface="Aptos" pitchFamily="34" charset="0"/>
                <a:ea typeface="Aptos" pitchFamily="34" charset="-122"/>
                <a:cs typeface="Aptos" pitchFamily="34" charset="-120"/>
              </a:rPr>
              <a:t>Act / transmit</a:t>
            </a:r>
            <a:endParaRPr lang="en-US" sz="1080" dirty="0"/>
          </a:p>
          <a:p>
            <a:pPr marL="0" indent="0" algn="ctr">
              <a:buNone/>
            </a:pPr>
            <a:r>
              <a:rPr lang="en-US" sz="1080" b="1" dirty="0">
                <a:solidFill>
                  <a:srgbClr val="12263A"/>
                </a:solidFill>
                <a:latin typeface="Aptos" pitchFamily="34" charset="0"/>
                <a:ea typeface="Aptos" pitchFamily="34" charset="-122"/>
                <a:cs typeface="Aptos" pitchFamily="34" charset="-120"/>
              </a:rPr>
              <a:t>PWM, relay, MQTT</a:t>
            </a:r>
            <a:endParaRPr lang="en-US" sz="1080" dirty="0"/>
          </a:p>
        </p:txBody>
      </p:sp>
      <p:sp>
        <p:nvSpPr>
          <p:cNvPr id="17" name="Text 14"/>
          <p:cNvSpPr/>
          <p:nvPr/>
        </p:nvSpPr>
        <p:spPr>
          <a:xfrm>
            <a:off x="868680" y="3977640"/>
            <a:ext cx="466344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Minimal formula</a:t>
            </a:r>
            <a:endParaRPr lang="en-US" sz="1400" dirty="0"/>
          </a:p>
        </p:txBody>
      </p:sp>
      <p:sp>
        <p:nvSpPr>
          <p:cNvPr id="18" name="Text 15"/>
          <p:cNvSpPr/>
          <p:nvPr/>
        </p:nvSpPr>
        <p:spPr>
          <a:xfrm>
            <a:off x="868680" y="4288536"/>
            <a:ext cx="4663440" cy="83210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Voltage = ADC_value × Vref / (2ⁿ − 1)</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For 12-bit: Voltage = ADC_value × 3.3 / 4095</a:t>
            </a:r>
            <a:endParaRPr lang="en-US" sz="1350" dirty="0"/>
          </a:p>
        </p:txBody>
      </p:sp>
      <p:sp>
        <p:nvSpPr>
          <p:cNvPr id="19" name="Text 16"/>
          <p:cNvSpPr/>
          <p:nvPr/>
        </p:nvSpPr>
        <p:spPr>
          <a:xfrm>
            <a:off x="6400800" y="3977640"/>
            <a:ext cx="4389120" cy="310896"/>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Mini example</a:t>
            </a:r>
            <a:endParaRPr lang="en-US" sz="1400" dirty="0"/>
          </a:p>
        </p:txBody>
      </p:sp>
      <p:sp>
        <p:nvSpPr>
          <p:cNvPr id="20" name="Text 17"/>
          <p:cNvSpPr/>
          <p:nvPr/>
        </p:nvSpPr>
        <p:spPr>
          <a:xfrm>
            <a:off x="6400800" y="4288536"/>
            <a:ext cx="4389120" cy="832104"/>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If sensor voltage is 2.0 V and Vref is 3.3 V:</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ADC count ≈ 2.0 / 3.3 × 4095 ≈ 2482</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STM32 timer </a:t>
            </a:r>
            <a:r>
              <a:rPr lang="en-US" sz="2500" b="1" dirty="0" smtClean="0">
                <a:solidFill>
                  <a:srgbClr val="12263A"/>
                </a:solidFill>
                <a:latin typeface="Aptos Display" pitchFamily="34" charset="0"/>
                <a:ea typeface="Aptos Display" pitchFamily="34" charset="-122"/>
                <a:cs typeface="Aptos Display" pitchFamily="34" charset="-120"/>
              </a:rPr>
              <a:t>sub systems</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Timers are hardware counters used to measure time, generate events, and create waveforms.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16</a:t>
            </a:r>
            <a:endParaRPr lang="en-US" sz="850" dirty="0"/>
          </a:p>
        </p:txBody>
      </p:sp>
      <p:sp>
        <p:nvSpPr>
          <p:cNvPr id="8" name="Text 5"/>
          <p:cNvSpPr/>
          <p:nvPr/>
        </p:nvSpPr>
        <p:spPr>
          <a:xfrm>
            <a:off x="685800" y="1554480"/>
            <a:ext cx="306324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Basic timers</a:t>
            </a:r>
            <a:endParaRPr lang="en-US" sz="1400" dirty="0"/>
          </a:p>
        </p:txBody>
      </p:sp>
      <p:sp>
        <p:nvSpPr>
          <p:cNvPr id="9" name="Text 6"/>
          <p:cNvSpPr/>
          <p:nvPr/>
        </p:nvSpPr>
        <p:spPr>
          <a:xfrm>
            <a:off x="685800" y="1865376"/>
            <a:ext cx="3063240" cy="160934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TIM6, TIM7</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Internal time base</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Periodic interrupts</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ADC/DAC trigger</a:t>
            </a:r>
            <a:endParaRPr lang="en-US" sz="1300" dirty="0"/>
          </a:p>
        </p:txBody>
      </p:sp>
      <p:sp>
        <p:nvSpPr>
          <p:cNvPr id="10" name="Text 7"/>
          <p:cNvSpPr/>
          <p:nvPr/>
        </p:nvSpPr>
        <p:spPr>
          <a:xfrm>
            <a:off x="4526280" y="1554480"/>
            <a:ext cx="315468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General-purpose timers</a:t>
            </a:r>
            <a:endParaRPr lang="en-US" sz="1400" dirty="0"/>
          </a:p>
        </p:txBody>
      </p:sp>
      <p:sp>
        <p:nvSpPr>
          <p:cNvPr id="11" name="Text 8"/>
          <p:cNvSpPr/>
          <p:nvPr/>
        </p:nvSpPr>
        <p:spPr>
          <a:xfrm>
            <a:off x="4526280" y="1865376"/>
            <a:ext cx="3154680" cy="160934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TIM2–TIM5, TIM9–TIM14</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Input capture</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Output compare</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PWM generation</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Encoder interface</a:t>
            </a:r>
            <a:endParaRPr lang="en-US" sz="1300" dirty="0"/>
          </a:p>
        </p:txBody>
      </p:sp>
      <p:sp>
        <p:nvSpPr>
          <p:cNvPr id="12" name="Text 9"/>
          <p:cNvSpPr/>
          <p:nvPr/>
        </p:nvSpPr>
        <p:spPr>
          <a:xfrm>
            <a:off x="8366760" y="1554480"/>
            <a:ext cx="3063240" cy="310896"/>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400" b="1" dirty="0">
                <a:solidFill>
                  <a:srgbClr val="E63946"/>
                </a:solidFill>
                <a:latin typeface="Aptos" pitchFamily="34" charset="0"/>
                <a:ea typeface="Aptos" pitchFamily="34" charset="-122"/>
                <a:cs typeface="Aptos" pitchFamily="34" charset="-120"/>
              </a:rPr>
              <a:t>Advanced-control timers</a:t>
            </a:r>
            <a:endParaRPr lang="en-US" sz="1400" dirty="0"/>
          </a:p>
        </p:txBody>
      </p:sp>
      <p:sp>
        <p:nvSpPr>
          <p:cNvPr id="13" name="Text 10"/>
          <p:cNvSpPr/>
          <p:nvPr/>
        </p:nvSpPr>
        <p:spPr>
          <a:xfrm>
            <a:off x="8366760" y="1865376"/>
            <a:ext cx="3063240" cy="1609344"/>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TIM1, TIM8</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Complementary PWM</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Dead-time insertion</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Break input</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Motor-control focus</a:t>
            </a:r>
            <a:endParaRPr lang="en-US" sz="1300" dirty="0"/>
          </a:p>
        </p:txBody>
      </p:sp>
      <p:sp>
        <p:nvSpPr>
          <p:cNvPr id="14" name="Text 11"/>
          <p:cNvSpPr/>
          <p:nvPr/>
        </p:nvSpPr>
        <p:spPr>
          <a:xfrm>
            <a:off x="914400" y="4754880"/>
            <a:ext cx="10241280" cy="457200"/>
          </a:xfrm>
          <a:prstGeom prst="rect">
            <a:avLst/>
          </a:prstGeom>
          <a:solidFill>
            <a:srgbClr val="E8F4FF"/>
          </a:solidFill>
          <a:ln>
            <a:solidFill>
              <a:srgbClr val="8BC6FF"/>
            </a:solidFill>
          </a:ln>
        </p:spPr>
        <p:txBody>
          <a:bodyPr wrap="square" lIns="508" tIns="508" rIns="508" bIns="508" rtlCol="0" anchor="ctr">
            <a:normAutofit/>
          </a:bodyPr>
          <a:lstStyle/>
          <a:p>
            <a:pPr marL="0" indent="0" algn="ctr">
              <a:buNone/>
            </a:pPr>
            <a:r>
              <a:rPr lang="en-US" sz="1600" b="1" dirty="0">
                <a:solidFill>
                  <a:srgbClr val="12263A"/>
                </a:solidFill>
                <a:latin typeface="Aptos" pitchFamily="34" charset="0"/>
                <a:ea typeface="Aptos" pitchFamily="34" charset="-122"/>
                <a:cs typeface="Aptos" pitchFamily="34" charset="-120"/>
              </a:rPr>
              <a:t>Selection principle: choose the simplest timer that satisfies I/O, precision, channel, and safety requirements.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Basic timers: internal time base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Basic timers are useful when the application needs periodic actions without external timer pins.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17</a:t>
            </a:r>
            <a:endParaRPr lang="en-US" sz="850" dirty="0"/>
          </a:p>
        </p:txBody>
      </p:sp>
      <p:sp>
        <p:nvSpPr>
          <p:cNvPr id="8" name="Text 5"/>
          <p:cNvSpPr/>
          <p:nvPr/>
        </p:nvSpPr>
        <p:spPr>
          <a:xfrm>
            <a:off x="914400" y="2103120"/>
            <a:ext cx="1508760" cy="594360"/>
          </a:xfrm>
          <a:prstGeom prst="rect">
            <a:avLst/>
          </a:prstGeom>
          <a:solidFill>
            <a:srgbClr val="FFFFFF"/>
          </a:solidFill>
          <a:ln w="16510">
            <a:solidFill>
              <a:srgbClr val="CAD3D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Timer clock</a:t>
            </a:r>
            <a:endParaRPr lang="en-US" sz="1200" dirty="0"/>
          </a:p>
        </p:txBody>
      </p:sp>
      <p:sp>
        <p:nvSpPr>
          <p:cNvPr id="9" name="Text 6"/>
          <p:cNvSpPr/>
          <p:nvPr/>
        </p:nvSpPr>
        <p:spPr>
          <a:xfrm>
            <a:off x="3246120" y="2103120"/>
            <a:ext cx="1600200" cy="59436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Prescaler</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slows clock</a:t>
            </a:r>
            <a:endParaRPr lang="en-US" sz="1200" dirty="0"/>
          </a:p>
        </p:txBody>
      </p:sp>
      <p:sp>
        <p:nvSpPr>
          <p:cNvPr id="10" name="Text 7"/>
          <p:cNvSpPr/>
          <p:nvPr/>
        </p:nvSpPr>
        <p:spPr>
          <a:xfrm>
            <a:off x="5669280" y="2103120"/>
            <a:ext cx="1463040" cy="594360"/>
          </a:xfrm>
          <a:prstGeom prst="rect">
            <a:avLst/>
          </a:prstGeom>
          <a:solidFill>
            <a:srgbClr val="FFFFFF"/>
          </a:solidFill>
          <a:ln w="16510">
            <a:solidFill>
              <a:srgbClr val="2EC4B6"/>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Counter CNT</a:t>
            </a:r>
            <a:endParaRPr lang="en-US" sz="1200" dirty="0"/>
          </a:p>
        </p:txBody>
      </p:sp>
      <p:sp>
        <p:nvSpPr>
          <p:cNvPr id="11" name="Text 8"/>
          <p:cNvSpPr/>
          <p:nvPr/>
        </p:nvSpPr>
        <p:spPr>
          <a:xfrm>
            <a:off x="7955280" y="2103120"/>
            <a:ext cx="1600200" cy="594360"/>
          </a:xfrm>
          <a:prstGeom prst="rect">
            <a:avLst/>
          </a:prstGeom>
          <a:solidFill>
            <a:srgbClr val="FFF3B0"/>
          </a:solidFill>
          <a:ln w="16510">
            <a:solidFill>
              <a:srgbClr val="FF9F1C"/>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ARR match</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update event</a:t>
            </a:r>
            <a:endParaRPr lang="en-US" sz="1200" dirty="0"/>
          </a:p>
        </p:txBody>
      </p:sp>
      <p:sp>
        <p:nvSpPr>
          <p:cNvPr id="12" name="Text 9"/>
          <p:cNvSpPr/>
          <p:nvPr/>
        </p:nvSpPr>
        <p:spPr>
          <a:xfrm>
            <a:off x="10058400" y="2103120"/>
            <a:ext cx="1508760" cy="594360"/>
          </a:xfrm>
          <a:prstGeom prst="rect">
            <a:avLst/>
          </a:prstGeom>
          <a:solidFill>
            <a:srgbClr val="FFFFFF"/>
          </a:solidFill>
          <a:ln w="16510">
            <a:solidFill>
              <a:srgbClr val="6C63FF"/>
            </a:solidFill>
          </a:ln>
        </p:spPr>
        <p:txBody>
          <a:bodyPr wrap="square" lIns="762" tIns="762" rIns="762" bIns="762" rtlCol="0" anchor="ctr">
            <a:normAutofit/>
          </a:bodyPr>
          <a:lstStyle/>
          <a:p>
            <a:pPr marL="0" indent="0" algn="ctr">
              <a:buNone/>
            </a:pPr>
            <a:r>
              <a:rPr lang="en-US" sz="1100" b="1" dirty="0">
                <a:solidFill>
                  <a:srgbClr val="12263A"/>
                </a:solidFill>
                <a:latin typeface="Aptos" pitchFamily="34" charset="0"/>
                <a:ea typeface="Aptos" pitchFamily="34" charset="-122"/>
                <a:cs typeface="Aptos" pitchFamily="34" charset="-120"/>
              </a:rPr>
              <a:t>Interrupt / ADC trigger</a:t>
            </a:r>
            <a:endParaRPr lang="en-US" sz="1100" dirty="0"/>
          </a:p>
        </p:txBody>
      </p:sp>
      <p:sp>
        <p:nvSpPr>
          <p:cNvPr id="13" name="Shape 10"/>
          <p:cNvSpPr/>
          <p:nvPr/>
        </p:nvSpPr>
        <p:spPr>
          <a:xfrm>
            <a:off x="2514600" y="2395728"/>
            <a:ext cx="621792" cy="0"/>
          </a:xfrm>
          <a:prstGeom prst="line">
            <a:avLst/>
          </a:prstGeom>
          <a:noFill/>
          <a:ln w="15240">
            <a:solidFill>
              <a:srgbClr val="5B677A"/>
            </a:solidFill>
            <a:prstDash val="solid"/>
            <a:headEnd type="none"/>
            <a:tailEnd type="triangle"/>
          </a:ln>
        </p:spPr>
      </p:sp>
      <p:sp>
        <p:nvSpPr>
          <p:cNvPr id="14" name="Shape 11"/>
          <p:cNvSpPr/>
          <p:nvPr/>
        </p:nvSpPr>
        <p:spPr>
          <a:xfrm>
            <a:off x="4956048" y="2395728"/>
            <a:ext cx="603504" cy="0"/>
          </a:xfrm>
          <a:prstGeom prst="line">
            <a:avLst/>
          </a:prstGeom>
          <a:noFill/>
          <a:ln w="15240">
            <a:solidFill>
              <a:srgbClr val="5B677A"/>
            </a:solidFill>
            <a:prstDash val="solid"/>
            <a:headEnd type="none"/>
            <a:tailEnd type="triangle"/>
          </a:ln>
        </p:spPr>
      </p:sp>
      <p:sp>
        <p:nvSpPr>
          <p:cNvPr id="15" name="Shape 12"/>
          <p:cNvSpPr/>
          <p:nvPr/>
        </p:nvSpPr>
        <p:spPr>
          <a:xfrm>
            <a:off x="7242048" y="2395728"/>
            <a:ext cx="603504" cy="0"/>
          </a:xfrm>
          <a:prstGeom prst="line">
            <a:avLst/>
          </a:prstGeom>
          <a:noFill/>
          <a:ln w="15240">
            <a:solidFill>
              <a:srgbClr val="5B677A"/>
            </a:solidFill>
            <a:prstDash val="solid"/>
            <a:headEnd type="none"/>
            <a:tailEnd type="triangle"/>
          </a:ln>
        </p:spPr>
      </p:sp>
      <p:sp>
        <p:nvSpPr>
          <p:cNvPr id="16" name="Shape 13"/>
          <p:cNvSpPr/>
          <p:nvPr/>
        </p:nvSpPr>
        <p:spPr>
          <a:xfrm>
            <a:off x="9674352" y="2395728"/>
            <a:ext cx="274320" cy="0"/>
          </a:xfrm>
          <a:prstGeom prst="line">
            <a:avLst/>
          </a:prstGeom>
          <a:noFill/>
          <a:ln w="15240">
            <a:solidFill>
              <a:srgbClr val="5B677A"/>
            </a:solidFill>
            <a:prstDash val="solid"/>
            <a:headEnd type="none"/>
            <a:tailEnd type="triangle"/>
          </a:ln>
        </p:spPr>
      </p:sp>
      <p:sp>
        <p:nvSpPr>
          <p:cNvPr id="17" name="Text 14"/>
          <p:cNvSpPr/>
          <p:nvPr/>
        </p:nvSpPr>
        <p:spPr>
          <a:xfrm>
            <a:off x="914400" y="3703320"/>
            <a:ext cx="493776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Formula intuition</a:t>
            </a:r>
            <a:endParaRPr lang="en-US" sz="1400" dirty="0"/>
          </a:p>
        </p:txBody>
      </p:sp>
      <p:sp>
        <p:nvSpPr>
          <p:cNvPr id="18" name="Text 15"/>
          <p:cNvSpPr/>
          <p:nvPr/>
        </p:nvSpPr>
        <p:spPr>
          <a:xfrm>
            <a:off x="914400" y="4014216"/>
            <a:ext cx="4937760" cy="92354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Timer tick frequency = timer clock / (PSC + 1)</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Update period = (ARR + 1) / tick frequency</a:t>
            </a:r>
            <a:endParaRPr lang="en-US" sz="1350" dirty="0"/>
          </a:p>
        </p:txBody>
      </p:sp>
      <p:sp>
        <p:nvSpPr>
          <p:cNvPr id="19" name="Text 16"/>
          <p:cNvSpPr/>
          <p:nvPr/>
        </p:nvSpPr>
        <p:spPr>
          <a:xfrm>
            <a:off x="6675120" y="3822192"/>
            <a:ext cx="420624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IoT use case</a:t>
            </a:r>
            <a:endParaRPr lang="en-US" sz="1400" dirty="0"/>
          </a:p>
        </p:txBody>
      </p:sp>
      <p:sp>
        <p:nvSpPr>
          <p:cNvPr id="20" name="Text 17"/>
          <p:cNvSpPr/>
          <p:nvPr/>
        </p:nvSpPr>
        <p:spPr>
          <a:xfrm>
            <a:off x="6675120" y="4133088"/>
            <a:ext cx="4206240" cy="69494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Sample a temperature sensor every 100 ms and push averaged data to a communication task.</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General-purpose timers</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GPTIMs handle most measurement and waveform-generation tasks in embedded systems.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18</a:t>
            </a:r>
            <a:endParaRPr lang="en-US" sz="850" dirty="0"/>
          </a:p>
        </p:txBody>
      </p:sp>
      <p:sp>
        <p:nvSpPr>
          <p:cNvPr id="8" name="Text 5"/>
          <p:cNvSpPr/>
          <p:nvPr/>
        </p:nvSpPr>
        <p:spPr>
          <a:xfrm>
            <a:off x="731520" y="1463040"/>
            <a:ext cx="251460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Input Capture</a:t>
            </a:r>
            <a:endParaRPr lang="en-US" sz="1400" dirty="0"/>
          </a:p>
        </p:txBody>
      </p:sp>
      <p:sp>
        <p:nvSpPr>
          <p:cNvPr id="9" name="Text 6"/>
          <p:cNvSpPr/>
          <p:nvPr/>
        </p:nvSpPr>
        <p:spPr>
          <a:xfrm>
            <a:off x="731520" y="1773936"/>
            <a:ext cx="2514600" cy="151790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Timestamp external edges to measure period, frequency, pulse width, or duty cycle.</a:t>
            </a:r>
            <a:endParaRPr lang="en-US" sz="1250" dirty="0"/>
          </a:p>
        </p:txBody>
      </p:sp>
      <p:sp>
        <p:nvSpPr>
          <p:cNvPr id="10" name="Text 7"/>
          <p:cNvSpPr/>
          <p:nvPr/>
        </p:nvSpPr>
        <p:spPr>
          <a:xfrm>
            <a:off x="3520440" y="1463040"/>
            <a:ext cx="2514600" cy="310896"/>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Output Compare</a:t>
            </a:r>
            <a:endParaRPr lang="en-US" sz="1400" dirty="0"/>
          </a:p>
        </p:txBody>
      </p:sp>
      <p:sp>
        <p:nvSpPr>
          <p:cNvPr id="11" name="Text 8"/>
          <p:cNvSpPr/>
          <p:nvPr/>
        </p:nvSpPr>
        <p:spPr>
          <a:xfrm>
            <a:off x="3520440" y="1773936"/>
            <a:ext cx="2514600" cy="1517904"/>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Trigger an action when CNT equals CCR: toggle pin, interrupt, or event.</a:t>
            </a:r>
            <a:endParaRPr lang="en-US" sz="1250" dirty="0"/>
          </a:p>
        </p:txBody>
      </p:sp>
      <p:sp>
        <p:nvSpPr>
          <p:cNvPr id="12" name="Text 9"/>
          <p:cNvSpPr/>
          <p:nvPr/>
        </p:nvSpPr>
        <p:spPr>
          <a:xfrm>
            <a:off x="6309360" y="1463040"/>
            <a:ext cx="251460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PWM Generation</a:t>
            </a:r>
            <a:endParaRPr lang="en-US" sz="1400" dirty="0"/>
          </a:p>
        </p:txBody>
      </p:sp>
      <p:sp>
        <p:nvSpPr>
          <p:cNvPr id="13" name="Text 10"/>
          <p:cNvSpPr/>
          <p:nvPr/>
        </p:nvSpPr>
        <p:spPr>
          <a:xfrm>
            <a:off x="6309360" y="1773936"/>
            <a:ext cx="2514600" cy="151790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Generate duty-controlled waveforms for LED brightness, motor speed, and servo control.</a:t>
            </a:r>
            <a:endParaRPr lang="en-US" sz="1250" dirty="0"/>
          </a:p>
        </p:txBody>
      </p:sp>
      <p:sp>
        <p:nvSpPr>
          <p:cNvPr id="14" name="Text 11"/>
          <p:cNvSpPr/>
          <p:nvPr/>
        </p:nvSpPr>
        <p:spPr>
          <a:xfrm>
            <a:off x="9098280" y="1463040"/>
            <a:ext cx="251460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Encoder Interface</a:t>
            </a:r>
            <a:endParaRPr lang="en-US" sz="1400" dirty="0"/>
          </a:p>
        </p:txBody>
      </p:sp>
      <p:sp>
        <p:nvSpPr>
          <p:cNvPr id="15" name="Text 12"/>
          <p:cNvSpPr/>
          <p:nvPr/>
        </p:nvSpPr>
        <p:spPr>
          <a:xfrm>
            <a:off x="9098280" y="1773936"/>
            <a:ext cx="2514600" cy="151790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Decode quadrature encoder signals for speed and position feedback.</a:t>
            </a:r>
            <a:endParaRPr lang="en-US" sz="1250" dirty="0"/>
          </a:p>
        </p:txBody>
      </p:sp>
      <p:sp>
        <p:nvSpPr>
          <p:cNvPr id="16" name="Text 13"/>
          <p:cNvSpPr/>
          <p:nvPr/>
        </p:nvSpPr>
        <p:spPr>
          <a:xfrm>
            <a:off x="868680" y="4800600"/>
            <a:ext cx="10149840" cy="457200"/>
          </a:xfrm>
          <a:prstGeom prst="rect">
            <a:avLst/>
          </a:prstGeom>
          <a:solidFill>
            <a:srgbClr val="E8F4FF"/>
          </a:solidFill>
          <a:ln>
            <a:solidFill>
              <a:srgbClr val="8BC6FF"/>
            </a:solidFill>
          </a:ln>
        </p:spPr>
        <p:txBody>
          <a:bodyPr wrap="square" lIns="508" tIns="508" rIns="508" bIns="508" rtlCol="0" anchor="ctr">
            <a:normAutofit/>
          </a:bodyPr>
          <a:lstStyle/>
          <a:p>
            <a:pPr marL="0" indent="0" algn="ctr">
              <a:buNone/>
            </a:pPr>
            <a:r>
              <a:rPr lang="en-US" sz="1600" b="1" dirty="0">
                <a:solidFill>
                  <a:srgbClr val="12263A"/>
                </a:solidFill>
                <a:latin typeface="Aptos" pitchFamily="34" charset="0"/>
                <a:ea typeface="Aptos" pitchFamily="34" charset="-122"/>
                <a:cs typeface="Aptos" pitchFamily="34" charset="-120"/>
              </a:rPr>
              <a:t>Typical exam prompt: “Which timer mode will you use to measure fan tachometer pulse width? Justify.”</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Advanced-control timers</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Advanced timers add power-electronics safety and motor-control features.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19</a:t>
            </a:r>
            <a:endParaRPr lang="en-US" sz="850" dirty="0"/>
          </a:p>
        </p:txBody>
      </p:sp>
      <p:sp>
        <p:nvSpPr>
          <p:cNvPr id="8" name="Text 5"/>
          <p:cNvSpPr/>
          <p:nvPr/>
        </p:nvSpPr>
        <p:spPr>
          <a:xfrm>
            <a:off x="822960" y="1508760"/>
            <a:ext cx="320040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Complementary PWM</a:t>
            </a:r>
            <a:endParaRPr lang="en-US" sz="1400" dirty="0"/>
          </a:p>
        </p:txBody>
      </p:sp>
      <p:sp>
        <p:nvSpPr>
          <p:cNvPr id="9" name="Text 6"/>
          <p:cNvSpPr/>
          <p:nvPr/>
        </p:nvSpPr>
        <p:spPr>
          <a:xfrm>
            <a:off x="822960" y="1819656"/>
            <a:ext cx="3200400" cy="110642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Generates paired PWM outputs for high-side and low-side switches in H-bridges and inverters.</a:t>
            </a:r>
            <a:endParaRPr lang="en-US" sz="1300" dirty="0"/>
          </a:p>
        </p:txBody>
      </p:sp>
      <p:sp>
        <p:nvSpPr>
          <p:cNvPr id="10" name="Text 7"/>
          <p:cNvSpPr/>
          <p:nvPr/>
        </p:nvSpPr>
        <p:spPr>
          <a:xfrm>
            <a:off x="4480560" y="1508760"/>
            <a:ext cx="3200400" cy="310896"/>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400" b="1" dirty="0">
                <a:solidFill>
                  <a:srgbClr val="E63946"/>
                </a:solidFill>
                <a:latin typeface="Aptos" pitchFamily="34" charset="0"/>
                <a:ea typeface="Aptos" pitchFamily="34" charset="-122"/>
                <a:cs typeface="Aptos" pitchFamily="34" charset="-120"/>
              </a:rPr>
              <a:t>Dead-time insertion</a:t>
            </a:r>
            <a:endParaRPr lang="en-US" sz="1400" dirty="0"/>
          </a:p>
        </p:txBody>
      </p:sp>
      <p:sp>
        <p:nvSpPr>
          <p:cNvPr id="11" name="Text 8"/>
          <p:cNvSpPr/>
          <p:nvPr/>
        </p:nvSpPr>
        <p:spPr>
          <a:xfrm>
            <a:off x="4480560" y="1819656"/>
            <a:ext cx="3200400" cy="1106424"/>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Adds a safe delay between switching devices to prevent shoot-through current.</a:t>
            </a:r>
            <a:endParaRPr lang="en-US" sz="1300" dirty="0"/>
          </a:p>
        </p:txBody>
      </p:sp>
      <p:sp>
        <p:nvSpPr>
          <p:cNvPr id="12" name="Text 9"/>
          <p:cNvSpPr/>
          <p:nvPr/>
        </p:nvSpPr>
        <p:spPr>
          <a:xfrm>
            <a:off x="8138160" y="1508760"/>
            <a:ext cx="3200400" cy="310896"/>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Break input</a:t>
            </a:r>
            <a:endParaRPr lang="en-US" sz="1400" dirty="0"/>
          </a:p>
        </p:txBody>
      </p:sp>
      <p:sp>
        <p:nvSpPr>
          <p:cNvPr id="13" name="Text 10"/>
          <p:cNvSpPr/>
          <p:nvPr/>
        </p:nvSpPr>
        <p:spPr>
          <a:xfrm>
            <a:off x="8138160" y="1819656"/>
            <a:ext cx="3200400" cy="1106424"/>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Hardware emergency shutdown for over-current or fault detection.</a:t>
            </a:r>
            <a:endParaRPr lang="en-US" sz="1300" dirty="0"/>
          </a:p>
        </p:txBody>
      </p:sp>
      <p:sp>
        <p:nvSpPr>
          <p:cNvPr id="14" name="Text 11"/>
          <p:cNvSpPr/>
          <p:nvPr/>
        </p:nvSpPr>
        <p:spPr>
          <a:xfrm>
            <a:off x="4069080" y="4069080"/>
            <a:ext cx="4114800" cy="64008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600" b="1" dirty="0">
                <a:solidFill>
                  <a:srgbClr val="12263A"/>
                </a:solidFill>
                <a:latin typeface="Aptos" pitchFamily="34" charset="0"/>
                <a:ea typeface="Aptos" pitchFamily="34" charset="-122"/>
                <a:cs typeface="Aptos" pitchFamily="34" charset="-120"/>
              </a:rPr>
              <a:t>Motor control / SMPS / inverter</a:t>
            </a:r>
            <a:endParaRPr lang="en-US" sz="1600" dirty="0"/>
          </a:p>
        </p:txBody>
      </p:sp>
      <p:sp>
        <p:nvSpPr>
          <p:cNvPr id="15" name="Shape 12"/>
          <p:cNvSpPr/>
          <p:nvPr/>
        </p:nvSpPr>
        <p:spPr>
          <a:xfrm>
            <a:off x="2423160" y="2971800"/>
            <a:ext cx="1554480" cy="1069848"/>
          </a:xfrm>
          <a:prstGeom prst="line">
            <a:avLst/>
          </a:prstGeom>
          <a:noFill/>
          <a:ln w="15240">
            <a:solidFill>
              <a:srgbClr val="5B677A"/>
            </a:solidFill>
            <a:prstDash val="solid"/>
            <a:headEnd type="none"/>
            <a:tailEnd type="triangle"/>
          </a:ln>
        </p:spPr>
      </p:sp>
      <p:sp>
        <p:nvSpPr>
          <p:cNvPr id="16" name="Shape 13"/>
          <p:cNvSpPr/>
          <p:nvPr/>
        </p:nvSpPr>
        <p:spPr>
          <a:xfrm>
            <a:off x="6080760" y="2971800"/>
            <a:ext cx="0" cy="1069848"/>
          </a:xfrm>
          <a:prstGeom prst="line">
            <a:avLst/>
          </a:prstGeom>
          <a:noFill/>
          <a:ln w="15240">
            <a:solidFill>
              <a:srgbClr val="5B677A"/>
            </a:solidFill>
            <a:prstDash val="solid"/>
            <a:headEnd type="none"/>
            <a:tailEnd type="triangle"/>
          </a:ln>
        </p:spPr>
      </p:sp>
      <p:sp>
        <p:nvSpPr>
          <p:cNvPr id="17" name="Shape 14"/>
          <p:cNvSpPr/>
          <p:nvPr/>
        </p:nvSpPr>
        <p:spPr>
          <a:xfrm>
            <a:off x="9738360" y="2971800"/>
            <a:ext cx="0" cy="1069848"/>
          </a:xfrm>
          <a:prstGeom prst="line">
            <a:avLst/>
          </a:prstGeom>
          <a:noFill/>
          <a:ln w="15240">
            <a:solidFill>
              <a:srgbClr val="5B677A"/>
            </a:solidFill>
            <a:prstDash val="solid"/>
            <a:headEnd type="none"/>
            <a:tailEnd type="triangle"/>
          </a:ln>
        </p:spPr>
      </p:sp>
      <p:sp>
        <p:nvSpPr>
          <p:cNvPr id="18" name="Text 15"/>
          <p:cNvSpPr/>
          <p:nvPr/>
        </p:nvSpPr>
        <p:spPr>
          <a:xfrm>
            <a:off x="914400" y="5303520"/>
            <a:ext cx="10241280" cy="329184"/>
          </a:xfrm>
          <a:prstGeom prst="rect">
            <a:avLst/>
          </a:prstGeom>
          <a:noFill/>
          <a:ln/>
        </p:spPr>
        <p:txBody>
          <a:bodyPr wrap="square" lIns="0" tIns="0" rIns="0" bIns="0" rtlCol="0" anchor="ctr">
            <a:normAutofit/>
          </a:bodyPr>
          <a:lstStyle/>
          <a:p>
            <a:pPr marL="0" indent="0" algn="ctr">
              <a:buNone/>
            </a:pPr>
            <a:r>
              <a:rPr lang="en-US" sz="1550" b="1" dirty="0">
                <a:solidFill>
                  <a:srgbClr val="12263A"/>
                </a:solidFill>
                <a:latin typeface="Aptos" pitchFamily="34" charset="0"/>
                <a:ea typeface="Aptos" pitchFamily="34" charset="-122"/>
                <a:cs typeface="Aptos" pitchFamily="34" charset="-120"/>
              </a:rPr>
              <a:t>Engineering reason: high-power switching needs hardware-level timing accuracy and fault response.</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Timer counting modes</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Counter direction affects timing behavior and waveform symmetry.</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20</a:t>
            </a:r>
            <a:endParaRPr lang="en-US" sz="850" dirty="0"/>
          </a:p>
        </p:txBody>
      </p:sp>
      <p:sp>
        <p:nvSpPr>
          <p:cNvPr id="8" name="Text 5"/>
          <p:cNvSpPr/>
          <p:nvPr/>
        </p:nvSpPr>
        <p:spPr>
          <a:xfrm>
            <a:off x="822960" y="1554480"/>
            <a:ext cx="292608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Up-counting</a:t>
            </a:r>
            <a:endParaRPr lang="en-US" sz="1400" dirty="0"/>
          </a:p>
        </p:txBody>
      </p:sp>
      <p:sp>
        <p:nvSpPr>
          <p:cNvPr id="9" name="Text 6"/>
          <p:cNvSpPr/>
          <p:nvPr/>
        </p:nvSpPr>
        <p:spPr>
          <a:xfrm>
            <a:off x="822960" y="1865376"/>
            <a:ext cx="2926080" cy="101498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CNT: 0 → ARR → 0</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Simple periodic timing</a:t>
            </a:r>
            <a:endParaRPr lang="en-US" sz="1400" dirty="0"/>
          </a:p>
        </p:txBody>
      </p:sp>
      <p:sp>
        <p:nvSpPr>
          <p:cNvPr id="10" name="Text 7"/>
          <p:cNvSpPr/>
          <p:nvPr/>
        </p:nvSpPr>
        <p:spPr>
          <a:xfrm>
            <a:off x="4617720" y="1554480"/>
            <a:ext cx="292608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Down-counting</a:t>
            </a:r>
            <a:endParaRPr lang="en-US" sz="1400" dirty="0"/>
          </a:p>
        </p:txBody>
      </p:sp>
      <p:sp>
        <p:nvSpPr>
          <p:cNvPr id="11" name="Text 8"/>
          <p:cNvSpPr/>
          <p:nvPr/>
        </p:nvSpPr>
        <p:spPr>
          <a:xfrm>
            <a:off x="4617720" y="1865376"/>
            <a:ext cx="2926080" cy="101498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CNT: ARR → 0 → ARR</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Alternative countdown style</a:t>
            </a:r>
            <a:endParaRPr lang="en-US" sz="1400" dirty="0"/>
          </a:p>
        </p:txBody>
      </p:sp>
      <p:sp>
        <p:nvSpPr>
          <p:cNvPr id="12" name="Text 9"/>
          <p:cNvSpPr/>
          <p:nvPr/>
        </p:nvSpPr>
        <p:spPr>
          <a:xfrm>
            <a:off x="8412480" y="1554480"/>
            <a:ext cx="292608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Up/down counting</a:t>
            </a:r>
            <a:endParaRPr lang="en-US" sz="1400" dirty="0"/>
          </a:p>
        </p:txBody>
      </p:sp>
      <p:sp>
        <p:nvSpPr>
          <p:cNvPr id="13" name="Text 10"/>
          <p:cNvSpPr/>
          <p:nvPr/>
        </p:nvSpPr>
        <p:spPr>
          <a:xfrm>
            <a:off x="8412480" y="1865376"/>
            <a:ext cx="2926080" cy="101498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CNT: 0 → ARR → 0</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Center-aligned PWM</a:t>
            </a:r>
            <a:endParaRPr lang="en-US" sz="1400" dirty="0"/>
          </a:p>
        </p:txBody>
      </p:sp>
      <p:sp>
        <p:nvSpPr>
          <p:cNvPr id="14" name="Shape 11"/>
          <p:cNvSpPr/>
          <p:nvPr/>
        </p:nvSpPr>
        <p:spPr>
          <a:xfrm>
            <a:off x="914400" y="4160520"/>
            <a:ext cx="10149840" cy="0"/>
          </a:xfrm>
          <a:prstGeom prst="line">
            <a:avLst/>
          </a:prstGeom>
          <a:noFill/>
          <a:ln w="12700">
            <a:solidFill>
              <a:srgbClr val="CAD3DF"/>
            </a:solidFill>
            <a:prstDash val="solid"/>
          </a:ln>
        </p:spPr>
      </p:sp>
      <p:sp>
        <p:nvSpPr>
          <p:cNvPr id="15" name="Text 12"/>
          <p:cNvSpPr/>
          <p:nvPr/>
        </p:nvSpPr>
        <p:spPr>
          <a:xfrm>
            <a:off x="11109960" y="4050792"/>
            <a:ext cx="457200" cy="201168"/>
          </a:xfrm>
          <a:prstGeom prst="rect">
            <a:avLst/>
          </a:prstGeom>
          <a:noFill/>
          <a:ln/>
        </p:spPr>
        <p:txBody>
          <a:bodyPr wrap="square" lIns="0" tIns="0" rIns="0" bIns="0" rtlCol="0" anchor="ctr">
            <a:normAutofit/>
          </a:bodyPr>
          <a:lstStyle/>
          <a:p>
            <a:pPr marL="0" indent="0" algn="l">
              <a:buNone/>
            </a:pPr>
            <a:r>
              <a:rPr lang="en-US" sz="900" dirty="0">
                <a:solidFill>
                  <a:srgbClr val="5B677A"/>
                </a:solidFill>
                <a:latin typeface="Aptos" pitchFamily="34" charset="0"/>
                <a:ea typeface="Aptos" pitchFamily="34" charset="-122"/>
                <a:cs typeface="Aptos" pitchFamily="34" charset="-120"/>
              </a:rPr>
              <a:t>time</a:t>
            </a:r>
            <a:endParaRPr lang="en-US" sz="900" dirty="0"/>
          </a:p>
        </p:txBody>
      </p:sp>
      <p:sp>
        <p:nvSpPr>
          <p:cNvPr id="16" name="Shape 13"/>
          <p:cNvSpPr/>
          <p:nvPr/>
        </p:nvSpPr>
        <p:spPr>
          <a:xfrm>
            <a:off x="1097280" y="5074920"/>
            <a:ext cx="1828800" cy="0"/>
          </a:xfrm>
          <a:prstGeom prst="line">
            <a:avLst/>
          </a:prstGeom>
          <a:noFill/>
          <a:ln w="25400">
            <a:solidFill>
              <a:srgbClr val="1E6091"/>
            </a:solidFill>
            <a:prstDash val="solid"/>
          </a:ln>
        </p:spPr>
      </p:sp>
      <p:sp>
        <p:nvSpPr>
          <p:cNvPr id="17" name="Shape 14"/>
          <p:cNvSpPr/>
          <p:nvPr/>
        </p:nvSpPr>
        <p:spPr>
          <a:xfrm>
            <a:off x="2926080" y="3977640"/>
            <a:ext cx="137160" cy="1097280"/>
          </a:xfrm>
          <a:prstGeom prst="line">
            <a:avLst/>
          </a:prstGeom>
          <a:noFill/>
          <a:ln w="25400">
            <a:solidFill>
              <a:srgbClr val="1E6091"/>
            </a:solidFill>
            <a:prstDash val="solid"/>
          </a:ln>
        </p:spPr>
      </p:sp>
      <p:sp>
        <p:nvSpPr>
          <p:cNvPr id="18" name="Shape 15"/>
          <p:cNvSpPr/>
          <p:nvPr/>
        </p:nvSpPr>
        <p:spPr>
          <a:xfrm>
            <a:off x="4800600" y="3977640"/>
            <a:ext cx="1828800" cy="1097280"/>
          </a:xfrm>
          <a:prstGeom prst="line">
            <a:avLst/>
          </a:prstGeom>
          <a:noFill/>
          <a:ln w="25400">
            <a:solidFill>
              <a:srgbClr val="2A9D8F"/>
            </a:solidFill>
            <a:prstDash val="solid"/>
          </a:ln>
        </p:spPr>
      </p:sp>
      <p:sp>
        <p:nvSpPr>
          <p:cNvPr id="19" name="Shape 16"/>
          <p:cNvSpPr/>
          <p:nvPr/>
        </p:nvSpPr>
        <p:spPr>
          <a:xfrm>
            <a:off x="6629400" y="5074920"/>
            <a:ext cx="137160" cy="0"/>
          </a:xfrm>
          <a:prstGeom prst="line">
            <a:avLst/>
          </a:prstGeom>
          <a:noFill/>
          <a:ln w="25400">
            <a:solidFill>
              <a:srgbClr val="2A9D8F"/>
            </a:solidFill>
            <a:prstDash val="solid"/>
          </a:ln>
        </p:spPr>
      </p:sp>
      <p:sp>
        <p:nvSpPr>
          <p:cNvPr id="20" name="Shape 17"/>
          <p:cNvSpPr/>
          <p:nvPr/>
        </p:nvSpPr>
        <p:spPr>
          <a:xfrm>
            <a:off x="8549640" y="5074920"/>
            <a:ext cx="1188720" cy="0"/>
          </a:xfrm>
          <a:prstGeom prst="line">
            <a:avLst/>
          </a:prstGeom>
          <a:noFill/>
          <a:ln w="25400">
            <a:solidFill>
              <a:srgbClr val="6C63FF"/>
            </a:solidFill>
            <a:prstDash val="solid"/>
          </a:ln>
        </p:spPr>
      </p:sp>
      <p:sp>
        <p:nvSpPr>
          <p:cNvPr id="21" name="Shape 18"/>
          <p:cNvSpPr/>
          <p:nvPr/>
        </p:nvSpPr>
        <p:spPr>
          <a:xfrm>
            <a:off x="9738360" y="3977640"/>
            <a:ext cx="1188720" cy="1097280"/>
          </a:xfrm>
          <a:prstGeom prst="line">
            <a:avLst/>
          </a:prstGeom>
          <a:noFill/>
          <a:ln w="25400">
            <a:solidFill>
              <a:srgbClr val="6C63FF"/>
            </a:solidFill>
            <a:prstDash val="solid"/>
          </a:ln>
        </p:spPr>
      </p:sp>
      <p:sp>
        <p:nvSpPr>
          <p:cNvPr id="22" name="Text 19"/>
          <p:cNvSpPr/>
          <p:nvPr/>
        </p:nvSpPr>
        <p:spPr>
          <a:xfrm>
            <a:off x="1536192" y="5285232"/>
            <a:ext cx="1280160" cy="201168"/>
          </a:xfrm>
          <a:prstGeom prst="rect">
            <a:avLst/>
          </a:prstGeom>
          <a:noFill/>
          <a:ln/>
        </p:spPr>
        <p:txBody>
          <a:bodyPr wrap="square" lIns="0" tIns="0" rIns="0" bIns="0" rtlCol="0" anchor="ctr">
            <a:normAutofit/>
          </a:bodyPr>
          <a:lstStyle/>
          <a:p>
            <a:pPr marL="0" indent="0" algn="l">
              <a:buNone/>
            </a:pPr>
            <a:r>
              <a:rPr lang="en-US" sz="1000" dirty="0">
                <a:solidFill>
                  <a:srgbClr val="5B677A"/>
                </a:solidFill>
                <a:latin typeface="Aptos" pitchFamily="34" charset="0"/>
                <a:ea typeface="Aptos" pitchFamily="34" charset="-122"/>
                <a:cs typeface="Aptos" pitchFamily="34" charset="-120"/>
              </a:rPr>
              <a:t>0 → ARR</a:t>
            </a:r>
            <a:endParaRPr lang="en-US" sz="1000" dirty="0"/>
          </a:p>
        </p:txBody>
      </p:sp>
      <p:sp>
        <p:nvSpPr>
          <p:cNvPr id="23" name="Text 20"/>
          <p:cNvSpPr/>
          <p:nvPr/>
        </p:nvSpPr>
        <p:spPr>
          <a:xfrm>
            <a:off x="5303520" y="5285232"/>
            <a:ext cx="1280160" cy="201168"/>
          </a:xfrm>
          <a:prstGeom prst="rect">
            <a:avLst/>
          </a:prstGeom>
          <a:noFill/>
          <a:ln/>
        </p:spPr>
        <p:txBody>
          <a:bodyPr wrap="square" lIns="0" tIns="0" rIns="0" bIns="0" rtlCol="0" anchor="ctr">
            <a:normAutofit/>
          </a:bodyPr>
          <a:lstStyle/>
          <a:p>
            <a:pPr marL="0" indent="0" algn="l">
              <a:buNone/>
            </a:pPr>
            <a:r>
              <a:rPr lang="en-US" sz="1000" dirty="0">
                <a:solidFill>
                  <a:srgbClr val="5B677A"/>
                </a:solidFill>
                <a:latin typeface="Aptos" pitchFamily="34" charset="0"/>
                <a:ea typeface="Aptos" pitchFamily="34" charset="-122"/>
                <a:cs typeface="Aptos" pitchFamily="34" charset="-120"/>
              </a:rPr>
              <a:t>ARR → 0</a:t>
            </a:r>
            <a:endParaRPr lang="en-US" sz="1000" dirty="0"/>
          </a:p>
        </p:txBody>
      </p:sp>
      <p:sp>
        <p:nvSpPr>
          <p:cNvPr id="24" name="Text 21"/>
          <p:cNvSpPr/>
          <p:nvPr/>
        </p:nvSpPr>
        <p:spPr>
          <a:xfrm>
            <a:off x="9006840" y="5285232"/>
            <a:ext cx="1600200" cy="201168"/>
          </a:xfrm>
          <a:prstGeom prst="rect">
            <a:avLst/>
          </a:prstGeom>
          <a:noFill/>
          <a:ln/>
        </p:spPr>
        <p:txBody>
          <a:bodyPr wrap="square" lIns="0" tIns="0" rIns="0" bIns="0" rtlCol="0" anchor="ctr">
            <a:normAutofit/>
          </a:bodyPr>
          <a:lstStyle/>
          <a:p>
            <a:pPr marL="0" indent="0" algn="l">
              <a:buNone/>
            </a:pPr>
            <a:r>
              <a:rPr lang="en-US" sz="1000" dirty="0">
                <a:solidFill>
                  <a:srgbClr val="5B677A"/>
                </a:solidFill>
                <a:latin typeface="Aptos" pitchFamily="34" charset="0"/>
                <a:ea typeface="Aptos" pitchFamily="34" charset="-122"/>
                <a:cs typeface="Aptos" pitchFamily="34" charset="-120"/>
              </a:rPr>
              <a:t>0 → ARR → 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Input capture mode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Input capture records the timer value at an external signal edge.</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21</a:t>
            </a:r>
            <a:endParaRPr lang="en-US" sz="850" dirty="0"/>
          </a:p>
        </p:txBody>
      </p:sp>
      <p:sp>
        <p:nvSpPr>
          <p:cNvPr id="8" name="Shape 5"/>
          <p:cNvSpPr/>
          <p:nvPr/>
        </p:nvSpPr>
        <p:spPr>
          <a:xfrm>
            <a:off x="960120" y="2926080"/>
            <a:ext cx="640080" cy="0"/>
          </a:xfrm>
          <a:prstGeom prst="line">
            <a:avLst/>
          </a:prstGeom>
          <a:noFill/>
          <a:ln w="25400">
            <a:solidFill>
              <a:srgbClr val="2A9D8F"/>
            </a:solidFill>
            <a:prstDash val="solid"/>
          </a:ln>
        </p:spPr>
      </p:sp>
      <p:sp>
        <p:nvSpPr>
          <p:cNvPr id="9" name="Shape 6"/>
          <p:cNvSpPr/>
          <p:nvPr/>
        </p:nvSpPr>
        <p:spPr>
          <a:xfrm>
            <a:off x="1600200" y="2926080"/>
            <a:ext cx="0" cy="0"/>
          </a:xfrm>
          <a:prstGeom prst="line">
            <a:avLst/>
          </a:prstGeom>
          <a:noFill/>
          <a:ln w="25400">
            <a:solidFill>
              <a:srgbClr val="2A9D8F"/>
            </a:solidFill>
            <a:prstDash val="solid"/>
          </a:ln>
        </p:spPr>
      </p:sp>
      <p:sp>
        <p:nvSpPr>
          <p:cNvPr id="10" name="Shape 7"/>
          <p:cNvSpPr/>
          <p:nvPr/>
        </p:nvSpPr>
        <p:spPr>
          <a:xfrm>
            <a:off x="1600200" y="2240280"/>
            <a:ext cx="1234440" cy="0"/>
          </a:xfrm>
          <a:prstGeom prst="line">
            <a:avLst/>
          </a:prstGeom>
          <a:noFill/>
          <a:ln w="25400">
            <a:solidFill>
              <a:srgbClr val="2A9D8F"/>
            </a:solidFill>
            <a:prstDash val="solid"/>
          </a:ln>
        </p:spPr>
      </p:sp>
      <p:sp>
        <p:nvSpPr>
          <p:cNvPr id="11" name="Shape 8"/>
          <p:cNvSpPr/>
          <p:nvPr/>
        </p:nvSpPr>
        <p:spPr>
          <a:xfrm>
            <a:off x="2834640" y="2240280"/>
            <a:ext cx="0" cy="685800"/>
          </a:xfrm>
          <a:prstGeom prst="line">
            <a:avLst/>
          </a:prstGeom>
          <a:noFill/>
          <a:ln w="25400">
            <a:solidFill>
              <a:srgbClr val="2A9D8F"/>
            </a:solidFill>
            <a:prstDash val="solid"/>
          </a:ln>
        </p:spPr>
      </p:sp>
      <p:sp>
        <p:nvSpPr>
          <p:cNvPr id="12" name="Shape 9"/>
          <p:cNvSpPr/>
          <p:nvPr/>
        </p:nvSpPr>
        <p:spPr>
          <a:xfrm>
            <a:off x="2834640" y="2926080"/>
            <a:ext cx="868680" cy="0"/>
          </a:xfrm>
          <a:prstGeom prst="line">
            <a:avLst/>
          </a:prstGeom>
          <a:noFill/>
          <a:ln w="25400">
            <a:solidFill>
              <a:srgbClr val="2A9D8F"/>
            </a:solidFill>
            <a:prstDash val="solid"/>
          </a:ln>
        </p:spPr>
      </p:sp>
      <p:sp>
        <p:nvSpPr>
          <p:cNvPr id="13" name="Shape 10"/>
          <p:cNvSpPr/>
          <p:nvPr/>
        </p:nvSpPr>
        <p:spPr>
          <a:xfrm>
            <a:off x="3703320" y="2926080"/>
            <a:ext cx="0" cy="0"/>
          </a:xfrm>
          <a:prstGeom prst="line">
            <a:avLst/>
          </a:prstGeom>
          <a:noFill/>
          <a:ln w="25400">
            <a:solidFill>
              <a:srgbClr val="2A9D8F"/>
            </a:solidFill>
            <a:prstDash val="solid"/>
          </a:ln>
        </p:spPr>
      </p:sp>
      <p:sp>
        <p:nvSpPr>
          <p:cNvPr id="14" name="Shape 11"/>
          <p:cNvSpPr/>
          <p:nvPr/>
        </p:nvSpPr>
        <p:spPr>
          <a:xfrm>
            <a:off x="3703320" y="2240280"/>
            <a:ext cx="1280160" cy="0"/>
          </a:xfrm>
          <a:prstGeom prst="line">
            <a:avLst/>
          </a:prstGeom>
          <a:noFill/>
          <a:ln w="25400">
            <a:solidFill>
              <a:srgbClr val="2A9D8F"/>
            </a:solidFill>
            <a:prstDash val="solid"/>
          </a:ln>
        </p:spPr>
      </p:sp>
      <p:sp>
        <p:nvSpPr>
          <p:cNvPr id="15" name="Shape 12"/>
          <p:cNvSpPr/>
          <p:nvPr/>
        </p:nvSpPr>
        <p:spPr>
          <a:xfrm>
            <a:off x="4983480" y="2240280"/>
            <a:ext cx="0" cy="685800"/>
          </a:xfrm>
          <a:prstGeom prst="line">
            <a:avLst/>
          </a:prstGeom>
          <a:noFill/>
          <a:ln w="25400">
            <a:solidFill>
              <a:srgbClr val="2A9D8F"/>
            </a:solidFill>
            <a:prstDash val="solid"/>
          </a:ln>
        </p:spPr>
      </p:sp>
      <p:sp>
        <p:nvSpPr>
          <p:cNvPr id="16" name="Shape 13"/>
          <p:cNvSpPr/>
          <p:nvPr/>
        </p:nvSpPr>
        <p:spPr>
          <a:xfrm>
            <a:off x="4983480" y="2926080"/>
            <a:ext cx="685800" cy="0"/>
          </a:xfrm>
          <a:prstGeom prst="line">
            <a:avLst/>
          </a:prstGeom>
          <a:noFill/>
          <a:ln w="25400">
            <a:solidFill>
              <a:srgbClr val="2A9D8F"/>
            </a:solidFill>
            <a:prstDash val="solid"/>
          </a:ln>
        </p:spPr>
      </p:sp>
      <p:sp>
        <p:nvSpPr>
          <p:cNvPr id="17" name="Shape 14"/>
          <p:cNvSpPr/>
          <p:nvPr/>
        </p:nvSpPr>
        <p:spPr>
          <a:xfrm>
            <a:off x="1600200" y="1965960"/>
            <a:ext cx="0" cy="1920240"/>
          </a:xfrm>
          <a:prstGeom prst="line">
            <a:avLst/>
          </a:prstGeom>
          <a:noFill/>
          <a:ln w="15240">
            <a:solidFill>
              <a:srgbClr val="E63946"/>
            </a:solidFill>
            <a:prstDash val="solid"/>
          </a:ln>
        </p:spPr>
      </p:sp>
      <p:sp>
        <p:nvSpPr>
          <p:cNvPr id="18" name="Shape 15"/>
          <p:cNvSpPr/>
          <p:nvPr/>
        </p:nvSpPr>
        <p:spPr>
          <a:xfrm>
            <a:off x="3703320" y="1965960"/>
            <a:ext cx="0" cy="1920240"/>
          </a:xfrm>
          <a:prstGeom prst="line">
            <a:avLst/>
          </a:prstGeom>
          <a:noFill/>
          <a:ln w="15240">
            <a:solidFill>
              <a:srgbClr val="E63946"/>
            </a:solidFill>
            <a:prstDash val="solid"/>
          </a:ln>
        </p:spPr>
      </p:sp>
      <p:sp>
        <p:nvSpPr>
          <p:cNvPr id="19" name="Text 16"/>
          <p:cNvSpPr/>
          <p:nvPr/>
        </p:nvSpPr>
        <p:spPr>
          <a:xfrm>
            <a:off x="1325880" y="1828800"/>
            <a:ext cx="1554480" cy="228600"/>
          </a:xfrm>
          <a:prstGeom prst="rect">
            <a:avLst/>
          </a:prstGeom>
          <a:noFill/>
          <a:ln/>
        </p:spPr>
        <p:txBody>
          <a:bodyPr wrap="square" lIns="0" tIns="0" rIns="0" bIns="0" rtlCol="0" anchor="ctr">
            <a:normAutofit/>
          </a:bodyPr>
          <a:lstStyle/>
          <a:p>
            <a:pPr marL="0" indent="0" algn="l">
              <a:buNone/>
            </a:pPr>
            <a:r>
              <a:rPr lang="en-US" sz="1000" b="1" dirty="0">
                <a:solidFill>
                  <a:srgbClr val="E63946"/>
                </a:solidFill>
                <a:latin typeface="Aptos" pitchFamily="34" charset="0"/>
                <a:ea typeface="Aptos" pitchFamily="34" charset="-122"/>
                <a:cs typeface="Aptos" pitchFamily="34" charset="-120"/>
              </a:rPr>
              <a:t>CCR1 = timestamp A</a:t>
            </a:r>
            <a:endParaRPr lang="en-US" sz="1000" dirty="0"/>
          </a:p>
        </p:txBody>
      </p:sp>
      <p:sp>
        <p:nvSpPr>
          <p:cNvPr id="20" name="Text 17"/>
          <p:cNvSpPr/>
          <p:nvPr/>
        </p:nvSpPr>
        <p:spPr>
          <a:xfrm>
            <a:off x="3429000" y="1828800"/>
            <a:ext cx="1554480" cy="228600"/>
          </a:xfrm>
          <a:prstGeom prst="rect">
            <a:avLst/>
          </a:prstGeom>
          <a:noFill/>
          <a:ln/>
        </p:spPr>
        <p:txBody>
          <a:bodyPr wrap="square" lIns="0" tIns="0" rIns="0" bIns="0" rtlCol="0" anchor="ctr">
            <a:normAutofit/>
          </a:bodyPr>
          <a:lstStyle/>
          <a:p>
            <a:pPr marL="0" indent="0" algn="l">
              <a:buNone/>
            </a:pPr>
            <a:r>
              <a:rPr lang="en-US" sz="1000" b="1" dirty="0">
                <a:solidFill>
                  <a:srgbClr val="E63946"/>
                </a:solidFill>
                <a:latin typeface="Aptos" pitchFamily="34" charset="0"/>
                <a:ea typeface="Aptos" pitchFamily="34" charset="-122"/>
                <a:cs typeface="Aptos" pitchFamily="34" charset="-120"/>
              </a:rPr>
              <a:t>CCR2 = timestamp B</a:t>
            </a:r>
            <a:endParaRPr lang="en-US" sz="1000" dirty="0"/>
          </a:p>
        </p:txBody>
      </p:sp>
      <p:sp>
        <p:nvSpPr>
          <p:cNvPr id="21" name="Text 18"/>
          <p:cNvSpPr/>
          <p:nvPr/>
        </p:nvSpPr>
        <p:spPr>
          <a:xfrm>
            <a:off x="6583680" y="1554480"/>
            <a:ext cx="434340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Period measurement</a:t>
            </a:r>
            <a:endParaRPr lang="en-US" sz="1400" dirty="0"/>
          </a:p>
        </p:txBody>
      </p:sp>
      <p:sp>
        <p:nvSpPr>
          <p:cNvPr id="22" name="Text 19"/>
          <p:cNvSpPr/>
          <p:nvPr/>
        </p:nvSpPr>
        <p:spPr>
          <a:xfrm>
            <a:off x="6583680" y="1865376"/>
            <a:ext cx="4343400" cy="92354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Period ticks = CCR2 − CCR1</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Frequency = timer_tick_frequency / period_ticks</a:t>
            </a:r>
            <a:endParaRPr lang="en-US" sz="1350" dirty="0"/>
          </a:p>
        </p:txBody>
      </p:sp>
      <p:sp>
        <p:nvSpPr>
          <p:cNvPr id="23" name="Text 20"/>
          <p:cNvSpPr/>
          <p:nvPr/>
        </p:nvSpPr>
        <p:spPr>
          <a:xfrm>
            <a:off x="6583680" y="3337560"/>
            <a:ext cx="434340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IoT use cases</a:t>
            </a:r>
            <a:endParaRPr lang="en-US" sz="1400" dirty="0"/>
          </a:p>
        </p:txBody>
      </p:sp>
      <p:sp>
        <p:nvSpPr>
          <p:cNvPr id="24" name="Text 21"/>
          <p:cNvSpPr/>
          <p:nvPr/>
        </p:nvSpPr>
        <p:spPr>
          <a:xfrm>
            <a:off x="6583680" y="3648456"/>
            <a:ext cx="4343400" cy="115214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Fan RPM measurement</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Ultrasonic echo timing</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Water flow sensor pulses</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Wheel-speed pulse measurement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Output compare mode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Output compare triggers an action when CNT matches a compare value.</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22</a:t>
            </a:r>
            <a:endParaRPr lang="en-US" sz="850" dirty="0"/>
          </a:p>
        </p:txBody>
      </p:sp>
      <p:sp>
        <p:nvSpPr>
          <p:cNvPr id="8" name="Text 5"/>
          <p:cNvSpPr/>
          <p:nvPr/>
        </p:nvSpPr>
        <p:spPr>
          <a:xfrm>
            <a:off x="914400" y="1920240"/>
            <a:ext cx="1463040" cy="594360"/>
          </a:xfrm>
          <a:prstGeom prst="rect">
            <a:avLst/>
          </a:prstGeom>
          <a:solidFill>
            <a:srgbClr val="FFFFFF"/>
          </a:solidFill>
          <a:ln w="16510">
            <a:solidFill>
              <a:srgbClr val="CAD3D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CNT runs</a:t>
            </a:r>
            <a:endParaRPr lang="en-US" sz="1200" dirty="0"/>
          </a:p>
        </p:txBody>
      </p:sp>
      <p:sp>
        <p:nvSpPr>
          <p:cNvPr id="9" name="Text 6"/>
          <p:cNvSpPr/>
          <p:nvPr/>
        </p:nvSpPr>
        <p:spPr>
          <a:xfrm>
            <a:off x="3383280" y="1920240"/>
            <a:ext cx="1600200" cy="59436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CCR value</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loaded</a:t>
            </a:r>
            <a:endParaRPr lang="en-US" sz="1200" dirty="0"/>
          </a:p>
        </p:txBody>
      </p:sp>
      <p:sp>
        <p:nvSpPr>
          <p:cNvPr id="10" name="Text 7"/>
          <p:cNvSpPr/>
          <p:nvPr/>
        </p:nvSpPr>
        <p:spPr>
          <a:xfrm>
            <a:off x="5852160" y="1920240"/>
            <a:ext cx="1600200" cy="594360"/>
          </a:xfrm>
          <a:prstGeom prst="rect">
            <a:avLst/>
          </a:prstGeom>
          <a:solidFill>
            <a:srgbClr val="FFF3B0"/>
          </a:solidFill>
          <a:ln w="16510">
            <a:solidFill>
              <a:srgbClr val="FF9F1C"/>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CNT == CCR?</a:t>
            </a:r>
            <a:endParaRPr lang="en-US" sz="1200" dirty="0"/>
          </a:p>
        </p:txBody>
      </p:sp>
      <p:sp>
        <p:nvSpPr>
          <p:cNvPr id="11" name="Text 8"/>
          <p:cNvSpPr/>
          <p:nvPr/>
        </p:nvSpPr>
        <p:spPr>
          <a:xfrm>
            <a:off x="8229600" y="1920240"/>
            <a:ext cx="1828800" cy="594360"/>
          </a:xfrm>
          <a:prstGeom prst="rect">
            <a:avLst/>
          </a:prstGeom>
          <a:solidFill>
            <a:srgbClr val="FFFFFF"/>
          </a:solidFill>
          <a:ln w="16510">
            <a:solidFill>
              <a:srgbClr val="2EC4B6"/>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Action</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interrupt/toggle</a:t>
            </a:r>
            <a:endParaRPr lang="en-US" sz="1200" dirty="0"/>
          </a:p>
        </p:txBody>
      </p:sp>
      <p:sp>
        <p:nvSpPr>
          <p:cNvPr id="12" name="Shape 9"/>
          <p:cNvSpPr/>
          <p:nvPr/>
        </p:nvSpPr>
        <p:spPr>
          <a:xfrm>
            <a:off x="2514600" y="2212848"/>
            <a:ext cx="758952" cy="0"/>
          </a:xfrm>
          <a:prstGeom prst="line">
            <a:avLst/>
          </a:prstGeom>
          <a:noFill/>
          <a:ln w="15240">
            <a:solidFill>
              <a:srgbClr val="5B677A"/>
            </a:solidFill>
            <a:prstDash val="solid"/>
            <a:headEnd type="none"/>
            <a:tailEnd type="triangle"/>
          </a:ln>
        </p:spPr>
      </p:sp>
      <p:sp>
        <p:nvSpPr>
          <p:cNvPr id="13" name="Shape 10"/>
          <p:cNvSpPr/>
          <p:nvPr/>
        </p:nvSpPr>
        <p:spPr>
          <a:xfrm>
            <a:off x="5074920" y="2212848"/>
            <a:ext cx="667512" cy="0"/>
          </a:xfrm>
          <a:prstGeom prst="line">
            <a:avLst/>
          </a:prstGeom>
          <a:noFill/>
          <a:ln w="15240">
            <a:solidFill>
              <a:srgbClr val="5B677A"/>
            </a:solidFill>
            <a:prstDash val="solid"/>
            <a:headEnd type="none"/>
            <a:tailEnd type="triangle"/>
          </a:ln>
        </p:spPr>
      </p:sp>
      <p:sp>
        <p:nvSpPr>
          <p:cNvPr id="14" name="Shape 11"/>
          <p:cNvSpPr/>
          <p:nvPr/>
        </p:nvSpPr>
        <p:spPr>
          <a:xfrm>
            <a:off x="7543800" y="2212848"/>
            <a:ext cx="576072" cy="0"/>
          </a:xfrm>
          <a:prstGeom prst="line">
            <a:avLst/>
          </a:prstGeom>
          <a:noFill/>
          <a:ln w="15240">
            <a:solidFill>
              <a:srgbClr val="5B677A"/>
            </a:solidFill>
            <a:prstDash val="solid"/>
            <a:headEnd type="none"/>
            <a:tailEnd type="triangle"/>
          </a:ln>
        </p:spPr>
      </p:sp>
      <p:sp>
        <p:nvSpPr>
          <p:cNvPr id="15" name="Text 12"/>
          <p:cNvSpPr/>
          <p:nvPr/>
        </p:nvSpPr>
        <p:spPr>
          <a:xfrm>
            <a:off x="960120" y="3657600"/>
            <a:ext cx="457200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What can happen on match?</a:t>
            </a:r>
            <a:endParaRPr lang="en-US" sz="1400" dirty="0"/>
          </a:p>
        </p:txBody>
      </p:sp>
      <p:sp>
        <p:nvSpPr>
          <p:cNvPr id="16" name="Text 13"/>
          <p:cNvSpPr/>
          <p:nvPr/>
        </p:nvSpPr>
        <p:spPr>
          <a:xfrm>
            <a:off x="960120" y="3968496"/>
            <a:ext cx="4572000" cy="119786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 Toggle output pin</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 Set/clear output</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 Generate interrupt</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 Trigger another peripheral event</a:t>
            </a:r>
            <a:endParaRPr lang="en-US" sz="1300" dirty="0"/>
          </a:p>
        </p:txBody>
      </p:sp>
      <p:sp>
        <p:nvSpPr>
          <p:cNvPr id="17" name="Text 14"/>
          <p:cNvSpPr/>
          <p:nvPr/>
        </p:nvSpPr>
        <p:spPr>
          <a:xfrm>
            <a:off x="6446520" y="3657600"/>
            <a:ext cx="4389120" cy="310896"/>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Where useful?</a:t>
            </a:r>
            <a:endParaRPr lang="en-US" sz="1400" dirty="0"/>
          </a:p>
        </p:txBody>
      </p:sp>
      <p:sp>
        <p:nvSpPr>
          <p:cNvPr id="18" name="Text 15"/>
          <p:cNvSpPr/>
          <p:nvPr/>
        </p:nvSpPr>
        <p:spPr>
          <a:xfrm>
            <a:off x="6446520" y="3968496"/>
            <a:ext cx="4389120" cy="1014984"/>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Precise pulse timing, scheduled waveform edges, periodic triggers with more control than basic interrupts.</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PWM generation mode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PWM controls average power by changing ON time within a fixed period.</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23</a:t>
            </a:r>
            <a:endParaRPr lang="en-US" sz="850" dirty="0"/>
          </a:p>
        </p:txBody>
      </p:sp>
      <p:sp>
        <p:nvSpPr>
          <p:cNvPr id="8" name="Shape 5"/>
          <p:cNvSpPr/>
          <p:nvPr/>
        </p:nvSpPr>
        <p:spPr>
          <a:xfrm>
            <a:off x="868680" y="4069080"/>
            <a:ext cx="548640" cy="0"/>
          </a:xfrm>
          <a:prstGeom prst="line">
            <a:avLst/>
          </a:prstGeom>
          <a:noFill/>
          <a:ln w="25400">
            <a:solidFill>
              <a:srgbClr val="6C63FF"/>
            </a:solidFill>
            <a:prstDash val="solid"/>
          </a:ln>
        </p:spPr>
      </p:sp>
      <p:sp>
        <p:nvSpPr>
          <p:cNvPr id="9" name="Shape 6"/>
          <p:cNvSpPr/>
          <p:nvPr/>
        </p:nvSpPr>
        <p:spPr>
          <a:xfrm>
            <a:off x="1417320" y="4069080"/>
            <a:ext cx="0" cy="0"/>
          </a:xfrm>
          <a:prstGeom prst="line">
            <a:avLst/>
          </a:prstGeom>
          <a:noFill/>
          <a:ln w="25400">
            <a:solidFill>
              <a:srgbClr val="6C63FF"/>
            </a:solidFill>
            <a:prstDash val="solid"/>
          </a:ln>
        </p:spPr>
      </p:sp>
      <p:sp>
        <p:nvSpPr>
          <p:cNvPr id="10" name="Shape 7"/>
          <p:cNvSpPr/>
          <p:nvPr/>
        </p:nvSpPr>
        <p:spPr>
          <a:xfrm>
            <a:off x="1417320" y="2514600"/>
            <a:ext cx="1645920" cy="0"/>
          </a:xfrm>
          <a:prstGeom prst="line">
            <a:avLst/>
          </a:prstGeom>
          <a:noFill/>
          <a:ln w="25400">
            <a:solidFill>
              <a:srgbClr val="6C63FF"/>
            </a:solidFill>
            <a:prstDash val="solid"/>
          </a:ln>
        </p:spPr>
      </p:sp>
      <p:sp>
        <p:nvSpPr>
          <p:cNvPr id="11" name="Shape 8"/>
          <p:cNvSpPr/>
          <p:nvPr/>
        </p:nvSpPr>
        <p:spPr>
          <a:xfrm>
            <a:off x="3063240" y="2514600"/>
            <a:ext cx="0" cy="1554480"/>
          </a:xfrm>
          <a:prstGeom prst="line">
            <a:avLst/>
          </a:prstGeom>
          <a:noFill/>
          <a:ln w="25400">
            <a:solidFill>
              <a:srgbClr val="6C63FF"/>
            </a:solidFill>
            <a:prstDash val="solid"/>
          </a:ln>
        </p:spPr>
      </p:sp>
      <p:sp>
        <p:nvSpPr>
          <p:cNvPr id="12" name="Shape 9"/>
          <p:cNvSpPr/>
          <p:nvPr/>
        </p:nvSpPr>
        <p:spPr>
          <a:xfrm>
            <a:off x="3063240" y="4069080"/>
            <a:ext cx="1097280" cy="0"/>
          </a:xfrm>
          <a:prstGeom prst="line">
            <a:avLst/>
          </a:prstGeom>
          <a:noFill/>
          <a:ln w="25400">
            <a:solidFill>
              <a:srgbClr val="6C63FF"/>
            </a:solidFill>
            <a:prstDash val="solid"/>
          </a:ln>
        </p:spPr>
      </p:sp>
      <p:sp>
        <p:nvSpPr>
          <p:cNvPr id="13" name="Shape 10"/>
          <p:cNvSpPr/>
          <p:nvPr/>
        </p:nvSpPr>
        <p:spPr>
          <a:xfrm>
            <a:off x="4160520" y="4069080"/>
            <a:ext cx="0" cy="0"/>
          </a:xfrm>
          <a:prstGeom prst="line">
            <a:avLst/>
          </a:prstGeom>
          <a:noFill/>
          <a:ln w="25400">
            <a:solidFill>
              <a:srgbClr val="6C63FF"/>
            </a:solidFill>
            <a:prstDash val="solid"/>
          </a:ln>
        </p:spPr>
      </p:sp>
      <p:sp>
        <p:nvSpPr>
          <p:cNvPr id="14" name="Shape 11"/>
          <p:cNvSpPr/>
          <p:nvPr/>
        </p:nvSpPr>
        <p:spPr>
          <a:xfrm>
            <a:off x="4160520" y="2514600"/>
            <a:ext cx="1645920" cy="0"/>
          </a:xfrm>
          <a:prstGeom prst="line">
            <a:avLst/>
          </a:prstGeom>
          <a:noFill/>
          <a:ln w="25400">
            <a:solidFill>
              <a:srgbClr val="6C63FF"/>
            </a:solidFill>
            <a:prstDash val="solid"/>
          </a:ln>
        </p:spPr>
      </p:sp>
      <p:sp>
        <p:nvSpPr>
          <p:cNvPr id="15" name="Shape 12"/>
          <p:cNvSpPr/>
          <p:nvPr/>
        </p:nvSpPr>
        <p:spPr>
          <a:xfrm>
            <a:off x="5806440" y="2514600"/>
            <a:ext cx="0" cy="1554480"/>
          </a:xfrm>
          <a:prstGeom prst="line">
            <a:avLst/>
          </a:prstGeom>
          <a:noFill/>
          <a:ln w="25400">
            <a:solidFill>
              <a:srgbClr val="6C63FF"/>
            </a:solidFill>
            <a:prstDash val="solid"/>
          </a:ln>
        </p:spPr>
      </p:sp>
      <p:sp>
        <p:nvSpPr>
          <p:cNvPr id="16" name="Shape 13"/>
          <p:cNvSpPr/>
          <p:nvPr/>
        </p:nvSpPr>
        <p:spPr>
          <a:xfrm>
            <a:off x="5806440" y="4069080"/>
            <a:ext cx="1097280" cy="0"/>
          </a:xfrm>
          <a:prstGeom prst="line">
            <a:avLst/>
          </a:prstGeom>
          <a:noFill/>
          <a:ln w="25400">
            <a:solidFill>
              <a:srgbClr val="6C63FF"/>
            </a:solidFill>
            <a:prstDash val="solid"/>
          </a:ln>
        </p:spPr>
      </p:sp>
      <p:sp>
        <p:nvSpPr>
          <p:cNvPr id="17" name="Text 14"/>
          <p:cNvSpPr/>
          <p:nvPr/>
        </p:nvSpPr>
        <p:spPr>
          <a:xfrm>
            <a:off x="1536192" y="2240280"/>
            <a:ext cx="1097280" cy="228600"/>
          </a:xfrm>
          <a:prstGeom prst="rect">
            <a:avLst/>
          </a:prstGeom>
          <a:noFill/>
          <a:ln/>
        </p:spPr>
        <p:txBody>
          <a:bodyPr wrap="square" lIns="0" tIns="0" rIns="0" bIns="0" rtlCol="0" anchor="ctr">
            <a:normAutofit/>
          </a:bodyPr>
          <a:lstStyle/>
          <a:p>
            <a:pPr marL="0" indent="0" algn="l">
              <a:buNone/>
            </a:pPr>
            <a:r>
              <a:rPr lang="en-US" sz="1100" b="1" dirty="0">
                <a:solidFill>
                  <a:srgbClr val="6C63FF"/>
                </a:solidFill>
                <a:latin typeface="Aptos" pitchFamily="34" charset="0"/>
                <a:ea typeface="Aptos" pitchFamily="34" charset="-122"/>
                <a:cs typeface="Aptos" pitchFamily="34" charset="-120"/>
              </a:rPr>
              <a:t>ON time</a:t>
            </a:r>
            <a:endParaRPr lang="en-US" sz="1100" dirty="0"/>
          </a:p>
        </p:txBody>
      </p:sp>
      <p:sp>
        <p:nvSpPr>
          <p:cNvPr id="18" name="Shape 15"/>
          <p:cNvSpPr/>
          <p:nvPr/>
        </p:nvSpPr>
        <p:spPr>
          <a:xfrm>
            <a:off x="1417320" y="2542032"/>
            <a:ext cx="1645920" cy="0"/>
          </a:xfrm>
          <a:prstGeom prst="line">
            <a:avLst/>
          </a:prstGeom>
          <a:noFill/>
          <a:ln w="12700">
            <a:solidFill>
              <a:srgbClr val="6C63FF"/>
            </a:solidFill>
            <a:prstDash val="solid"/>
          </a:ln>
        </p:spPr>
      </p:sp>
      <p:sp>
        <p:nvSpPr>
          <p:cNvPr id="19" name="Text 16"/>
          <p:cNvSpPr/>
          <p:nvPr/>
        </p:nvSpPr>
        <p:spPr>
          <a:xfrm>
            <a:off x="1417320" y="4590288"/>
            <a:ext cx="2697480" cy="228600"/>
          </a:xfrm>
          <a:prstGeom prst="rect">
            <a:avLst/>
          </a:prstGeom>
          <a:noFill/>
          <a:ln/>
        </p:spPr>
        <p:txBody>
          <a:bodyPr wrap="square" lIns="0" tIns="0" rIns="0" bIns="0" rtlCol="0" anchor="ctr">
            <a:normAutofit/>
          </a:bodyPr>
          <a:lstStyle/>
          <a:p>
            <a:pPr marL="0" indent="0" algn="ctr">
              <a:buNone/>
            </a:pPr>
            <a:r>
              <a:rPr lang="en-US" sz="1100" b="1" dirty="0">
                <a:solidFill>
                  <a:srgbClr val="12263A"/>
                </a:solidFill>
                <a:latin typeface="Aptos" pitchFamily="34" charset="0"/>
                <a:ea typeface="Aptos" pitchFamily="34" charset="-122"/>
                <a:cs typeface="Aptos" pitchFamily="34" charset="-120"/>
              </a:rPr>
              <a:t>Period</a:t>
            </a:r>
            <a:endParaRPr lang="en-US" sz="1100" dirty="0"/>
          </a:p>
        </p:txBody>
      </p:sp>
      <p:sp>
        <p:nvSpPr>
          <p:cNvPr id="20" name="Shape 17"/>
          <p:cNvSpPr/>
          <p:nvPr/>
        </p:nvSpPr>
        <p:spPr>
          <a:xfrm>
            <a:off x="1417320" y="4434840"/>
            <a:ext cx="2743200" cy="0"/>
          </a:xfrm>
          <a:prstGeom prst="line">
            <a:avLst/>
          </a:prstGeom>
          <a:noFill/>
          <a:ln w="12700">
            <a:solidFill>
              <a:srgbClr val="12263A"/>
            </a:solidFill>
            <a:prstDash val="solid"/>
          </a:ln>
        </p:spPr>
      </p:sp>
      <p:sp>
        <p:nvSpPr>
          <p:cNvPr id="21" name="Text 18"/>
          <p:cNvSpPr/>
          <p:nvPr/>
        </p:nvSpPr>
        <p:spPr>
          <a:xfrm>
            <a:off x="6629400" y="1645920"/>
            <a:ext cx="411480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Duty cycle</a:t>
            </a:r>
            <a:endParaRPr lang="en-US" sz="1400" dirty="0"/>
          </a:p>
        </p:txBody>
      </p:sp>
      <p:sp>
        <p:nvSpPr>
          <p:cNvPr id="22" name="Text 19"/>
          <p:cNvSpPr/>
          <p:nvPr/>
        </p:nvSpPr>
        <p:spPr>
          <a:xfrm>
            <a:off x="6629400" y="1956816"/>
            <a:ext cx="4114800" cy="92354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Duty (%) = ON time / Period × 100</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Higher duty cycle → more average power</a:t>
            </a:r>
            <a:endParaRPr lang="en-US" sz="1400" dirty="0"/>
          </a:p>
        </p:txBody>
      </p:sp>
      <p:sp>
        <p:nvSpPr>
          <p:cNvPr id="23" name="Text 20"/>
          <p:cNvSpPr/>
          <p:nvPr/>
        </p:nvSpPr>
        <p:spPr>
          <a:xfrm>
            <a:off x="6629400" y="3383280"/>
            <a:ext cx="411480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STM32 mapping</a:t>
            </a:r>
            <a:endParaRPr lang="en-US" sz="1400" dirty="0"/>
          </a:p>
        </p:txBody>
      </p:sp>
      <p:sp>
        <p:nvSpPr>
          <p:cNvPr id="24" name="Text 21"/>
          <p:cNvSpPr/>
          <p:nvPr/>
        </p:nvSpPr>
        <p:spPr>
          <a:xfrm>
            <a:off x="6629400" y="3694176"/>
            <a:ext cx="4114800" cy="83210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ARR controls period/frequency</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CCR controls ON time/duty cycle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PWM frequency and duty-cycle calculation</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Students must calculate PSC, ARR, and CCR values before reliable PWM output.</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24</a:t>
            </a:r>
            <a:endParaRPr lang="en-US" sz="850" dirty="0"/>
          </a:p>
        </p:txBody>
      </p:sp>
      <p:sp>
        <p:nvSpPr>
          <p:cNvPr id="8" name="Text 5"/>
          <p:cNvSpPr/>
          <p:nvPr/>
        </p:nvSpPr>
        <p:spPr>
          <a:xfrm>
            <a:off x="777240" y="1508760"/>
            <a:ext cx="507492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Frequency formula</a:t>
            </a:r>
            <a:endParaRPr lang="en-US" sz="1400" dirty="0"/>
          </a:p>
        </p:txBody>
      </p:sp>
      <p:sp>
        <p:nvSpPr>
          <p:cNvPr id="9" name="Text 6"/>
          <p:cNvSpPr/>
          <p:nvPr/>
        </p:nvSpPr>
        <p:spPr>
          <a:xfrm>
            <a:off x="777240" y="1819656"/>
            <a:ext cx="5074920" cy="101498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Timer tick = Timer clock / (PSC + 1)</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PWM frequency = Timer tick / (ARR + 1)</a:t>
            </a:r>
            <a:endParaRPr lang="en-US" sz="1350" dirty="0"/>
          </a:p>
        </p:txBody>
      </p:sp>
      <p:sp>
        <p:nvSpPr>
          <p:cNvPr id="10" name="Text 7"/>
          <p:cNvSpPr/>
          <p:nvPr/>
        </p:nvSpPr>
        <p:spPr>
          <a:xfrm>
            <a:off x="6400800" y="1508760"/>
            <a:ext cx="448056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Duty formula</a:t>
            </a:r>
            <a:endParaRPr lang="en-US" sz="1400" dirty="0"/>
          </a:p>
        </p:txBody>
      </p:sp>
      <p:sp>
        <p:nvSpPr>
          <p:cNvPr id="11" name="Text 8"/>
          <p:cNvSpPr/>
          <p:nvPr/>
        </p:nvSpPr>
        <p:spPr>
          <a:xfrm>
            <a:off x="6400800" y="1819656"/>
            <a:ext cx="4480560" cy="101498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Duty ratio = CCR / (ARR + 1)</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CCR = Duty ratio × (ARR + 1)</a:t>
            </a:r>
            <a:endParaRPr lang="en-US" sz="1350" dirty="0"/>
          </a:p>
        </p:txBody>
      </p:sp>
      <p:sp>
        <p:nvSpPr>
          <p:cNvPr id="12" name="Text 9"/>
          <p:cNvSpPr/>
          <p:nvPr/>
        </p:nvSpPr>
        <p:spPr>
          <a:xfrm>
            <a:off x="777240" y="3474720"/>
            <a:ext cx="5257800" cy="310896"/>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Worked example</a:t>
            </a:r>
            <a:endParaRPr lang="en-US" sz="1400" dirty="0"/>
          </a:p>
        </p:txBody>
      </p:sp>
      <p:sp>
        <p:nvSpPr>
          <p:cNvPr id="13" name="Text 10"/>
          <p:cNvSpPr/>
          <p:nvPr/>
        </p:nvSpPr>
        <p:spPr>
          <a:xfrm>
            <a:off x="777240" y="3785616"/>
            <a:ext cx="5257800" cy="1563624"/>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360" dirty="0">
                <a:solidFill>
                  <a:srgbClr val="1D2433"/>
                </a:solidFill>
                <a:latin typeface="Aptos" pitchFamily="34" charset="0"/>
                <a:ea typeface="Aptos" pitchFamily="34" charset="-122"/>
                <a:cs typeface="Aptos" pitchFamily="34" charset="-120"/>
              </a:rPr>
              <a:t>Timer clock = 72 MHz</a:t>
            </a:r>
            <a:endParaRPr lang="en-US" sz="1360" dirty="0"/>
          </a:p>
          <a:p>
            <a:pPr marL="0" indent="0" algn="l">
              <a:buNone/>
            </a:pPr>
            <a:r>
              <a:rPr lang="en-US" sz="1360" dirty="0">
                <a:solidFill>
                  <a:srgbClr val="1D2433"/>
                </a:solidFill>
                <a:latin typeface="Aptos" pitchFamily="34" charset="0"/>
                <a:ea typeface="Aptos" pitchFamily="34" charset="-122"/>
                <a:cs typeface="Aptos" pitchFamily="34" charset="-120"/>
              </a:rPr>
              <a:t>PSC = 71 → tick = 1 MHz</a:t>
            </a:r>
            <a:endParaRPr lang="en-US" sz="1360" dirty="0"/>
          </a:p>
          <a:p>
            <a:pPr marL="0" indent="0" algn="l">
              <a:buNone/>
            </a:pPr>
            <a:r>
              <a:rPr lang="en-US" sz="1360" dirty="0">
                <a:solidFill>
                  <a:srgbClr val="1D2433"/>
                </a:solidFill>
                <a:latin typeface="Aptos" pitchFamily="34" charset="0"/>
                <a:ea typeface="Aptos" pitchFamily="34" charset="-122"/>
                <a:cs typeface="Aptos" pitchFamily="34" charset="-120"/>
              </a:rPr>
              <a:t>For 1 kHz PWM: ARR + 1 = 1000 → ARR = 999</a:t>
            </a:r>
            <a:endParaRPr lang="en-US" sz="1360" dirty="0"/>
          </a:p>
          <a:p>
            <a:pPr marL="0" indent="0" algn="l">
              <a:buNone/>
            </a:pPr>
            <a:r>
              <a:rPr lang="en-US" sz="1360" dirty="0">
                <a:solidFill>
                  <a:srgbClr val="1D2433"/>
                </a:solidFill>
                <a:latin typeface="Aptos" pitchFamily="34" charset="0"/>
                <a:ea typeface="Aptos" pitchFamily="34" charset="-122"/>
                <a:cs typeface="Aptos" pitchFamily="34" charset="-120"/>
              </a:rPr>
              <a:t>For 60% duty: CCR = 0.60 × 1000 = 600</a:t>
            </a:r>
            <a:endParaRPr lang="en-US" sz="1360" dirty="0"/>
          </a:p>
        </p:txBody>
      </p:sp>
      <p:sp>
        <p:nvSpPr>
          <p:cNvPr id="14" name="Text 11"/>
          <p:cNvSpPr/>
          <p:nvPr/>
        </p:nvSpPr>
        <p:spPr>
          <a:xfrm>
            <a:off x="6583680" y="3730752"/>
            <a:ext cx="425196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Interpretation</a:t>
            </a:r>
            <a:endParaRPr lang="en-US" sz="1400" dirty="0"/>
          </a:p>
        </p:txBody>
      </p:sp>
      <p:sp>
        <p:nvSpPr>
          <p:cNvPr id="15" name="Text 12"/>
          <p:cNvSpPr/>
          <p:nvPr/>
        </p:nvSpPr>
        <p:spPr>
          <a:xfrm>
            <a:off x="6583680" y="4041648"/>
            <a:ext cx="4251960" cy="106070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The timer counts 1000 ticks per PWM period. Output stays ON for 600 ticks and OFF for 400 ticks.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Complete IoT control example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Automatic fan control using temperature sensor, ADC, GPIO, timer, and PWM.</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25</a:t>
            </a:r>
            <a:endParaRPr lang="en-US" sz="850" dirty="0"/>
          </a:p>
        </p:txBody>
      </p:sp>
      <p:sp>
        <p:nvSpPr>
          <p:cNvPr id="8" name="Text 5"/>
          <p:cNvSpPr/>
          <p:nvPr/>
        </p:nvSpPr>
        <p:spPr>
          <a:xfrm>
            <a:off x="731520" y="2057400"/>
            <a:ext cx="1417320" cy="685800"/>
          </a:xfrm>
          <a:prstGeom prst="rect">
            <a:avLst/>
          </a:prstGeom>
          <a:solidFill>
            <a:srgbClr val="FFFFFF"/>
          </a:solidFill>
          <a:ln w="16510">
            <a:solidFill>
              <a:srgbClr val="CAD3D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Temperature</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sensor</a:t>
            </a:r>
            <a:endParaRPr lang="en-US" sz="1200" dirty="0"/>
          </a:p>
        </p:txBody>
      </p:sp>
      <p:sp>
        <p:nvSpPr>
          <p:cNvPr id="9" name="Text 6"/>
          <p:cNvSpPr/>
          <p:nvPr/>
        </p:nvSpPr>
        <p:spPr>
          <a:xfrm>
            <a:off x="2788920" y="2057400"/>
            <a:ext cx="1417320" cy="685800"/>
          </a:xfrm>
          <a:prstGeom prst="rect">
            <a:avLst/>
          </a:prstGeom>
          <a:solidFill>
            <a:srgbClr val="FFFFFF"/>
          </a:solidFill>
          <a:ln w="16510">
            <a:solidFill>
              <a:srgbClr val="FF9F1C"/>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ADC</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read voltage</a:t>
            </a:r>
            <a:endParaRPr lang="en-US" sz="1200" dirty="0"/>
          </a:p>
        </p:txBody>
      </p:sp>
      <p:sp>
        <p:nvSpPr>
          <p:cNvPr id="10" name="Text 7"/>
          <p:cNvSpPr/>
          <p:nvPr/>
        </p:nvSpPr>
        <p:spPr>
          <a:xfrm>
            <a:off x="4800600" y="2057400"/>
            <a:ext cx="1508760" cy="685800"/>
          </a:xfrm>
          <a:prstGeom prst="rect">
            <a:avLst/>
          </a:prstGeom>
          <a:solidFill>
            <a:srgbClr val="FFF3B0"/>
          </a:solidFill>
          <a:ln w="16510">
            <a:solidFill>
              <a:srgbClr val="FF9F1C"/>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Firmware</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map temp</a:t>
            </a:r>
            <a:endParaRPr lang="en-US" sz="1200" dirty="0"/>
          </a:p>
        </p:txBody>
      </p:sp>
      <p:sp>
        <p:nvSpPr>
          <p:cNvPr id="11" name="Text 8"/>
          <p:cNvSpPr/>
          <p:nvPr/>
        </p:nvSpPr>
        <p:spPr>
          <a:xfrm>
            <a:off x="7040880" y="2057400"/>
            <a:ext cx="1645920" cy="685800"/>
          </a:xfrm>
          <a:prstGeom prst="rect">
            <a:avLst/>
          </a:prstGeom>
          <a:solidFill>
            <a:srgbClr val="FFFFFF"/>
          </a:solidFill>
          <a:ln w="16510">
            <a:solidFill>
              <a:srgbClr val="6C63F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Timer PWM</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duty control</a:t>
            </a:r>
            <a:endParaRPr lang="en-US" sz="1200" dirty="0"/>
          </a:p>
        </p:txBody>
      </p:sp>
      <p:sp>
        <p:nvSpPr>
          <p:cNvPr id="12" name="Text 9"/>
          <p:cNvSpPr/>
          <p:nvPr/>
        </p:nvSpPr>
        <p:spPr>
          <a:xfrm>
            <a:off x="9509760" y="2057400"/>
            <a:ext cx="1508760" cy="685800"/>
          </a:xfrm>
          <a:prstGeom prst="rect">
            <a:avLst/>
          </a:prstGeom>
          <a:solidFill>
            <a:srgbClr val="FFFFFF"/>
          </a:solidFill>
          <a:ln w="16510">
            <a:solidFill>
              <a:srgbClr val="2A9D8F"/>
            </a:solidFill>
          </a:ln>
        </p:spPr>
        <p:txBody>
          <a:bodyPr wrap="square" lIns="762" tIns="762" rIns="762" bIns="762" rtlCol="0" anchor="ctr">
            <a:normAutofit/>
          </a:bodyPr>
          <a:lstStyle/>
          <a:p>
            <a:pPr marL="0" indent="0" algn="ctr">
              <a:buNone/>
            </a:pPr>
            <a:r>
              <a:rPr lang="en-US" sz="1200" b="1" dirty="0">
                <a:solidFill>
                  <a:srgbClr val="12263A"/>
                </a:solidFill>
                <a:latin typeface="Aptos" pitchFamily="34" charset="0"/>
                <a:ea typeface="Aptos" pitchFamily="34" charset="-122"/>
                <a:cs typeface="Aptos" pitchFamily="34" charset="-120"/>
              </a:rPr>
              <a:t>Motor driver</a:t>
            </a:r>
            <a:endParaRPr lang="en-US" sz="1200" dirty="0"/>
          </a:p>
          <a:p>
            <a:pPr marL="0" indent="0" algn="ctr">
              <a:buNone/>
            </a:pPr>
            <a:r>
              <a:rPr lang="en-US" sz="1200" b="1" dirty="0">
                <a:solidFill>
                  <a:srgbClr val="12263A"/>
                </a:solidFill>
                <a:latin typeface="Aptos" pitchFamily="34" charset="0"/>
                <a:ea typeface="Aptos" pitchFamily="34" charset="-122"/>
                <a:cs typeface="Aptos" pitchFamily="34" charset="-120"/>
              </a:rPr>
              <a:t>fan</a:t>
            </a:r>
            <a:endParaRPr lang="en-US" sz="1200" dirty="0"/>
          </a:p>
        </p:txBody>
      </p:sp>
      <p:sp>
        <p:nvSpPr>
          <p:cNvPr id="13" name="Shape 10"/>
          <p:cNvSpPr/>
          <p:nvPr/>
        </p:nvSpPr>
        <p:spPr>
          <a:xfrm>
            <a:off x="2240280" y="2395728"/>
            <a:ext cx="457200" cy="0"/>
          </a:xfrm>
          <a:prstGeom prst="line">
            <a:avLst/>
          </a:prstGeom>
          <a:noFill/>
          <a:ln w="15240">
            <a:solidFill>
              <a:srgbClr val="5B677A"/>
            </a:solidFill>
            <a:prstDash val="solid"/>
            <a:headEnd type="none"/>
            <a:tailEnd type="triangle"/>
          </a:ln>
        </p:spPr>
      </p:sp>
      <p:sp>
        <p:nvSpPr>
          <p:cNvPr id="14" name="Shape 11"/>
          <p:cNvSpPr/>
          <p:nvPr/>
        </p:nvSpPr>
        <p:spPr>
          <a:xfrm>
            <a:off x="4297680" y="2395728"/>
            <a:ext cx="393192" cy="0"/>
          </a:xfrm>
          <a:prstGeom prst="line">
            <a:avLst/>
          </a:prstGeom>
          <a:noFill/>
          <a:ln w="15240">
            <a:solidFill>
              <a:srgbClr val="5B677A"/>
            </a:solidFill>
            <a:prstDash val="solid"/>
            <a:headEnd type="none"/>
            <a:tailEnd type="triangle"/>
          </a:ln>
        </p:spPr>
      </p:sp>
      <p:sp>
        <p:nvSpPr>
          <p:cNvPr id="15" name="Shape 12"/>
          <p:cNvSpPr/>
          <p:nvPr/>
        </p:nvSpPr>
        <p:spPr>
          <a:xfrm>
            <a:off x="6419088" y="2395728"/>
            <a:ext cx="512064" cy="0"/>
          </a:xfrm>
          <a:prstGeom prst="line">
            <a:avLst/>
          </a:prstGeom>
          <a:noFill/>
          <a:ln w="15240">
            <a:solidFill>
              <a:srgbClr val="5B677A"/>
            </a:solidFill>
            <a:prstDash val="solid"/>
            <a:headEnd type="none"/>
            <a:tailEnd type="triangle"/>
          </a:ln>
        </p:spPr>
      </p:sp>
      <p:sp>
        <p:nvSpPr>
          <p:cNvPr id="16" name="Shape 13"/>
          <p:cNvSpPr/>
          <p:nvPr/>
        </p:nvSpPr>
        <p:spPr>
          <a:xfrm>
            <a:off x="8796528" y="2395728"/>
            <a:ext cx="603504" cy="0"/>
          </a:xfrm>
          <a:prstGeom prst="line">
            <a:avLst/>
          </a:prstGeom>
          <a:noFill/>
          <a:ln w="15240">
            <a:solidFill>
              <a:srgbClr val="5B677A"/>
            </a:solidFill>
            <a:prstDash val="solid"/>
            <a:headEnd type="none"/>
            <a:tailEnd type="triangle"/>
          </a:ln>
        </p:spPr>
      </p:sp>
      <p:sp>
        <p:nvSpPr>
          <p:cNvPr id="17" name="Text 14"/>
          <p:cNvSpPr/>
          <p:nvPr/>
        </p:nvSpPr>
        <p:spPr>
          <a:xfrm>
            <a:off x="868680" y="3886200"/>
            <a:ext cx="484632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Control logic</a:t>
            </a:r>
            <a:endParaRPr lang="en-US" sz="1400" dirty="0"/>
          </a:p>
        </p:txBody>
      </p:sp>
      <p:sp>
        <p:nvSpPr>
          <p:cNvPr id="18" name="Text 15"/>
          <p:cNvSpPr/>
          <p:nvPr/>
        </p:nvSpPr>
        <p:spPr>
          <a:xfrm>
            <a:off x="868680" y="4197096"/>
            <a:ext cx="4846320" cy="128930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if temp &lt; 30°C → duty 0%</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30–40°C → duty 40%</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40–50°C → duty 70%</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&gt;50°C → duty 100% + alert GPIO</a:t>
            </a:r>
            <a:endParaRPr lang="en-US" sz="1300" dirty="0"/>
          </a:p>
        </p:txBody>
      </p:sp>
      <p:sp>
        <p:nvSpPr>
          <p:cNvPr id="19" name="Text 16"/>
          <p:cNvSpPr/>
          <p:nvPr/>
        </p:nvSpPr>
        <p:spPr>
          <a:xfrm>
            <a:off x="6583680" y="3931920"/>
            <a:ext cx="4206240" cy="310896"/>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400" b="1" dirty="0">
                <a:solidFill>
                  <a:srgbClr val="E63946"/>
                </a:solidFill>
                <a:latin typeface="Aptos" pitchFamily="34" charset="0"/>
                <a:ea typeface="Aptos" pitchFamily="34" charset="-122"/>
                <a:cs typeface="Aptos" pitchFamily="34" charset="-120"/>
              </a:rPr>
              <a:t>Engineering checks</a:t>
            </a:r>
            <a:endParaRPr lang="en-US" sz="1400" dirty="0"/>
          </a:p>
        </p:txBody>
      </p:sp>
      <p:sp>
        <p:nvSpPr>
          <p:cNvPr id="20" name="Text 17"/>
          <p:cNvSpPr/>
          <p:nvPr/>
        </p:nvSpPr>
        <p:spPr>
          <a:xfrm>
            <a:off x="6583680" y="4242816"/>
            <a:ext cx="4206240" cy="923544"/>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Sensor voltage range, ADC reference, PWM frequency, driver current rating, fail-safe behavior.</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Practical workflow: CubeMX to firmware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Use CubeMX to configure peripherals, then verify generated code and hardware behavior.</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26</a:t>
            </a:r>
            <a:endParaRPr lang="en-US" sz="850" dirty="0"/>
          </a:p>
        </p:txBody>
      </p:sp>
      <p:sp>
        <p:nvSpPr>
          <p:cNvPr id="8" name="Text 5"/>
          <p:cNvSpPr/>
          <p:nvPr/>
        </p:nvSpPr>
        <p:spPr>
          <a:xfrm>
            <a:off x="685800" y="1874520"/>
            <a:ext cx="1417320" cy="82296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050" b="1" dirty="0">
                <a:solidFill>
                  <a:srgbClr val="12263A"/>
                </a:solidFill>
                <a:latin typeface="Aptos" pitchFamily="34" charset="0"/>
                <a:ea typeface="Aptos" pitchFamily="34" charset="-122"/>
                <a:cs typeface="Aptos" pitchFamily="34" charset="-120"/>
              </a:rPr>
              <a:t>1</a:t>
            </a:r>
            <a:endParaRPr lang="en-US" sz="1050" dirty="0"/>
          </a:p>
          <a:p>
            <a:pPr marL="0" indent="0" algn="ctr">
              <a:buNone/>
            </a:pPr>
            <a:r>
              <a:rPr lang="en-US" sz="1050" b="1" dirty="0">
                <a:solidFill>
                  <a:srgbClr val="12263A"/>
                </a:solidFill>
                <a:latin typeface="Aptos" pitchFamily="34" charset="0"/>
                <a:ea typeface="Aptos" pitchFamily="34" charset="-122"/>
                <a:cs typeface="Aptos" pitchFamily="34" charset="-120"/>
              </a:rPr>
              <a:t>Select MCU/board</a:t>
            </a:r>
            <a:endParaRPr lang="en-US" sz="1050" dirty="0"/>
          </a:p>
        </p:txBody>
      </p:sp>
      <p:sp>
        <p:nvSpPr>
          <p:cNvPr id="9" name="Shape 6"/>
          <p:cNvSpPr/>
          <p:nvPr/>
        </p:nvSpPr>
        <p:spPr>
          <a:xfrm>
            <a:off x="2121408" y="2286000"/>
            <a:ext cx="393192" cy="0"/>
          </a:xfrm>
          <a:prstGeom prst="line">
            <a:avLst/>
          </a:prstGeom>
          <a:noFill/>
          <a:ln w="15240">
            <a:solidFill>
              <a:srgbClr val="5B677A"/>
            </a:solidFill>
            <a:prstDash val="solid"/>
            <a:headEnd type="none"/>
            <a:tailEnd type="triangle"/>
          </a:ln>
        </p:spPr>
      </p:sp>
      <p:sp>
        <p:nvSpPr>
          <p:cNvPr id="10" name="Text 7"/>
          <p:cNvSpPr/>
          <p:nvPr/>
        </p:nvSpPr>
        <p:spPr>
          <a:xfrm>
            <a:off x="2560320" y="1874520"/>
            <a:ext cx="1417320" cy="822960"/>
          </a:xfrm>
          <a:prstGeom prst="rect">
            <a:avLst/>
          </a:prstGeom>
          <a:solidFill>
            <a:srgbClr val="FFFFFF"/>
          </a:solidFill>
          <a:ln w="16510">
            <a:solidFill>
              <a:srgbClr val="1E6091"/>
            </a:solidFill>
          </a:ln>
        </p:spPr>
        <p:txBody>
          <a:bodyPr wrap="square" lIns="762" tIns="762" rIns="762" bIns="762" rtlCol="0" anchor="ctr">
            <a:normAutofit/>
          </a:bodyPr>
          <a:lstStyle/>
          <a:p>
            <a:pPr marL="0" indent="0" algn="ctr">
              <a:buNone/>
            </a:pPr>
            <a:r>
              <a:rPr lang="en-US" sz="1050" b="1" dirty="0">
                <a:solidFill>
                  <a:srgbClr val="12263A"/>
                </a:solidFill>
                <a:latin typeface="Aptos" pitchFamily="34" charset="0"/>
                <a:ea typeface="Aptos" pitchFamily="34" charset="-122"/>
                <a:cs typeface="Aptos" pitchFamily="34" charset="-120"/>
              </a:rPr>
              <a:t>2</a:t>
            </a:r>
            <a:endParaRPr lang="en-US" sz="1050" dirty="0"/>
          </a:p>
          <a:p>
            <a:pPr marL="0" indent="0" algn="ctr">
              <a:buNone/>
            </a:pPr>
            <a:r>
              <a:rPr lang="en-US" sz="1050" b="1" dirty="0">
                <a:solidFill>
                  <a:srgbClr val="12263A"/>
                </a:solidFill>
                <a:latin typeface="Aptos" pitchFamily="34" charset="0"/>
                <a:ea typeface="Aptos" pitchFamily="34" charset="-122"/>
                <a:cs typeface="Aptos" pitchFamily="34" charset="-120"/>
              </a:rPr>
              <a:t>Configure pins</a:t>
            </a:r>
            <a:endParaRPr lang="en-US" sz="1050" dirty="0"/>
          </a:p>
        </p:txBody>
      </p:sp>
      <p:sp>
        <p:nvSpPr>
          <p:cNvPr id="11" name="Shape 8"/>
          <p:cNvSpPr/>
          <p:nvPr/>
        </p:nvSpPr>
        <p:spPr>
          <a:xfrm>
            <a:off x="3995928" y="2286000"/>
            <a:ext cx="393192" cy="0"/>
          </a:xfrm>
          <a:prstGeom prst="line">
            <a:avLst/>
          </a:prstGeom>
          <a:noFill/>
          <a:ln w="15240">
            <a:solidFill>
              <a:srgbClr val="5B677A"/>
            </a:solidFill>
            <a:prstDash val="solid"/>
            <a:headEnd type="none"/>
            <a:tailEnd type="triangle"/>
          </a:ln>
        </p:spPr>
      </p:sp>
      <p:sp>
        <p:nvSpPr>
          <p:cNvPr id="12" name="Text 9"/>
          <p:cNvSpPr/>
          <p:nvPr/>
        </p:nvSpPr>
        <p:spPr>
          <a:xfrm>
            <a:off x="4434840" y="1874520"/>
            <a:ext cx="1417320" cy="82296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050" b="1" dirty="0">
                <a:solidFill>
                  <a:srgbClr val="12263A"/>
                </a:solidFill>
                <a:latin typeface="Aptos" pitchFamily="34" charset="0"/>
                <a:ea typeface="Aptos" pitchFamily="34" charset="-122"/>
                <a:cs typeface="Aptos" pitchFamily="34" charset="-120"/>
              </a:rPr>
              <a:t>3</a:t>
            </a:r>
            <a:endParaRPr lang="en-US" sz="1050" dirty="0"/>
          </a:p>
          <a:p>
            <a:pPr marL="0" indent="0" algn="ctr">
              <a:buNone/>
            </a:pPr>
            <a:r>
              <a:rPr lang="en-US" sz="1050" b="1" dirty="0">
                <a:solidFill>
                  <a:srgbClr val="12263A"/>
                </a:solidFill>
                <a:latin typeface="Aptos" pitchFamily="34" charset="0"/>
                <a:ea typeface="Aptos" pitchFamily="34" charset="-122"/>
                <a:cs typeface="Aptos" pitchFamily="34" charset="-120"/>
              </a:rPr>
              <a:t>Set clocks</a:t>
            </a:r>
            <a:endParaRPr lang="en-US" sz="1050" dirty="0"/>
          </a:p>
        </p:txBody>
      </p:sp>
      <p:sp>
        <p:nvSpPr>
          <p:cNvPr id="13" name="Shape 10"/>
          <p:cNvSpPr/>
          <p:nvPr/>
        </p:nvSpPr>
        <p:spPr>
          <a:xfrm>
            <a:off x="5870448" y="2286000"/>
            <a:ext cx="393192" cy="0"/>
          </a:xfrm>
          <a:prstGeom prst="line">
            <a:avLst/>
          </a:prstGeom>
          <a:noFill/>
          <a:ln w="15240">
            <a:solidFill>
              <a:srgbClr val="5B677A"/>
            </a:solidFill>
            <a:prstDash val="solid"/>
            <a:headEnd type="none"/>
            <a:tailEnd type="triangle"/>
          </a:ln>
        </p:spPr>
      </p:sp>
      <p:sp>
        <p:nvSpPr>
          <p:cNvPr id="14" name="Text 11"/>
          <p:cNvSpPr/>
          <p:nvPr/>
        </p:nvSpPr>
        <p:spPr>
          <a:xfrm>
            <a:off x="6309360" y="1874520"/>
            <a:ext cx="1417320" cy="822960"/>
          </a:xfrm>
          <a:prstGeom prst="rect">
            <a:avLst/>
          </a:prstGeom>
          <a:solidFill>
            <a:srgbClr val="FFFFFF"/>
          </a:solidFill>
          <a:ln w="16510">
            <a:solidFill>
              <a:srgbClr val="1E6091"/>
            </a:solidFill>
          </a:ln>
        </p:spPr>
        <p:txBody>
          <a:bodyPr wrap="square" lIns="762" tIns="762" rIns="762" bIns="762" rtlCol="0" anchor="ctr">
            <a:normAutofit/>
          </a:bodyPr>
          <a:lstStyle/>
          <a:p>
            <a:pPr marL="0" indent="0" algn="ctr">
              <a:buNone/>
            </a:pPr>
            <a:r>
              <a:rPr lang="en-US" sz="1050" b="1" dirty="0">
                <a:solidFill>
                  <a:srgbClr val="12263A"/>
                </a:solidFill>
                <a:latin typeface="Aptos" pitchFamily="34" charset="0"/>
                <a:ea typeface="Aptos" pitchFamily="34" charset="-122"/>
                <a:cs typeface="Aptos" pitchFamily="34" charset="-120"/>
              </a:rPr>
              <a:t>4</a:t>
            </a:r>
            <a:endParaRPr lang="en-US" sz="1050" dirty="0"/>
          </a:p>
          <a:p>
            <a:pPr marL="0" indent="0" algn="ctr">
              <a:buNone/>
            </a:pPr>
            <a:r>
              <a:rPr lang="en-US" sz="1050" b="1" dirty="0">
                <a:solidFill>
                  <a:srgbClr val="12263A"/>
                </a:solidFill>
                <a:latin typeface="Aptos" pitchFamily="34" charset="0"/>
                <a:ea typeface="Aptos" pitchFamily="34" charset="-122"/>
                <a:cs typeface="Aptos" pitchFamily="34" charset="-120"/>
              </a:rPr>
              <a:t>Configure peripheral</a:t>
            </a:r>
            <a:endParaRPr lang="en-US" sz="1050" dirty="0"/>
          </a:p>
        </p:txBody>
      </p:sp>
      <p:sp>
        <p:nvSpPr>
          <p:cNvPr id="15" name="Shape 12"/>
          <p:cNvSpPr/>
          <p:nvPr/>
        </p:nvSpPr>
        <p:spPr>
          <a:xfrm>
            <a:off x="7744968" y="2286000"/>
            <a:ext cx="393192" cy="0"/>
          </a:xfrm>
          <a:prstGeom prst="line">
            <a:avLst/>
          </a:prstGeom>
          <a:noFill/>
          <a:ln w="15240">
            <a:solidFill>
              <a:srgbClr val="5B677A"/>
            </a:solidFill>
            <a:prstDash val="solid"/>
            <a:headEnd type="none"/>
            <a:tailEnd type="triangle"/>
          </a:ln>
        </p:spPr>
      </p:sp>
      <p:sp>
        <p:nvSpPr>
          <p:cNvPr id="16" name="Text 13"/>
          <p:cNvSpPr/>
          <p:nvPr/>
        </p:nvSpPr>
        <p:spPr>
          <a:xfrm>
            <a:off x="8183880" y="1874520"/>
            <a:ext cx="1417320" cy="822960"/>
          </a:xfrm>
          <a:prstGeom prst="rect">
            <a:avLst/>
          </a:prstGeom>
          <a:solidFill>
            <a:srgbClr val="E8F4FF"/>
          </a:solidFill>
          <a:ln w="16510">
            <a:solidFill>
              <a:srgbClr val="1E6091"/>
            </a:solidFill>
          </a:ln>
        </p:spPr>
        <p:txBody>
          <a:bodyPr wrap="square" lIns="762" tIns="762" rIns="762" bIns="762" rtlCol="0" anchor="ctr">
            <a:normAutofit/>
          </a:bodyPr>
          <a:lstStyle/>
          <a:p>
            <a:pPr marL="0" indent="0" algn="ctr">
              <a:buNone/>
            </a:pPr>
            <a:r>
              <a:rPr lang="en-US" sz="1050" b="1" dirty="0">
                <a:solidFill>
                  <a:srgbClr val="12263A"/>
                </a:solidFill>
                <a:latin typeface="Aptos" pitchFamily="34" charset="0"/>
                <a:ea typeface="Aptos" pitchFamily="34" charset="-122"/>
                <a:cs typeface="Aptos" pitchFamily="34" charset="-120"/>
              </a:rPr>
              <a:t>5</a:t>
            </a:r>
            <a:endParaRPr lang="en-US" sz="1050" dirty="0"/>
          </a:p>
          <a:p>
            <a:pPr marL="0" indent="0" algn="ctr">
              <a:buNone/>
            </a:pPr>
            <a:r>
              <a:rPr lang="en-US" sz="1050" b="1" dirty="0">
                <a:solidFill>
                  <a:srgbClr val="12263A"/>
                </a:solidFill>
                <a:latin typeface="Aptos" pitchFamily="34" charset="0"/>
                <a:ea typeface="Aptos" pitchFamily="34" charset="-122"/>
                <a:cs typeface="Aptos" pitchFamily="34" charset="-120"/>
              </a:rPr>
              <a:t>Generate code</a:t>
            </a:r>
            <a:endParaRPr lang="en-US" sz="1050" dirty="0"/>
          </a:p>
        </p:txBody>
      </p:sp>
      <p:sp>
        <p:nvSpPr>
          <p:cNvPr id="17" name="Shape 14"/>
          <p:cNvSpPr/>
          <p:nvPr/>
        </p:nvSpPr>
        <p:spPr>
          <a:xfrm>
            <a:off x="9619488" y="2286000"/>
            <a:ext cx="393192" cy="0"/>
          </a:xfrm>
          <a:prstGeom prst="line">
            <a:avLst/>
          </a:prstGeom>
          <a:noFill/>
          <a:ln w="15240">
            <a:solidFill>
              <a:srgbClr val="5B677A"/>
            </a:solidFill>
            <a:prstDash val="solid"/>
            <a:headEnd type="none"/>
            <a:tailEnd type="triangle"/>
          </a:ln>
        </p:spPr>
      </p:sp>
      <p:sp>
        <p:nvSpPr>
          <p:cNvPr id="18" name="Text 15"/>
          <p:cNvSpPr/>
          <p:nvPr/>
        </p:nvSpPr>
        <p:spPr>
          <a:xfrm>
            <a:off x="10058400" y="1874520"/>
            <a:ext cx="1417320" cy="822960"/>
          </a:xfrm>
          <a:prstGeom prst="rect">
            <a:avLst/>
          </a:prstGeom>
          <a:solidFill>
            <a:srgbClr val="FFFFFF"/>
          </a:solidFill>
          <a:ln w="16510">
            <a:solidFill>
              <a:srgbClr val="2A9D8F"/>
            </a:solidFill>
          </a:ln>
        </p:spPr>
        <p:txBody>
          <a:bodyPr wrap="square" lIns="762" tIns="762" rIns="762" bIns="762" rtlCol="0" anchor="ctr">
            <a:normAutofit/>
          </a:bodyPr>
          <a:lstStyle/>
          <a:p>
            <a:pPr marL="0" indent="0" algn="ctr">
              <a:buNone/>
            </a:pPr>
            <a:r>
              <a:rPr lang="en-US" sz="1050" b="1" dirty="0">
                <a:solidFill>
                  <a:srgbClr val="12263A"/>
                </a:solidFill>
                <a:latin typeface="Aptos" pitchFamily="34" charset="0"/>
                <a:ea typeface="Aptos" pitchFamily="34" charset="-122"/>
                <a:cs typeface="Aptos" pitchFamily="34" charset="-120"/>
              </a:rPr>
              <a:t>6</a:t>
            </a:r>
            <a:endParaRPr lang="en-US" sz="1050" dirty="0"/>
          </a:p>
          <a:p>
            <a:pPr marL="0" indent="0" algn="ctr">
              <a:buNone/>
            </a:pPr>
            <a:r>
              <a:rPr lang="en-US" sz="1050" b="1" dirty="0">
                <a:solidFill>
                  <a:srgbClr val="12263A"/>
                </a:solidFill>
                <a:latin typeface="Aptos" pitchFamily="34" charset="0"/>
                <a:ea typeface="Aptos" pitchFamily="34" charset="-122"/>
                <a:cs typeface="Aptos" pitchFamily="34" charset="-120"/>
              </a:rPr>
              <a:t>Test on board</a:t>
            </a:r>
            <a:endParaRPr lang="en-US" sz="1050" dirty="0"/>
          </a:p>
        </p:txBody>
      </p:sp>
      <p:sp>
        <p:nvSpPr>
          <p:cNvPr id="19" name="Text 16"/>
          <p:cNvSpPr/>
          <p:nvPr/>
        </p:nvSpPr>
        <p:spPr>
          <a:xfrm>
            <a:off x="914400" y="3749040"/>
            <a:ext cx="5257800" cy="310896"/>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400" b="1" dirty="0">
                <a:solidFill>
                  <a:srgbClr val="12263A"/>
                </a:solidFill>
                <a:latin typeface="Aptos" pitchFamily="34" charset="0"/>
                <a:ea typeface="Aptos" pitchFamily="34" charset="-122"/>
                <a:cs typeface="Aptos" pitchFamily="34" charset="-120"/>
              </a:rPr>
              <a:t>Instructor demo sequence</a:t>
            </a:r>
            <a:endParaRPr lang="en-US" sz="1400" dirty="0"/>
          </a:p>
        </p:txBody>
      </p:sp>
      <p:sp>
        <p:nvSpPr>
          <p:cNvPr id="20" name="Text 17"/>
          <p:cNvSpPr/>
          <p:nvPr/>
        </p:nvSpPr>
        <p:spPr>
          <a:xfrm>
            <a:off x="914400" y="4059936"/>
            <a:ext cx="5257800" cy="1563624"/>
          </a:xfrm>
          <a:prstGeom prst="rect">
            <a:avLst/>
          </a:prstGeom>
          <a:solidFill>
            <a:srgbClr val="FFFFFF"/>
          </a:solidFill>
          <a:ln w="12700">
            <a:solidFill>
              <a:srgbClr val="CAD3D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1. Configure PA5 as output LED</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2. Configure user button as input with pull-up</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3. Configure ADC channel for potentiometer</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4. Configure timer PWM for LED dimming</a:t>
            </a:r>
            <a:endParaRPr lang="en-US" sz="1300" dirty="0"/>
          </a:p>
          <a:p>
            <a:pPr marL="0" indent="0" algn="l">
              <a:buNone/>
            </a:pPr>
            <a:r>
              <a:rPr lang="en-US" sz="1300" dirty="0">
                <a:solidFill>
                  <a:srgbClr val="1D2433"/>
                </a:solidFill>
                <a:latin typeface="Aptos" pitchFamily="34" charset="0"/>
                <a:ea typeface="Aptos" pitchFamily="34" charset="-122"/>
                <a:cs typeface="Aptos" pitchFamily="34" charset="-120"/>
              </a:rPr>
              <a:t>5. Combine ADC → PWM duty mapping</a:t>
            </a:r>
            <a:endParaRPr lang="en-US" sz="1300" dirty="0"/>
          </a:p>
        </p:txBody>
      </p:sp>
      <p:sp>
        <p:nvSpPr>
          <p:cNvPr id="21" name="Text 18"/>
          <p:cNvSpPr/>
          <p:nvPr/>
        </p:nvSpPr>
        <p:spPr>
          <a:xfrm>
            <a:off x="6858000" y="3886200"/>
            <a:ext cx="4160520" cy="310896"/>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Debug habit</a:t>
            </a:r>
            <a:endParaRPr lang="en-US" sz="1400" dirty="0"/>
          </a:p>
        </p:txBody>
      </p:sp>
      <p:sp>
        <p:nvSpPr>
          <p:cNvPr id="22" name="Text 19"/>
          <p:cNvSpPr/>
          <p:nvPr/>
        </p:nvSpPr>
        <p:spPr>
          <a:xfrm>
            <a:off x="6858000" y="4197096"/>
            <a:ext cx="4160520" cy="1152144"/>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370" dirty="0">
                <a:solidFill>
                  <a:srgbClr val="1D2433"/>
                </a:solidFill>
                <a:latin typeface="Aptos" pitchFamily="34" charset="0"/>
                <a:ea typeface="Aptos" pitchFamily="34" charset="-122"/>
                <a:cs typeface="Aptos" pitchFamily="34" charset="-120"/>
              </a:rPr>
              <a:t>After code generation, inspect MX_GPIO_Init(), MX_ADC_Init(), and MX_TIMx_Init(). Ask: what did CubeMX actually configure?</a:t>
            </a:r>
            <a:endParaRPr lang="en-US" sz="137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Mini lab activities for 2nd-year students</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Keep labs short, observable, and connected to physical behavior.</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27</a:t>
            </a:r>
            <a:endParaRPr lang="en-US" sz="850" dirty="0"/>
          </a:p>
        </p:txBody>
      </p:sp>
      <p:sp>
        <p:nvSpPr>
          <p:cNvPr id="8" name="Text 5"/>
          <p:cNvSpPr/>
          <p:nvPr/>
        </p:nvSpPr>
        <p:spPr>
          <a:xfrm>
            <a:off x="731520" y="1417320"/>
            <a:ext cx="333756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Lab 1: GPIO input/output</a:t>
            </a:r>
            <a:endParaRPr lang="en-US" sz="1400" dirty="0"/>
          </a:p>
        </p:txBody>
      </p:sp>
      <p:sp>
        <p:nvSpPr>
          <p:cNvPr id="9" name="Text 6"/>
          <p:cNvSpPr/>
          <p:nvPr/>
        </p:nvSpPr>
        <p:spPr>
          <a:xfrm>
            <a:off x="731520" y="1728216"/>
            <a:ext cx="3337560" cy="151790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Button controls LED. Use pull-up. Students record released/pressed logic levels and explain active-low behavior.</a:t>
            </a:r>
            <a:endParaRPr lang="en-US" sz="1300" dirty="0"/>
          </a:p>
        </p:txBody>
      </p:sp>
      <p:sp>
        <p:nvSpPr>
          <p:cNvPr id="10" name="Text 7"/>
          <p:cNvSpPr/>
          <p:nvPr/>
        </p:nvSpPr>
        <p:spPr>
          <a:xfrm>
            <a:off x="4434840" y="1417320"/>
            <a:ext cx="3337560" cy="310896"/>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Lab 2: ADC threshold</a:t>
            </a:r>
            <a:endParaRPr lang="en-US" sz="1400" dirty="0"/>
          </a:p>
        </p:txBody>
      </p:sp>
      <p:sp>
        <p:nvSpPr>
          <p:cNvPr id="11" name="Text 8"/>
          <p:cNvSpPr/>
          <p:nvPr/>
        </p:nvSpPr>
        <p:spPr>
          <a:xfrm>
            <a:off x="4434840" y="1728216"/>
            <a:ext cx="3337560" cy="1517904"/>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Read potentiometer or sensor. Turn LED ON when ADC value crosses threshold. Convert raw count to voltage.</a:t>
            </a:r>
            <a:endParaRPr lang="en-US" sz="1300" dirty="0"/>
          </a:p>
        </p:txBody>
      </p:sp>
      <p:sp>
        <p:nvSpPr>
          <p:cNvPr id="12" name="Text 9"/>
          <p:cNvSpPr/>
          <p:nvPr/>
        </p:nvSpPr>
        <p:spPr>
          <a:xfrm>
            <a:off x="8138160" y="1417320"/>
            <a:ext cx="333756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Lab 3: PWM dimming</a:t>
            </a:r>
            <a:endParaRPr lang="en-US" sz="1400" dirty="0"/>
          </a:p>
        </p:txBody>
      </p:sp>
      <p:sp>
        <p:nvSpPr>
          <p:cNvPr id="13" name="Text 10"/>
          <p:cNvSpPr/>
          <p:nvPr/>
        </p:nvSpPr>
        <p:spPr>
          <a:xfrm>
            <a:off x="8138160" y="1728216"/>
            <a:ext cx="3337560" cy="151790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Timer PWM controls LED brightness. Students calculate ARR/CCR and verify duty-cycle change.</a:t>
            </a:r>
            <a:endParaRPr lang="en-US" sz="1300" dirty="0"/>
          </a:p>
        </p:txBody>
      </p:sp>
      <p:sp>
        <p:nvSpPr>
          <p:cNvPr id="14" name="Text 11"/>
          <p:cNvSpPr/>
          <p:nvPr/>
        </p:nvSpPr>
        <p:spPr>
          <a:xfrm>
            <a:off x="1828800" y="4251960"/>
            <a:ext cx="8412480" cy="310896"/>
          </a:xfrm>
          <a:prstGeom prst="rect">
            <a:avLst/>
          </a:prstGeom>
          <a:solidFill>
            <a:srgbClr val="E8F4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Submission checklist</a:t>
            </a:r>
            <a:endParaRPr lang="en-US" sz="1400" dirty="0"/>
          </a:p>
        </p:txBody>
      </p:sp>
      <p:sp>
        <p:nvSpPr>
          <p:cNvPr id="15" name="Text 12"/>
          <p:cNvSpPr/>
          <p:nvPr/>
        </p:nvSpPr>
        <p:spPr>
          <a:xfrm>
            <a:off x="1828800" y="4562856"/>
            <a:ext cx="8412480" cy="786384"/>
          </a:xfrm>
          <a:prstGeom prst="rect">
            <a:avLst/>
          </a:prstGeom>
          <a:solidFill>
            <a:srgbClr val="E8F4FF"/>
          </a:solidFill>
          <a:ln w="12700">
            <a:solidFill>
              <a:srgbClr val="1E6091"/>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Circuit photo + pin configuration table + code snippet + observed values + one debugging issue faced + inference.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Common mistakes and debugging checklist</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Most STM32 beginner errors are configuration errors, not algorithm errors.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28</a:t>
            </a:r>
            <a:endParaRPr lang="en-US" sz="850" dirty="0"/>
          </a:p>
        </p:txBody>
      </p:sp>
      <p:sp>
        <p:nvSpPr>
          <p:cNvPr id="8" name="Text 5"/>
          <p:cNvSpPr/>
          <p:nvPr/>
        </p:nvSpPr>
        <p:spPr>
          <a:xfrm>
            <a:off x="868680" y="1417320"/>
            <a:ext cx="5577840" cy="4480560"/>
          </a:xfrm>
          <a:prstGeom prst="rect">
            <a:avLst/>
          </a:prstGeom>
          <a:noFill/>
          <a:ln/>
        </p:spPr>
        <p:txBody>
          <a:bodyPr wrap="square" lIns="1524" tIns="1524" rIns="1524" bIns="1524" rtlCol="0" anchor="ctr">
            <a:normAutofit/>
          </a:bodyPr>
          <a:lstStyle/>
          <a:p>
            <a:r>
              <a:rPr lang="en-US" sz="1400" dirty="0">
                <a:solidFill>
                  <a:srgbClr val="1D2433"/>
                </a:solidFill>
              </a:rPr>
              <a:t>GPIO port clock not enabled before HAL_GPIO_Init()</a:t>
            </a:r>
            <a:endParaRPr lang="en-US" sz="1400" dirty="0"/>
          </a:p>
          <a:p>
            <a:r>
              <a:rPr lang="en-US" sz="1400" dirty="0">
                <a:solidFill>
                  <a:srgbClr val="1D2433"/>
                </a:solidFill>
              </a:rPr>
              <a:t>Wrong pin or wrong port selected in code vs board wiring</a:t>
            </a:r>
            <a:endParaRPr lang="en-US" sz="1400" dirty="0"/>
          </a:p>
          <a:p>
            <a:r>
              <a:rPr lang="en-US" sz="1400" dirty="0">
                <a:solidFill>
                  <a:srgbClr val="1D2433"/>
                </a:solidFill>
              </a:rPr>
              <a:t>Floating input due to missing pull-up/pull-down</a:t>
            </a:r>
            <a:endParaRPr lang="en-US" sz="1400" dirty="0"/>
          </a:p>
          <a:p>
            <a:r>
              <a:rPr lang="en-US" sz="1400" dirty="0">
                <a:solidFill>
                  <a:srgbClr val="1D2433"/>
                </a:solidFill>
              </a:rPr>
              <a:t>Using GPIO output directly for high-current loads</a:t>
            </a:r>
            <a:endParaRPr lang="en-US" sz="1400" dirty="0"/>
          </a:p>
          <a:p>
            <a:r>
              <a:rPr lang="en-US" sz="1400" dirty="0">
                <a:solidFill>
                  <a:srgbClr val="1D2433"/>
                </a:solidFill>
              </a:rPr>
              <a:t>Expecting WritePin to control a pin in alternate-function mode</a:t>
            </a:r>
            <a:endParaRPr lang="en-US" sz="1400" dirty="0"/>
          </a:p>
          <a:p>
            <a:r>
              <a:rPr lang="en-US" sz="1400" dirty="0">
                <a:solidFill>
                  <a:srgbClr val="1D2433"/>
                </a:solidFill>
              </a:rPr>
              <a:t>Wrong timer clock assumptions while calculating PWM frequency</a:t>
            </a:r>
            <a:endParaRPr lang="en-US" sz="1400" dirty="0"/>
          </a:p>
          <a:p>
            <a:r>
              <a:rPr lang="en-US" sz="1400" dirty="0">
                <a:solidFill>
                  <a:srgbClr val="1D2433"/>
                </a:solidFill>
              </a:rPr>
              <a:t>ADC raw value used without voltage scaling or reference check</a:t>
            </a:r>
            <a:endParaRPr lang="en-US" sz="1400" dirty="0"/>
          </a:p>
        </p:txBody>
      </p:sp>
      <p:sp>
        <p:nvSpPr>
          <p:cNvPr id="9" name="Text 6"/>
          <p:cNvSpPr/>
          <p:nvPr/>
        </p:nvSpPr>
        <p:spPr>
          <a:xfrm>
            <a:off x="6949440" y="1600200"/>
            <a:ext cx="3931920" cy="310896"/>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400" b="1" dirty="0">
                <a:solidFill>
                  <a:srgbClr val="E63946"/>
                </a:solidFill>
                <a:latin typeface="Aptos" pitchFamily="34" charset="0"/>
                <a:ea typeface="Aptos" pitchFamily="34" charset="-122"/>
                <a:cs typeface="Aptos" pitchFamily="34" charset="-120"/>
              </a:rPr>
              <a:t>Debug order</a:t>
            </a:r>
            <a:endParaRPr lang="en-US" sz="1400" dirty="0"/>
          </a:p>
        </p:txBody>
      </p:sp>
      <p:sp>
        <p:nvSpPr>
          <p:cNvPr id="10" name="Text 7"/>
          <p:cNvSpPr/>
          <p:nvPr/>
        </p:nvSpPr>
        <p:spPr>
          <a:xfrm>
            <a:off x="6949440" y="1911096"/>
            <a:ext cx="3931920" cy="2706624"/>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1. Confirm wiring</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2. Confirm pin mode</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3. Confirm peripheral clock</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4. Confirm voltage levels</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5. Test simplest behavior</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6. Then test full application</a:t>
            </a:r>
            <a:endParaRPr lang="en-US" sz="1400" dirty="0"/>
          </a:p>
        </p:txBody>
      </p:sp>
      <p:sp>
        <p:nvSpPr>
          <p:cNvPr id="11" name="Text 8"/>
          <p:cNvSpPr/>
          <p:nvPr/>
        </p:nvSpPr>
        <p:spPr>
          <a:xfrm>
            <a:off x="6949440" y="5166360"/>
            <a:ext cx="4023360" cy="411480"/>
          </a:xfrm>
          <a:prstGeom prst="rect">
            <a:avLst/>
          </a:prstGeom>
          <a:noFill/>
          <a:ln/>
        </p:spPr>
        <p:txBody>
          <a:bodyPr wrap="square" lIns="508" tIns="508" rIns="508" bIns="508" rtlCol="0" anchor="ctr">
            <a:normAutofit lnSpcReduction="10000"/>
          </a:bodyPr>
          <a:lstStyle/>
          <a:p>
            <a:pPr marL="0" indent="0" algn="l">
              <a:buNone/>
            </a:pPr>
            <a:r>
              <a:rPr lang="en-US" sz="1450" b="1" dirty="0">
                <a:solidFill>
                  <a:srgbClr val="12263A"/>
                </a:solidFill>
                <a:latin typeface="Aptos" pitchFamily="34" charset="0"/>
                <a:ea typeface="Aptos" pitchFamily="34" charset="-122"/>
                <a:cs typeface="Aptos" pitchFamily="34" charset="-120"/>
              </a:rPr>
              <a:t>Rule: isolate one peripheral at a time before combining GPIO + ADC + timer + PWM.</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Lecture summary</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GPIO, ADC, timers, and PWM are the basic hardware vocabulary of STM32-based IoT systems.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30</a:t>
            </a:r>
            <a:endParaRPr lang="en-US" sz="850" dirty="0"/>
          </a:p>
        </p:txBody>
      </p:sp>
      <p:sp>
        <p:nvSpPr>
          <p:cNvPr id="8" name="Text 5"/>
          <p:cNvSpPr/>
          <p:nvPr/>
        </p:nvSpPr>
        <p:spPr>
          <a:xfrm>
            <a:off x="777240" y="1508760"/>
            <a:ext cx="251460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GPIO</a:t>
            </a:r>
            <a:endParaRPr lang="en-US" sz="1400" dirty="0"/>
          </a:p>
        </p:txBody>
      </p:sp>
      <p:sp>
        <p:nvSpPr>
          <p:cNvPr id="9" name="Text 6"/>
          <p:cNvSpPr/>
          <p:nvPr/>
        </p:nvSpPr>
        <p:spPr>
          <a:xfrm>
            <a:off x="777240" y="1819656"/>
            <a:ext cx="2514600" cy="106070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Digital input/output and alternate-function routing.</a:t>
            </a:r>
            <a:endParaRPr lang="en-US" sz="1350" dirty="0"/>
          </a:p>
        </p:txBody>
      </p:sp>
      <p:sp>
        <p:nvSpPr>
          <p:cNvPr id="10" name="Text 7"/>
          <p:cNvSpPr/>
          <p:nvPr/>
        </p:nvSpPr>
        <p:spPr>
          <a:xfrm>
            <a:off x="3611880" y="1508760"/>
            <a:ext cx="2514600" cy="310896"/>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ADC</a:t>
            </a:r>
            <a:endParaRPr lang="en-US" sz="1400" dirty="0"/>
          </a:p>
        </p:txBody>
      </p:sp>
      <p:sp>
        <p:nvSpPr>
          <p:cNvPr id="11" name="Text 8"/>
          <p:cNvSpPr/>
          <p:nvPr/>
        </p:nvSpPr>
        <p:spPr>
          <a:xfrm>
            <a:off x="3611880" y="1819656"/>
            <a:ext cx="2514600" cy="1060704"/>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Converts sensor voltage into digital values for computation.</a:t>
            </a:r>
            <a:endParaRPr lang="en-US" sz="1350" dirty="0"/>
          </a:p>
        </p:txBody>
      </p:sp>
      <p:sp>
        <p:nvSpPr>
          <p:cNvPr id="12" name="Text 9"/>
          <p:cNvSpPr/>
          <p:nvPr/>
        </p:nvSpPr>
        <p:spPr>
          <a:xfrm>
            <a:off x="6446520" y="1508760"/>
            <a:ext cx="251460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Timers</a:t>
            </a:r>
            <a:endParaRPr lang="en-US" sz="1400" dirty="0"/>
          </a:p>
        </p:txBody>
      </p:sp>
      <p:sp>
        <p:nvSpPr>
          <p:cNvPr id="13" name="Text 10"/>
          <p:cNvSpPr/>
          <p:nvPr/>
        </p:nvSpPr>
        <p:spPr>
          <a:xfrm>
            <a:off x="6446520" y="1819656"/>
            <a:ext cx="2514600" cy="106070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Hardware counters for delays, capture, compare, periodic events.</a:t>
            </a:r>
            <a:endParaRPr lang="en-US" sz="1350" dirty="0"/>
          </a:p>
        </p:txBody>
      </p:sp>
      <p:sp>
        <p:nvSpPr>
          <p:cNvPr id="14" name="Text 11"/>
          <p:cNvSpPr/>
          <p:nvPr/>
        </p:nvSpPr>
        <p:spPr>
          <a:xfrm>
            <a:off x="9281160" y="1508760"/>
            <a:ext cx="251460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PWM</a:t>
            </a:r>
            <a:endParaRPr lang="en-US" sz="1400" dirty="0"/>
          </a:p>
        </p:txBody>
      </p:sp>
      <p:sp>
        <p:nvSpPr>
          <p:cNvPr id="15" name="Text 12"/>
          <p:cNvSpPr/>
          <p:nvPr/>
        </p:nvSpPr>
        <p:spPr>
          <a:xfrm>
            <a:off x="9281160" y="1819656"/>
            <a:ext cx="2514600" cy="106070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Timer-controlled waveform for average power and actuator control.</a:t>
            </a:r>
            <a:endParaRPr lang="en-US" sz="1350" dirty="0"/>
          </a:p>
        </p:txBody>
      </p:sp>
      <p:sp>
        <p:nvSpPr>
          <p:cNvPr id="16" name="Text 13"/>
          <p:cNvSpPr/>
          <p:nvPr/>
        </p:nvSpPr>
        <p:spPr>
          <a:xfrm>
            <a:off x="914400" y="3977640"/>
            <a:ext cx="10241280" cy="777240"/>
          </a:xfrm>
          <a:prstGeom prst="rect">
            <a:avLst/>
          </a:prstGeom>
          <a:solidFill>
            <a:srgbClr val="E8F4FF"/>
          </a:solidFill>
          <a:ln>
            <a:solidFill>
              <a:srgbClr val="8BC6FF"/>
            </a:solidFill>
          </a:ln>
        </p:spPr>
        <p:txBody>
          <a:bodyPr wrap="square" lIns="635" tIns="635" rIns="635" bIns="635" rtlCol="0" anchor="ctr">
            <a:normAutofit/>
          </a:bodyPr>
          <a:lstStyle/>
          <a:p>
            <a:pPr marL="0" indent="0" algn="ctr">
              <a:buNone/>
            </a:pPr>
            <a:r>
              <a:rPr lang="en-US" sz="2000" b="1" dirty="0">
                <a:solidFill>
                  <a:srgbClr val="12263A"/>
                </a:solidFill>
                <a:latin typeface="Aptos" pitchFamily="34" charset="0"/>
                <a:ea typeface="Aptos" pitchFamily="34" charset="-122"/>
                <a:cs typeface="Aptos" pitchFamily="34" charset="-120"/>
              </a:rPr>
              <a:t>Final takeaway: reliable embedded systems come from correct electrical assumptions + correct peripheral configuration + verified timing calculations.</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STM32 microcontroller architecture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System view: CPU, memory, buses, GPIO, ADC, timers and communication peripherals work together.</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32</a:t>
            </a:r>
            <a:endParaRPr lang="en-US" sz="850" dirty="0"/>
          </a:p>
        </p:txBody>
      </p:sp>
      <p:pic>
        <p:nvPicPr>
          <p:cNvPr id="8" name="Image 0" descr="/mnt/data/a_clean_technical_infographic_diagram_on_a_dark_bl.png"/>
          <p:cNvPicPr>
            <a:picLocks noChangeAspect="1"/>
          </p:cNvPicPr>
          <p:nvPr/>
        </p:nvPicPr>
        <p:blipFill>
          <a:blip r:embed="rId3"/>
          <a:stretch>
            <a:fillRect/>
          </a:stretch>
        </p:blipFill>
        <p:spPr>
          <a:xfrm>
            <a:off x="1757451" y="1261872"/>
            <a:ext cx="8692339" cy="48920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Reading the STM32 architecture like an engineer</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Trace the path of data and control, not only the block names.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33</a:t>
            </a:r>
            <a:endParaRPr lang="en-US" sz="850" dirty="0"/>
          </a:p>
        </p:txBody>
      </p:sp>
      <p:sp>
        <p:nvSpPr>
          <p:cNvPr id="8" name="Text 5"/>
          <p:cNvSpPr/>
          <p:nvPr/>
        </p:nvSpPr>
        <p:spPr>
          <a:xfrm>
            <a:off x="777240" y="1417320"/>
            <a:ext cx="512064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Data path example</a:t>
            </a:r>
            <a:endParaRPr lang="en-US" sz="1400" dirty="0"/>
          </a:p>
        </p:txBody>
      </p:sp>
      <p:sp>
        <p:nvSpPr>
          <p:cNvPr id="9" name="Text 6"/>
          <p:cNvSpPr/>
          <p:nvPr/>
        </p:nvSpPr>
        <p:spPr>
          <a:xfrm>
            <a:off x="777240" y="1728216"/>
            <a:ext cx="5120640" cy="133502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Temperature sensor -&gt; ADC input channel -&gt; ADC data register -&gt; CPU/DMA -&gt; control algorithm -&gt; timer CCR -&gt; PWM pin -&gt; motor driver</a:t>
            </a:r>
            <a:endParaRPr lang="en-US" sz="1350" dirty="0"/>
          </a:p>
        </p:txBody>
      </p:sp>
      <p:sp>
        <p:nvSpPr>
          <p:cNvPr id="10" name="Text 7"/>
          <p:cNvSpPr/>
          <p:nvPr/>
        </p:nvSpPr>
        <p:spPr>
          <a:xfrm>
            <a:off x="6355080" y="1417320"/>
            <a:ext cx="489204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Control path example</a:t>
            </a:r>
            <a:endParaRPr lang="en-US" sz="1400" dirty="0"/>
          </a:p>
        </p:txBody>
      </p:sp>
      <p:sp>
        <p:nvSpPr>
          <p:cNvPr id="11" name="Text 8"/>
          <p:cNvSpPr/>
          <p:nvPr/>
        </p:nvSpPr>
        <p:spPr>
          <a:xfrm>
            <a:off x="6355080" y="1728216"/>
            <a:ext cx="4892040" cy="133502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Firmware writes peripheral registers through the bus. Configuration decides which pin mode, ADC channel, timer period, interrupt and DMA behavior is active.</a:t>
            </a:r>
            <a:endParaRPr lang="en-US" sz="1350" dirty="0"/>
          </a:p>
        </p:txBody>
      </p:sp>
      <p:sp>
        <p:nvSpPr>
          <p:cNvPr id="12" name="Text 9"/>
          <p:cNvSpPr/>
          <p:nvPr/>
        </p:nvSpPr>
        <p:spPr>
          <a:xfrm>
            <a:off x="777240" y="3657600"/>
            <a:ext cx="5120640" cy="310896"/>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Why RCC matters</a:t>
            </a:r>
            <a:endParaRPr lang="en-US" sz="1400" dirty="0"/>
          </a:p>
        </p:txBody>
      </p:sp>
      <p:sp>
        <p:nvSpPr>
          <p:cNvPr id="13" name="Text 10"/>
          <p:cNvSpPr/>
          <p:nvPr/>
        </p:nvSpPr>
        <p:spPr>
          <a:xfrm>
            <a:off x="777240" y="3968496"/>
            <a:ext cx="5120640" cy="1014984"/>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Peripheral clock must be enabled before GPIO, ADC or timer hardware can operate. Many beginner bugs are simply missing clocks.</a:t>
            </a:r>
            <a:endParaRPr lang="en-US" sz="1400" dirty="0"/>
          </a:p>
        </p:txBody>
      </p:sp>
      <p:sp>
        <p:nvSpPr>
          <p:cNvPr id="14" name="Text 11"/>
          <p:cNvSpPr/>
          <p:nvPr/>
        </p:nvSpPr>
        <p:spPr>
          <a:xfrm>
            <a:off x="6355080" y="3657600"/>
            <a:ext cx="489204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Why buses matter</a:t>
            </a:r>
            <a:endParaRPr lang="en-US" sz="1400" dirty="0"/>
          </a:p>
        </p:txBody>
      </p:sp>
      <p:sp>
        <p:nvSpPr>
          <p:cNvPr id="15" name="Text 12"/>
          <p:cNvSpPr/>
          <p:nvPr/>
        </p:nvSpPr>
        <p:spPr>
          <a:xfrm>
            <a:off x="6355080" y="3968496"/>
            <a:ext cx="4892040" cy="101498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CPU does not directly touch the pin. It changes registers in peripheral blocks; hardware then drives or samples the external pin.</a:t>
            </a:r>
            <a:endParaRPr lang="en-US" sz="1400" dirty="0"/>
          </a:p>
        </p:txBody>
      </p:sp>
      <p:sp>
        <p:nvSpPr>
          <p:cNvPr id="16" name="Text 13"/>
          <p:cNvSpPr/>
          <p:nvPr/>
        </p:nvSpPr>
        <p:spPr>
          <a:xfrm>
            <a:off x="1143000" y="5715000"/>
            <a:ext cx="9875520" cy="384048"/>
          </a:xfrm>
          <a:prstGeom prst="rect">
            <a:avLst/>
          </a:prstGeom>
          <a:solidFill>
            <a:srgbClr val="E8F4FF"/>
          </a:solidFill>
          <a:ln>
            <a:solidFill>
              <a:srgbClr val="8BC6FF"/>
            </a:solidFill>
          </a:ln>
        </p:spPr>
        <p:txBody>
          <a:bodyPr wrap="square" lIns="254" tIns="254" rIns="254" bIns="254" rtlCol="0" anchor="ctr">
            <a:normAutofit fontScale="92500"/>
          </a:bodyPr>
          <a:lstStyle/>
          <a:p>
            <a:pPr marL="0" indent="0" algn="ctr">
              <a:buNone/>
            </a:pPr>
            <a:r>
              <a:rPr lang="en-US" sz="1500" b="1" dirty="0">
                <a:solidFill>
                  <a:srgbClr val="12263A"/>
                </a:solidFill>
                <a:latin typeface="Aptos" pitchFamily="34" charset="0"/>
                <a:ea typeface="Aptos" pitchFamily="34" charset="-122"/>
                <a:cs typeface="Aptos" pitchFamily="34" charset="-120"/>
              </a:rPr>
              <a:t>Class prompt: identify the exact blocks used in a smart fan controller: temperature sensor + PWM fan + status LED.</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STM32 GPIO pin architecture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A single GPIO pin contains input, output, pull, analog and alternate-function paths.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34</a:t>
            </a:r>
            <a:endParaRPr lang="en-US" sz="850" dirty="0"/>
          </a:p>
        </p:txBody>
      </p:sp>
      <p:pic>
        <p:nvPicPr>
          <p:cNvPr id="8" name="Image 0" descr="/mnt/data/a_clean_technical_infographic_diagram_on_a_white_b.png"/>
          <p:cNvPicPr>
            <a:picLocks noChangeAspect="1"/>
          </p:cNvPicPr>
          <p:nvPr/>
        </p:nvPicPr>
        <p:blipFill>
          <a:blip r:embed="rId3"/>
          <a:stretch>
            <a:fillRect/>
          </a:stretch>
        </p:blipFill>
        <p:spPr>
          <a:xfrm>
            <a:off x="1676214" y="1234440"/>
            <a:ext cx="8854812" cy="498348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GPIO register-level teaching notes</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HAL functions are easier to understand when students know the register-level idea.</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35</a:t>
            </a:r>
            <a:endParaRPr lang="en-US" sz="850" dirty="0"/>
          </a:p>
        </p:txBody>
      </p:sp>
      <p:sp>
        <p:nvSpPr>
          <p:cNvPr id="8" name="Text 5"/>
          <p:cNvSpPr/>
          <p:nvPr/>
        </p:nvSpPr>
        <p:spPr>
          <a:xfrm>
            <a:off x="777240" y="1417320"/>
            <a:ext cx="274320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MODER</a:t>
            </a:r>
            <a:endParaRPr lang="en-US" sz="1400" dirty="0"/>
          </a:p>
        </p:txBody>
      </p:sp>
      <p:sp>
        <p:nvSpPr>
          <p:cNvPr id="9" name="Text 6"/>
          <p:cNvSpPr/>
          <p:nvPr/>
        </p:nvSpPr>
        <p:spPr>
          <a:xfrm>
            <a:off x="777240" y="1728216"/>
            <a:ext cx="2743200" cy="60350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Selects the main path: input, output, alternate function, or analog.</a:t>
            </a:r>
            <a:endParaRPr lang="en-US" sz="1250" dirty="0"/>
          </a:p>
        </p:txBody>
      </p:sp>
      <p:sp>
        <p:nvSpPr>
          <p:cNvPr id="10" name="Text 7"/>
          <p:cNvSpPr/>
          <p:nvPr/>
        </p:nvSpPr>
        <p:spPr>
          <a:xfrm>
            <a:off x="3794760" y="1417320"/>
            <a:ext cx="274320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PUPDR</a:t>
            </a:r>
            <a:endParaRPr lang="en-US" sz="1400" dirty="0"/>
          </a:p>
        </p:txBody>
      </p:sp>
      <p:sp>
        <p:nvSpPr>
          <p:cNvPr id="11" name="Text 8"/>
          <p:cNvSpPr/>
          <p:nvPr/>
        </p:nvSpPr>
        <p:spPr>
          <a:xfrm>
            <a:off x="3794760" y="1728216"/>
            <a:ext cx="2743200" cy="60350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Enables no pull, pull-up, or pull-down to control default input state.</a:t>
            </a:r>
            <a:endParaRPr lang="en-US" sz="1250" dirty="0"/>
          </a:p>
        </p:txBody>
      </p:sp>
      <p:sp>
        <p:nvSpPr>
          <p:cNvPr id="12" name="Text 9"/>
          <p:cNvSpPr/>
          <p:nvPr/>
        </p:nvSpPr>
        <p:spPr>
          <a:xfrm>
            <a:off x="6812280" y="1417320"/>
            <a:ext cx="274320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OTYPER</a:t>
            </a:r>
            <a:endParaRPr lang="en-US" sz="1400" dirty="0"/>
          </a:p>
        </p:txBody>
      </p:sp>
      <p:sp>
        <p:nvSpPr>
          <p:cNvPr id="13" name="Text 10"/>
          <p:cNvSpPr/>
          <p:nvPr/>
        </p:nvSpPr>
        <p:spPr>
          <a:xfrm>
            <a:off x="6812280" y="1728216"/>
            <a:ext cx="2743200" cy="60350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250" dirty="0">
                <a:solidFill>
                  <a:srgbClr val="1D2433"/>
                </a:solidFill>
                <a:latin typeface="Aptos" pitchFamily="34" charset="0"/>
                <a:ea typeface="Aptos" pitchFamily="34" charset="-122"/>
                <a:cs typeface="Aptos" pitchFamily="34" charset="-120"/>
              </a:rPr>
              <a:t>Chooses push-pull or open-drain behavior for output mode.</a:t>
            </a:r>
            <a:endParaRPr lang="en-US" sz="1250" dirty="0"/>
          </a:p>
        </p:txBody>
      </p:sp>
      <p:sp>
        <p:nvSpPr>
          <p:cNvPr id="14" name="Text 11"/>
          <p:cNvSpPr/>
          <p:nvPr/>
        </p:nvSpPr>
        <p:spPr>
          <a:xfrm>
            <a:off x="1188720" y="2880360"/>
            <a:ext cx="4297680" cy="310896"/>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IDR / ODR / BSRR</a:t>
            </a:r>
            <a:endParaRPr lang="en-US" sz="1400" dirty="0"/>
          </a:p>
        </p:txBody>
      </p:sp>
      <p:sp>
        <p:nvSpPr>
          <p:cNvPr id="15" name="Text 12"/>
          <p:cNvSpPr/>
          <p:nvPr/>
        </p:nvSpPr>
        <p:spPr>
          <a:xfrm>
            <a:off x="1188720" y="3191256"/>
            <a:ext cx="4297680" cy="923544"/>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IDR reads input state. ODR stores output state. BSRR is used for atomic set/reset operations.</a:t>
            </a:r>
            <a:endParaRPr lang="en-US" sz="1300" dirty="0"/>
          </a:p>
        </p:txBody>
      </p:sp>
      <p:sp>
        <p:nvSpPr>
          <p:cNvPr id="16" name="Text 13"/>
          <p:cNvSpPr/>
          <p:nvPr/>
        </p:nvSpPr>
        <p:spPr>
          <a:xfrm>
            <a:off x="6400800" y="2880360"/>
            <a:ext cx="4297680" cy="310896"/>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400" b="1" dirty="0">
                <a:solidFill>
                  <a:srgbClr val="E63946"/>
                </a:solidFill>
                <a:latin typeface="Aptos" pitchFamily="34" charset="0"/>
                <a:ea typeface="Aptos" pitchFamily="34" charset="-122"/>
                <a:cs typeface="Aptos" pitchFamily="34" charset="-120"/>
              </a:rPr>
              <a:t>AFR[0..1]</a:t>
            </a:r>
            <a:endParaRPr lang="en-US" sz="1400" dirty="0"/>
          </a:p>
        </p:txBody>
      </p:sp>
      <p:sp>
        <p:nvSpPr>
          <p:cNvPr id="17" name="Text 14"/>
          <p:cNvSpPr/>
          <p:nvPr/>
        </p:nvSpPr>
        <p:spPr>
          <a:xfrm>
            <a:off x="6400800" y="3191256"/>
            <a:ext cx="4297680" cy="923544"/>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300" dirty="0">
                <a:solidFill>
                  <a:srgbClr val="1D2433"/>
                </a:solidFill>
                <a:latin typeface="Aptos" pitchFamily="34" charset="0"/>
                <a:ea typeface="Aptos" pitchFamily="34" charset="-122"/>
                <a:cs typeface="Aptos" pitchFamily="34" charset="-120"/>
              </a:rPr>
              <a:t>Alternate function registers select which peripheral signal is routed to a pin, such as USART, SPI, I2C or TIM PWM.</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STM32 ADC architecture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Analog sensing path: channel selection -&gt; sampling -&gt; SAR conversion -&gt; data register -&gt; CPU/DMA.</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36</a:t>
            </a:r>
            <a:endParaRPr lang="en-US" sz="850" dirty="0"/>
          </a:p>
        </p:txBody>
      </p:sp>
      <p:pic>
        <p:nvPicPr>
          <p:cNvPr id="8" name="Image 0" descr="/mnt/data/a_clean_technical_infographic_block_diagram_on_a.png"/>
          <p:cNvPicPr>
            <a:picLocks noChangeAspect="1"/>
          </p:cNvPicPr>
          <p:nvPr/>
        </p:nvPicPr>
        <p:blipFill>
          <a:blip r:embed="rId3"/>
          <a:stretch>
            <a:fillRect/>
          </a:stretch>
        </p:blipFill>
        <p:spPr>
          <a:xfrm>
            <a:off x="1676214" y="1234440"/>
            <a:ext cx="8854812" cy="49834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ADC formulas for lecture delivery</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Students must convert raw ADC counts into voltage before interpreting sensor values.</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37</a:t>
            </a:r>
            <a:endParaRPr lang="en-US" sz="850" dirty="0"/>
          </a:p>
        </p:txBody>
      </p:sp>
      <p:sp>
        <p:nvSpPr>
          <p:cNvPr id="8" name="Text 5"/>
          <p:cNvSpPr/>
          <p:nvPr/>
        </p:nvSpPr>
        <p:spPr>
          <a:xfrm>
            <a:off x="777240" y="1417320"/>
            <a:ext cx="4800600" cy="310896"/>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Raw count to voltage</a:t>
            </a:r>
            <a:endParaRPr lang="en-US" sz="1400" dirty="0"/>
          </a:p>
        </p:txBody>
      </p:sp>
      <p:sp>
        <p:nvSpPr>
          <p:cNvPr id="9" name="Text 6"/>
          <p:cNvSpPr/>
          <p:nvPr/>
        </p:nvSpPr>
        <p:spPr>
          <a:xfrm>
            <a:off x="777240" y="1728216"/>
            <a:ext cx="4800600" cy="1655064"/>
          </a:xfrm>
          <a:prstGeom prst="rect">
            <a:avLst/>
          </a:prstGeom>
          <a:solidFill>
            <a:srgbClr val="FFFFFF"/>
          </a:solidFill>
          <a:ln w="12700">
            <a:solidFill>
              <a:srgbClr val="FF9F1C"/>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For N-bit ADC:</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Voltage = ADC_count x Vref / (2^N - 1)</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For 12-bit ADC with Vref = 3.3 V:</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Voltage = count x 3.3 / 4095</a:t>
            </a:r>
            <a:endParaRPr lang="en-US" sz="1400" dirty="0"/>
          </a:p>
        </p:txBody>
      </p:sp>
      <p:sp>
        <p:nvSpPr>
          <p:cNvPr id="10" name="Text 7"/>
          <p:cNvSpPr/>
          <p:nvPr/>
        </p:nvSpPr>
        <p:spPr>
          <a:xfrm>
            <a:off x="6263640" y="1417320"/>
            <a:ext cx="4526280" cy="310896"/>
          </a:xfrm>
          <a:prstGeom prst="rect">
            <a:avLst/>
          </a:prstGeom>
          <a:solidFill>
            <a:srgbClr val="FFF3B0"/>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Worked example</a:t>
            </a:r>
            <a:endParaRPr lang="en-US" sz="1400" dirty="0"/>
          </a:p>
        </p:txBody>
      </p:sp>
      <p:sp>
        <p:nvSpPr>
          <p:cNvPr id="11" name="Text 8"/>
          <p:cNvSpPr/>
          <p:nvPr/>
        </p:nvSpPr>
        <p:spPr>
          <a:xfrm>
            <a:off x="6263640" y="1728216"/>
            <a:ext cx="4526280" cy="1655064"/>
          </a:xfrm>
          <a:prstGeom prst="rect">
            <a:avLst/>
          </a:prstGeom>
          <a:solidFill>
            <a:srgbClr val="FFF3B0"/>
          </a:solidFill>
          <a:ln w="12700">
            <a:solidFill>
              <a:srgbClr val="2A9D8F"/>
            </a:solidFill>
          </a:ln>
        </p:spPr>
        <p:txBody>
          <a:bodyPr wrap="square" lIns="1270" tIns="1270" rIns="1270" bIns="1270" rtlCol="0" anchor="ctr">
            <a:normAutofit/>
          </a:bodyPr>
          <a:lstStyle/>
          <a:p>
            <a:pPr marL="0" indent="0" algn="l">
              <a:buNone/>
            </a:pPr>
            <a:r>
              <a:rPr lang="en-US" sz="1500" dirty="0">
                <a:solidFill>
                  <a:srgbClr val="1D2433"/>
                </a:solidFill>
                <a:latin typeface="Aptos" pitchFamily="34" charset="0"/>
                <a:ea typeface="Aptos" pitchFamily="34" charset="-122"/>
                <a:cs typeface="Aptos" pitchFamily="34" charset="-120"/>
              </a:rPr>
              <a:t>ADC_count = 2048</a:t>
            </a:r>
            <a:endParaRPr lang="en-US" sz="1500" dirty="0"/>
          </a:p>
          <a:p>
            <a:pPr marL="0" indent="0" algn="l">
              <a:buNone/>
            </a:pPr>
            <a:r>
              <a:rPr lang="en-US" sz="1500" dirty="0">
                <a:solidFill>
                  <a:srgbClr val="1D2433"/>
                </a:solidFill>
                <a:latin typeface="Aptos" pitchFamily="34" charset="0"/>
                <a:ea typeface="Aptos" pitchFamily="34" charset="-122"/>
                <a:cs typeface="Aptos" pitchFamily="34" charset="-120"/>
              </a:rPr>
              <a:t>Vref = 3.3 V</a:t>
            </a:r>
            <a:endParaRPr lang="en-US" sz="1500" dirty="0"/>
          </a:p>
          <a:p>
            <a:pPr marL="0" indent="0" algn="l">
              <a:buNone/>
            </a:pPr>
            <a:r>
              <a:rPr lang="en-US" sz="1500" dirty="0">
                <a:solidFill>
                  <a:srgbClr val="1D2433"/>
                </a:solidFill>
                <a:latin typeface="Aptos" pitchFamily="34" charset="0"/>
                <a:ea typeface="Aptos" pitchFamily="34" charset="-122"/>
                <a:cs typeface="Aptos" pitchFamily="34" charset="-120"/>
              </a:rPr>
              <a:t>Voltage = 2048 x 3.3 / 4095</a:t>
            </a:r>
            <a:endParaRPr lang="en-US" sz="1500" dirty="0"/>
          </a:p>
          <a:p>
            <a:pPr marL="0" indent="0" algn="l">
              <a:buNone/>
            </a:pPr>
            <a:r>
              <a:rPr lang="en-US" sz="1500" dirty="0">
                <a:solidFill>
                  <a:srgbClr val="1D2433"/>
                </a:solidFill>
                <a:latin typeface="Aptos" pitchFamily="34" charset="0"/>
                <a:ea typeface="Aptos" pitchFamily="34" charset="-122"/>
                <a:cs typeface="Aptos" pitchFamily="34" charset="-120"/>
              </a:rPr>
              <a:t>Voltage = 1.65 V</a:t>
            </a:r>
            <a:endParaRPr lang="en-US" sz="1500" dirty="0"/>
          </a:p>
        </p:txBody>
      </p:sp>
      <p:sp>
        <p:nvSpPr>
          <p:cNvPr id="12" name="Text 9"/>
          <p:cNvSpPr/>
          <p:nvPr/>
        </p:nvSpPr>
        <p:spPr>
          <a:xfrm>
            <a:off x="1005840" y="4069080"/>
            <a:ext cx="9875520" cy="310896"/>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400" b="1" dirty="0">
                <a:solidFill>
                  <a:srgbClr val="E63946"/>
                </a:solidFill>
                <a:latin typeface="Aptos" pitchFamily="34" charset="0"/>
                <a:ea typeface="Aptos" pitchFamily="34" charset="-122"/>
                <a:cs typeface="Aptos" pitchFamily="34" charset="-120"/>
              </a:rPr>
              <a:t>Engineering caution</a:t>
            </a:r>
            <a:endParaRPr lang="en-US" sz="1400" dirty="0"/>
          </a:p>
        </p:txBody>
      </p:sp>
      <p:sp>
        <p:nvSpPr>
          <p:cNvPr id="13" name="Text 10"/>
          <p:cNvSpPr/>
          <p:nvPr/>
        </p:nvSpPr>
        <p:spPr>
          <a:xfrm>
            <a:off x="1005840" y="4379976"/>
            <a:ext cx="9875520" cy="768096"/>
          </a:xfrm>
          <a:prstGeom prst="rect">
            <a:avLst/>
          </a:prstGeom>
          <a:solidFill>
            <a:srgbClr val="FFFFFF"/>
          </a:solidFill>
          <a:ln w="12700">
            <a:solidFill>
              <a:srgbClr val="E63946"/>
            </a:solidFill>
          </a:ln>
        </p:spPr>
        <p:txBody>
          <a:bodyPr wrap="square" lIns="1270" tIns="1270" rIns="1270" bIns="1270" rtlCol="0" anchor="ctr">
            <a:normAutofit/>
          </a:bodyPr>
          <a:lstStyle/>
          <a:p>
            <a:pPr marL="0" indent="0" algn="l">
              <a:buNone/>
            </a:pPr>
            <a:r>
              <a:rPr lang="en-US" sz="1450" dirty="0">
                <a:solidFill>
                  <a:srgbClr val="1D2433"/>
                </a:solidFill>
                <a:latin typeface="Aptos" pitchFamily="34" charset="0"/>
                <a:ea typeface="Aptos" pitchFamily="34" charset="-122"/>
                <a:cs typeface="Aptos" pitchFamily="34" charset="-120"/>
              </a:rPr>
              <a:t>ADC accuracy depends on reference voltage stability, sampling time, source impedance, noise, grounding and calibration. Raw count is not automatically a clean sensor value.</a:t>
            </a:r>
            <a:endParaRPr lang="en-US" sz="1450" dirty="0"/>
          </a:p>
        </p:txBody>
      </p:sp>
      <p:sp>
        <p:nvSpPr>
          <p:cNvPr id="14" name="Text 11"/>
          <p:cNvSpPr/>
          <p:nvPr/>
        </p:nvSpPr>
        <p:spPr>
          <a:xfrm>
            <a:off x="1051560" y="5650992"/>
            <a:ext cx="9875520" cy="411480"/>
          </a:xfrm>
          <a:prstGeom prst="rect">
            <a:avLst/>
          </a:prstGeom>
          <a:solidFill>
            <a:srgbClr val="E8F4FF"/>
          </a:solidFill>
          <a:ln>
            <a:solidFill>
              <a:srgbClr val="8BC6FF"/>
            </a:solidFill>
          </a:ln>
        </p:spPr>
        <p:txBody>
          <a:bodyPr wrap="square" lIns="381" tIns="381" rIns="381" bIns="381" rtlCol="0" anchor="ctr">
            <a:normAutofit/>
          </a:bodyPr>
          <a:lstStyle/>
          <a:p>
            <a:pPr marL="0" indent="0" algn="ctr">
              <a:buNone/>
            </a:pPr>
            <a:r>
              <a:rPr lang="en-US" sz="1550" b="1" dirty="0">
                <a:solidFill>
                  <a:srgbClr val="12263A"/>
                </a:solidFill>
                <a:latin typeface="Aptos" pitchFamily="34" charset="0"/>
                <a:ea typeface="Aptos" pitchFamily="34" charset="-122"/>
                <a:cs typeface="Aptos" pitchFamily="34" charset="-120"/>
              </a:rPr>
              <a:t>Mini task: design a threshold system where LED turns ON above 2.0 V. What ADC count is the threshold?</a:t>
            </a:r>
            <a:endParaRPr lang="en-US" sz="15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STM32 timer and PWM architecture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Timer clock, prescaler, counter, ARR and CCR together create timed events and PWM output.</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38</a:t>
            </a:r>
            <a:endParaRPr lang="en-US" sz="850" dirty="0"/>
          </a:p>
        </p:txBody>
      </p:sp>
      <p:pic>
        <p:nvPicPr>
          <p:cNvPr id="8" name="Image 0" descr="/mnt/data/a_clean_technical_infographic_diagram_on_a_white_b_batch_4.png"/>
          <p:cNvPicPr>
            <a:picLocks noChangeAspect="1"/>
          </p:cNvPicPr>
          <p:nvPr/>
        </p:nvPicPr>
        <p:blipFill>
          <a:blip r:embed="rId3"/>
          <a:stretch>
            <a:fillRect/>
          </a:stretch>
        </p:blipFill>
        <p:spPr>
          <a:xfrm>
            <a:off x="1676214" y="1234440"/>
            <a:ext cx="8854812" cy="49834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9">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Timer/PWM calculation practice</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Use calculation before configuration; otherwise PWM frequency is guesswork.</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39</a:t>
            </a:r>
            <a:endParaRPr lang="en-US" sz="850" dirty="0"/>
          </a:p>
        </p:txBody>
      </p:sp>
      <p:sp>
        <p:nvSpPr>
          <p:cNvPr id="8" name="Text 5"/>
          <p:cNvSpPr/>
          <p:nvPr/>
        </p:nvSpPr>
        <p:spPr>
          <a:xfrm>
            <a:off x="777240" y="1371600"/>
            <a:ext cx="402336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Formula set</a:t>
            </a:r>
            <a:endParaRPr lang="en-US" sz="1400" dirty="0"/>
          </a:p>
        </p:txBody>
      </p:sp>
      <p:sp>
        <p:nvSpPr>
          <p:cNvPr id="9" name="Text 6"/>
          <p:cNvSpPr/>
          <p:nvPr/>
        </p:nvSpPr>
        <p:spPr>
          <a:xfrm>
            <a:off x="777240" y="1682496"/>
            <a:ext cx="4023360" cy="128930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Timer tick = TIM_CLK / (PSC + 1)</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PWM frequency = Timer tick / (ARR + 1)</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Duty = CCR / (ARR + 1) x 100</a:t>
            </a:r>
            <a:endParaRPr lang="en-US" sz="1400" dirty="0"/>
          </a:p>
        </p:txBody>
      </p:sp>
      <p:sp>
        <p:nvSpPr>
          <p:cNvPr id="10" name="Text 7"/>
          <p:cNvSpPr/>
          <p:nvPr/>
        </p:nvSpPr>
        <p:spPr>
          <a:xfrm>
            <a:off x="5486400" y="1371600"/>
            <a:ext cx="5029200" cy="310896"/>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400" b="1" dirty="0">
                <a:solidFill>
                  <a:srgbClr val="FF9F1C"/>
                </a:solidFill>
                <a:latin typeface="Aptos" pitchFamily="34" charset="0"/>
                <a:ea typeface="Aptos" pitchFamily="34" charset="-122"/>
                <a:cs typeface="Aptos" pitchFamily="34" charset="-120"/>
              </a:rPr>
              <a:t>Problem 1</a:t>
            </a:r>
            <a:endParaRPr lang="en-US" sz="1400" dirty="0"/>
          </a:p>
        </p:txBody>
      </p:sp>
      <p:sp>
        <p:nvSpPr>
          <p:cNvPr id="11" name="Text 8"/>
          <p:cNvSpPr/>
          <p:nvPr/>
        </p:nvSpPr>
        <p:spPr>
          <a:xfrm>
            <a:off x="5486400" y="1682496"/>
            <a:ext cx="5029200" cy="1289304"/>
          </a:xfrm>
          <a:prstGeom prst="rect">
            <a:avLst/>
          </a:prstGeom>
          <a:solidFill>
            <a:srgbClr val="FFF3B0"/>
          </a:solidFill>
          <a:ln w="12700">
            <a:solidFill>
              <a:srgbClr val="FF9F1C"/>
            </a:solidFill>
          </a:ln>
        </p:spPr>
        <p:txBody>
          <a:bodyPr wrap="square" lIns="1270" tIns="1270" rIns="1270" bIns="1270" rtlCol="0" anchor="ctr">
            <a:normAutofit/>
          </a:bodyPr>
          <a:lstStyle/>
          <a:p>
            <a:pPr marL="0" indent="0" algn="l">
              <a:buNone/>
            </a:pPr>
            <a:r>
              <a:rPr lang="en-US" sz="1350" dirty="0">
                <a:solidFill>
                  <a:srgbClr val="1D2433"/>
                </a:solidFill>
                <a:latin typeface="Aptos" pitchFamily="34" charset="0"/>
                <a:ea typeface="Aptos" pitchFamily="34" charset="-122"/>
                <a:cs typeface="Aptos" pitchFamily="34" charset="-120"/>
              </a:rPr>
              <a:t>TIM_CLK = 72 MHz, PSC = 71, ARR = 999</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Find PWM frequency.</a:t>
            </a:r>
            <a:endParaRPr lang="en-US" sz="1350" dirty="0"/>
          </a:p>
          <a:p>
            <a:pPr marL="0" indent="0" algn="l">
              <a:buNone/>
            </a:pPr>
            <a:r>
              <a:rPr lang="en-US" sz="1350" dirty="0">
                <a:solidFill>
                  <a:srgbClr val="1D2433"/>
                </a:solidFill>
                <a:latin typeface="Aptos" pitchFamily="34" charset="0"/>
                <a:ea typeface="Aptos" pitchFamily="34" charset="-122"/>
                <a:cs typeface="Aptos" pitchFamily="34" charset="-120"/>
              </a:rPr>
              <a:t>Answer: tick = 1 MHz; PWM = 1 kHz.</a:t>
            </a:r>
            <a:endParaRPr lang="en-US" sz="1350" dirty="0"/>
          </a:p>
        </p:txBody>
      </p:sp>
      <p:sp>
        <p:nvSpPr>
          <p:cNvPr id="12" name="Text 9"/>
          <p:cNvSpPr/>
          <p:nvPr/>
        </p:nvSpPr>
        <p:spPr>
          <a:xfrm>
            <a:off x="777240" y="3703320"/>
            <a:ext cx="457200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Problem 2</a:t>
            </a:r>
            <a:endParaRPr lang="en-US" sz="1400" dirty="0"/>
          </a:p>
        </p:txBody>
      </p:sp>
      <p:sp>
        <p:nvSpPr>
          <p:cNvPr id="13" name="Text 10"/>
          <p:cNvSpPr/>
          <p:nvPr/>
        </p:nvSpPr>
        <p:spPr>
          <a:xfrm>
            <a:off x="777240" y="4014216"/>
            <a:ext cx="4572000" cy="101498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For ARR = 999, find CCR for 25%, 50%, 75% duty.</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Expected: 250, 500, 750.</a:t>
            </a:r>
            <a:endParaRPr lang="en-US" sz="1400" dirty="0"/>
          </a:p>
        </p:txBody>
      </p:sp>
      <p:sp>
        <p:nvSpPr>
          <p:cNvPr id="14" name="Text 11"/>
          <p:cNvSpPr/>
          <p:nvPr/>
        </p:nvSpPr>
        <p:spPr>
          <a:xfrm>
            <a:off x="5989320" y="3703320"/>
            <a:ext cx="4572000" cy="310896"/>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b="1" dirty="0">
                <a:solidFill>
                  <a:srgbClr val="6C63FF"/>
                </a:solidFill>
                <a:latin typeface="Aptos" pitchFamily="34" charset="0"/>
                <a:ea typeface="Aptos" pitchFamily="34" charset="-122"/>
                <a:cs typeface="Aptos" pitchFamily="34" charset="-120"/>
              </a:rPr>
              <a:t>Problem 3</a:t>
            </a:r>
            <a:endParaRPr lang="en-US" sz="1400" dirty="0"/>
          </a:p>
        </p:txBody>
      </p:sp>
      <p:sp>
        <p:nvSpPr>
          <p:cNvPr id="15" name="Text 12"/>
          <p:cNvSpPr/>
          <p:nvPr/>
        </p:nvSpPr>
        <p:spPr>
          <a:xfrm>
            <a:off x="5989320" y="4014216"/>
            <a:ext cx="4572000" cy="1014984"/>
          </a:xfrm>
          <a:prstGeom prst="rect">
            <a:avLst/>
          </a:prstGeom>
          <a:solidFill>
            <a:srgbClr val="FFFFFF"/>
          </a:solidFill>
          <a:ln w="12700">
            <a:solidFill>
              <a:srgbClr val="6C63FF"/>
            </a:solidFill>
          </a:ln>
        </p:spPr>
        <p:txBody>
          <a:bodyPr wrap="square" lIns="1270" tIns="1270" rIns="1270" bIns="1270" rtlCol="0" anchor="ctr">
            <a:normAutofit/>
          </a:bodyPr>
          <a:lstStyle/>
          <a:p>
            <a:pPr marL="0" indent="0" algn="l">
              <a:buNone/>
            </a:pPr>
            <a:r>
              <a:rPr lang="en-US" sz="1400" dirty="0">
                <a:solidFill>
                  <a:srgbClr val="1D2433"/>
                </a:solidFill>
                <a:latin typeface="Aptos" pitchFamily="34" charset="0"/>
                <a:ea typeface="Aptos" pitchFamily="34" charset="-122"/>
                <a:cs typeface="Aptos" pitchFamily="34" charset="-120"/>
              </a:rPr>
              <a:t>If PWM frequency must be 2 kHz with 1 MHz timer tick, what should ARR be?</a:t>
            </a:r>
            <a:endParaRPr lang="en-US" sz="1400" dirty="0"/>
          </a:p>
          <a:p>
            <a:pPr marL="0" indent="0" algn="l">
              <a:buNone/>
            </a:pPr>
            <a:r>
              <a:rPr lang="en-US" sz="1400" dirty="0">
                <a:solidFill>
                  <a:srgbClr val="1D2433"/>
                </a:solidFill>
                <a:latin typeface="Aptos" pitchFamily="34" charset="0"/>
                <a:ea typeface="Aptos" pitchFamily="34" charset="-122"/>
                <a:cs typeface="Aptos" pitchFamily="34" charset="-120"/>
              </a:rPr>
              <a:t>ARR + 1 = 500 -&gt; ARR = 499.</a:t>
            </a:r>
            <a:endParaRPr lang="en-US" sz="1400" dirty="0"/>
          </a:p>
        </p:txBody>
      </p:sp>
      <p:sp>
        <p:nvSpPr>
          <p:cNvPr id="16" name="Text 13"/>
          <p:cNvSpPr/>
          <p:nvPr/>
        </p:nvSpPr>
        <p:spPr>
          <a:xfrm>
            <a:off x="1188720" y="5715000"/>
            <a:ext cx="9601200" cy="338328"/>
          </a:xfrm>
          <a:prstGeom prst="rect">
            <a:avLst/>
          </a:prstGeom>
          <a:solidFill>
            <a:srgbClr val="E8F4FF"/>
          </a:solidFill>
          <a:ln>
            <a:solidFill>
              <a:srgbClr val="8BC6FF"/>
            </a:solidFill>
          </a:ln>
        </p:spPr>
        <p:txBody>
          <a:bodyPr wrap="square" lIns="254" tIns="254" rIns="254" bIns="254" rtlCol="0" anchor="ctr">
            <a:normAutofit/>
          </a:bodyPr>
          <a:lstStyle/>
          <a:p>
            <a:pPr marL="0" indent="0" algn="ctr">
              <a:buNone/>
            </a:pPr>
            <a:r>
              <a:rPr lang="en-US" sz="1450" b="1" dirty="0">
                <a:solidFill>
                  <a:srgbClr val="12263A"/>
                </a:solidFill>
                <a:latin typeface="Aptos" pitchFamily="34" charset="0"/>
                <a:ea typeface="Aptos" pitchFamily="34" charset="-122"/>
                <a:cs typeface="Aptos" pitchFamily="34" charset="-120"/>
              </a:rPr>
              <a:t>Challenge: what changes if the timer clock is not 72 MHz but 84 MHz? Students must check clock tree first.</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457200"/>
          </a:xfrm>
          <a:prstGeom prst="rect">
            <a:avLst/>
          </a:prstGeom>
          <a:noFill/>
          <a:ln/>
        </p:spPr>
        <p:txBody>
          <a:bodyPr wrap="square" lIns="0" tIns="0" rIns="0" bIns="0" rtlCol="0" anchor="ctr">
            <a:normAutofit/>
          </a:bodyPr>
          <a:lstStyle/>
          <a:p>
            <a:pPr marL="0" indent="0">
              <a:buNone/>
            </a:pPr>
            <a:r>
              <a:rPr lang="en-US" sz="2500" b="1" dirty="0">
                <a:solidFill>
                  <a:srgbClr val="12263A"/>
                </a:solidFill>
                <a:latin typeface="Aptos Display" pitchFamily="34" charset="0"/>
                <a:ea typeface="Aptos Display" pitchFamily="34" charset="-122"/>
                <a:cs typeface="Aptos Display" pitchFamily="34" charset="-120"/>
              </a:rPr>
              <a:t>Integrated mini-project: smart fan controller</a:t>
            </a:r>
            <a:endParaRPr lang="en-US" sz="2500" dirty="0"/>
          </a:p>
        </p:txBody>
      </p:sp>
      <p:sp>
        <p:nvSpPr>
          <p:cNvPr id="3" name="Text 1"/>
          <p:cNvSpPr/>
          <p:nvPr/>
        </p:nvSpPr>
        <p:spPr>
          <a:xfrm>
            <a:off x="530352" y="804672"/>
            <a:ext cx="9509760" cy="237744"/>
          </a:xfrm>
          <a:prstGeom prst="rect">
            <a:avLst/>
          </a:prstGeom>
          <a:noFill/>
          <a:ln/>
        </p:spPr>
        <p:txBody>
          <a:bodyPr wrap="square" lIns="0" tIns="0" rIns="0" bIns="0" rtlCol="0" anchor="ctr">
            <a:normAutofit/>
          </a:bodyPr>
          <a:lstStyle/>
          <a:p>
            <a:pPr marL="0" indent="0">
              <a:buNone/>
            </a:pPr>
            <a:r>
              <a:rPr lang="en-US" sz="950" dirty="0">
                <a:solidFill>
                  <a:srgbClr val="5B677A"/>
                </a:solidFill>
              </a:rPr>
              <a:t>A complete CO2 application using GPIO + ADC + timer + PWM.</a:t>
            </a:r>
            <a:endParaRPr lang="en-US" sz="950" dirty="0"/>
          </a:p>
        </p:txBody>
      </p:sp>
      <p:sp>
        <p:nvSpPr>
          <p:cNvPr id="4" name="Shape 2"/>
          <p:cNvSpPr/>
          <p:nvPr/>
        </p:nvSpPr>
        <p:spPr>
          <a:xfrm>
            <a:off x="502920" y="1115568"/>
            <a:ext cx="11155680" cy="0"/>
          </a:xfrm>
          <a:prstGeom prst="line">
            <a:avLst/>
          </a:prstGeom>
          <a:noFill/>
          <a:ln w="12700">
            <a:solidFill>
              <a:srgbClr val="CAD3DF"/>
            </a:solidFill>
            <a:prstDash val="solid"/>
          </a:ln>
        </p:spPr>
      </p:sp>
      <p:sp>
        <p:nvSpPr>
          <p:cNvPr id="5" name="Text 3"/>
          <p:cNvSpPr/>
          <p:nvPr/>
        </p:nvSpPr>
        <p:spPr>
          <a:xfrm>
            <a:off x="411480" y="6510528"/>
            <a:ext cx="9418320" cy="201168"/>
          </a:xfrm>
          <a:prstGeom prst="rect">
            <a:avLst/>
          </a:prstGeom>
          <a:noFill/>
          <a:ln/>
        </p:spPr>
        <p:txBody>
          <a:bodyPr wrap="square" lIns="0" tIns="0" rIns="0" bIns="0" rtlCol="0" anchor="ctr"/>
          <a:lstStyle/>
          <a:p>
            <a:pPr marL="0" indent="0">
              <a:buNone/>
            </a:pPr>
            <a:r>
              <a:rPr lang="en-US" sz="750" dirty="0">
                <a:solidFill>
                  <a:srgbClr val="5B677A"/>
                </a:solidFill>
              </a:rPr>
              <a:t>CO2 · STM32 GPIO / ADC / Timers / PWM · UG 2nd Year B.Tech CSE-IoT</a:t>
            </a:r>
            <a:endParaRPr lang="en-US" sz="750" dirty="0"/>
          </a:p>
        </p:txBody>
      </p:sp>
      <p:sp>
        <p:nvSpPr>
          <p:cNvPr id="6" name="Text 4"/>
          <p:cNvSpPr/>
          <p:nvPr/>
        </p:nvSpPr>
        <p:spPr>
          <a:xfrm>
            <a:off x="11201400" y="6473952"/>
            <a:ext cx="502920" cy="256032"/>
          </a:xfrm>
          <a:prstGeom prst="rect">
            <a:avLst/>
          </a:prstGeom>
          <a:solidFill>
            <a:srgbClr val="12263A"/>
          </a:solidFill>
          <a:ln>
            <a:solidFill>
              <a:srgbClr val="12263A"/>
            </a:solidFill>
          </a:ln>
        </p:spPr>
        <p:txBody>
          <a:bodyPr wrap="square" lIns="0" tIns="0" rIns="0" bIns="0" rtlCol="0" anchor="ctr"/>
          <a:lstStyle/>
          <a:p>
            <a:pPr marL="0" indent="0" algn="ctr">
              <a:buNone/>
            </a:pPr>
            <a:r>
              <a:rPr lang="en-US" sz="850" b="1" dirty="0">
                <a:solidFill>
                  <a:srgbClr val="FFFFFF"/>
                </a:solidFill>
              </a:rPr>
              <a:t>43</a:t>
            </a:r>
            <a:endParaRPr lang="en-US" sz="850" dirty="0"/>
          </a:p>
        </p:txBody>
      </p:sp>
      <p:sp>
        <p:nvSpPr>
          <p:cNvPr id="8" name="Text 5"/>
          <p:cNvSpPr/>
          <p:nvPr/>
        </p:nvSpPr>
        <p:spPr>
          <a:xfrm>
            <a:off x="731520" y="1920240"/>
            <a:ext cx="1920240" cy="731520"/>
          </a:xfrm>
          <a:prstGeom prst="rect">
            <a:avLst/>
          </a:prstGeom>
          <a:solidFill>
            <a:srgbClr val="FFFFFF"/>
          </a:solidFill>
          <a:ln w="16510">
            <a:solidFill>
              <a:srgbClr val="CAD3DF"/>
            </a:solidFill>
          </a:ln>
        </p:spPr>
        <p:txBody>
          <a:bodyPr wrap="square" lIns="762" tIns="762" rIns="762" bIns="762" rtlCol="0" anchor="ctr">
            <a:normAutofit/>
          </a:bodyPr>
          <a:lstStyle/>
          <a:p>
            <a:pPr marL="0" indent="0" algn="ctr">
              <a:buNone/>
            </a:pPr>
            <a:r>
              <a:rPr lang="en-US" sz="1150" b="1" dirty="0">
                <a:solidFill>
                  <a:srgbClr val="12263A"/>
                </a:solidFill>
                <a:latin typeface="Aptos" pitchFamily="34" charset="0"/>
                <a:ea typeface="Aptos" pitchFamily="34" charset="-122"/>
                <a:cs typeface="Aptos" pitchFamily="34" charset="-120"/>
              </a:rPr>
              <a:t>Potentiometer / LM35</a:t>
            </a:r>
            <a:endParaRPr lang="en-US" sz="1150" dirty="0"/>
          </a:p>
          <a:p>
            <a:pPr marL="0" indent="0" algn="ctr">
              <a:buNone/>
            </a:pPr>
            <a:r>
              <a:rPr lang="en-US" sz="1150" b="1" dirty="0">
                <a:solidFill>
                  <a:srgbClr val="12263A"/>
                </a:solidFill>
                <a:latin typeface="Aptos" pitchFamily="34" charset="0"/>
                <a:ea typeface="Aptos" pitchFamily="34" charset="-122"/>
                <a:cs typeface="Aptos" pitchFamily="34" charset="-120"/>
              </a:rPr>
              <a:t>analog voltage</a:t>
            </a:r>
            <a:endParaRPr lang="en-US" sz="1150" dirty="0"/>
          </a:p>
        </p:txBody>
      </p:sp>
      <p:sp>
        <p:nvSpPr>
          <p:cNvPr id="9" name="Text 6"/>
          <p:cNvSpPr/>
          <p:nvPr/>
        </p:nvSpPr>
        <p:spPr>
          <a:xfrm>
            <a:off x="3154680" y="1920240"/>
            <a:ext cx="1645920" cy="731520"/>
          </a:xfrm>
          <a:prstGeom prst="rect">
            <a:avLst/>
          </a:prstGeom>
          <a:solidFill>
            <a:srgbClr val="FFFFFF"/>
          </a:solidFill>
          <a:ln w="16510">
            <a:solidFill>
              <a:srgbClr val="FF9F1C"/>
            </a:solidFill>
          </a:ln>
        </p:spPr>
        <p:txBody>
          <a:bodyPr wrap="square" lIns="762" tIns="762" rIns="762" bIns="762" rtlCol="0" anchor="ctr">
            <a:normAutofit/>
          </a:bodyPr>
          <a:lstStyle/>
          <a:p>
            <a:pPr marL="0" indent="0" algn="ctr">
              <a:buNone/>
            </a:pPr>
            <a:r>
              <a:rPr lang="en-US" sz="1150" b="1" dirty="0">
                <a:solidFill>
                  <a:srgbClr val="12263A"/>
                </a:solidFill>
                <a:latin typeface="Aptos" pitchFamily="34" charset="0"/>
                <a:ea typeface="Aptos" pitchFamily="34" charset="-122"/>
                <a:cs typeface="Aptos" pitchFamily="34" charset="-120"/>
              </a:rPr>
              <a:t>ADC channel</a:t>
            </a:r>
            <a:endParaRPr lang="en-US" sz="1150" dirty="0"/>
          </a:p>
          <a:p>
            <a:pPr marL="0" indent="0" algn="ctr">
              <a:buNone/>
            </a:pPr>
            <a:r>
              <a:rPr lang="en-US" sz="1150" b="1" dirty="0">
                <a:solidFill>
                  <a:srgbClr val="12263A"/>
                </a:solidFill>
                <a:latin typeface="Aptos" pitchFamily="34" charset="0"/>
                <a:ea typeface="Aptos" pitchFamily="34" charset="-122"/>
                <a:cs typeface="Aptos" pitchFamily="34" charset="-120"/>
              </a:rPr>
              <a:t>read raw value</a:t>
            </a:r>
            <a:endParaRPr lang="en-US" sz="1150" dirty="0"/>
          </a:p>
        </p:txBody>
      </p:sp>
      <p:sp>
        <p:nvSpPr>
          <p:cNvPr id="10" name="Text 7"/>
          <p:cNvSpPr/>
          <p:nvPr/>
        </p:nvSpPr>
        <p:spPr>
          <a:xfrm>
            <a:off x="5349240" y="1920240"/>
            <a:ext cx="1874520" cy="731520"/>
          </a:xfrm>
          <a:prstGeom prst="rect">
            <a:avLst/>
          </a:prstGeom>
          <a:solidFill>
            <a:srgbClr val="FFF3B0"/>
          </a:solidFill>
          <a:ln w="16510">
            <a:solidFill>
              <a:srgbClr val="FF9F1C"/>
            </a:solidFill>
          </a:ln>
        </p:spPr>
        <p:txBody>
          <a:bodyPr wrap="square" lIns="762" tIns="762" rIns="762" bIns="762" rtlCol="0" anchor="ctr">
            <a:normAutofit/>
          </a:bodyPr>
          <a:lstStyle/>
          <a:p>
            <a:pPr marL="0" indent="0" algn="ctr">
              <a:buNone/>
            </a:pPr>
            <a:r>
              <a:rPr lang="en-US" sz="1150" b="1" dirty="0">
                <a:solidFill>
                  <a:srgbClr val="12263A"/>
                </a:solidFill>
                <a:latin typeface="Aptos" pitchFamily="34" charset="0"/>
                <a:ea typeface="Aptos" pitchFamily="34" charset="-122"/>
                <a:cs typeface="Aptos" pitchFamily="34" charset="-120"/>
              </a:rPr>
              <a:t>Firmware</a:t>
            </a:r>
            <a:endParaRPr lang="en-US" sz="1150" dirty="0"/>
          </a:p>
          <a:p>
            <a:pPr marL="0" indent="0" algn="ctr">
              <a:buNone/>
            </a:pPr>
            <a:r>
              <a:rPr lang="en-US" sz="1150" b="1" dirty="0">
                <a:solidFill>
                  <a:srgbClr val="12263A"/>
                </a:solidFill>
                <a:latin typeface="Aptos" pitchFamily="34" charset="0"/>
                <a:ea typeface="Aptos" pitchFamily="34" charset="-122"/>
                <a:cs typeface="Aptos" pitchFamily="34" charset="-120"/>
              </a:rPr>
              <a:t>scale + threshold</a:t>
            </a:r>
            <a:endParaRPr lang="en-US" sz="1150" dirty="0"/>
          </a:p>
        </p:txBody>
      </p:sp>
      <p:sp>
        <p:nvSpPr>
          <p:cNvPr id="11" name="Text 8"/>
          <p:cNvSpPr/>
          <p:nvPr/>
        </p:nvSpPr>
        <p:spPr>
          <a:xfrm>
            <a:off x="7818120" y="1920240"/>
            <a:ext cx="1645920" cy="731520"/>
          </a:xfrm>
          <a:prstGeom prst="rect">
            <a:avLst/>
          </a:prstGeom>
          <a:solidFill>
            <a:srgbClr val="FFFFFF"/>
          </a:solidFill>
          <a:ln w="16510">
            <a:solidFill>
              <a:srgbClr val="6C63FF"/>
            </a:solidFill>
          </a:ln>
        </p:spPr>
        <p:txBody>
          <a:bodyPr wrap="square" lIns="762" tIns="762" rIns="762" bIns="762" rtlCol="0" anchor="ctr">
            <a:normAutofit/>
          </a:bodyPr>
          <a:lstStyle/>
          <a:p>
            <a:pPr marL="0" indent="0" algn="ctr">
              <a:buNone/>
            </a:pPr>
            <a:r>
              <a:rPr lang="en-US" sz="1150" b="1" dirty="0">
                <a:solidFill>
                  <a:srgbClr val="12263A"/>
                </a:solidFill>
                <a:latin typeface="Aptos" pitchFamily="34" charset="0"/>
                <a:ea typeface="Aptos" pitchFamily="34" charset="-122"/>
                <a:cs typeface="Aptos" pitchFamily="34" charset="-120"/>
              </a:rPr>
              <a:t>Timer PWM</a:t>
            </a:r>
            <a:endParaRPr lang="en-US" sz="1150" dirty="0"/>
          </a:p>
          <a:p>
            <a:pPr marL="0" indent="0" algn="ctr">
              <a:buNone/>
            </a:pPr>
            <a:r>
              <a:rPr lang="en-US" sz="1150" b="1" dirty="0">
                <a:solidFill>
                  <a:srgbClr val="12263A"/>
                </a:solidFill>
                <a:latin typeface="Aptos" pitchFamily="34" charset="0"/>
                <a:ea typeface="Aptos" pitchFamily="34" charset="-122"/>
                <a:cs typeface="Aptos" pitchFamily="34" charset="-120"/>
              </a:rPr>
              <a:t>CCR update</a:t>
            </a:r>
            <a:endParaRPr lang="en-US" sz="1150" dirty="0"/>
          </a:p>
        </p:txBody>
      </p:sp>
      <p:sp>
        <p:nvSpPr>
          <p:cNvPr id="12" name="Text 9"/>
          <p:cNvSpPr/>
          <p:nvPr/>
        </p:nvSpPr>
        <p:spPr>
          <a:xfrm>
            <a:off x="9966960" y="1920240"/>
            <a:ext cx="1645920" cy="731520"/>
          </a:xfrm>
          <a:prstGeom prst="rect">
            <a:avLst/>
          </a:prstGeom>
          <a:solidFill>
            <a:srgbClr val="FFFFFF"/>
          </a:solidFill>
          <a:ln w="16510">
            <a:solidFill>
              <a:srgbClr val="2A9D8F"/>
            </a:solidFill>
          </a:ln>
        </p:spPr>
        <p:txBody>
          <a:bodyPr wrap="square" lIns="762" tIns="762" rIns="762" bIns="762" rtlCol="0" anchor="ctr">
            <a:normAutofit/>
          </a:bodyPr>
          <a:lstStyle/>
          <a:p>
            <a:pPr marL="0" indent="0" algn="ctr">
              <a:buNone/>
            </a:pPr>
            <a:r>
              <a:rPr lang="en-US" sz="1150" b="1" dirty="0">
                <a:solidFill>
                  <a:srgbClr val="12263A"/>
                </a:solidFill>
                <a:latin typeface="Aptos" pitchFamily="34" charset="0"/>
                <a:ea typeface="Aptos" pitchFamily="34" charset="-122"/>
                <a:cs typeface="Aptos" pitchFamily="34" charset="-120"/>
              </a:rPr>
              <a:t>Motor/LED output</a:t>
            </a:r>
            <a:endParaRPr lang="en-US" sz="1150" dirty="0"/>
          </a:p>
          <a:p>
            <a:pPr marL="0" indent="0" algn="ctr">
              <a:buNone/>
            </a:pPr>
            <a:r>
              <a:rPr lang="en-US" sz="1150" b="1" dirty="0">
                <a:solidFill>
                  <a:srgbClr val="12263A"/>
                </a:solidFill>
                <a:latin typeface="Aptos" pitchFamily="34" charset="0"/>
                <a:ea typeface="Aptos" pitchFamily="34" charset="-122"/>
                <a:cs typeface="Aptos" pitchFamily="34" charset="-120"/>
              </a:rPr>
              <a:t>speed/brightness</a:t>
            </a:r>
            <a:endParaRPr lang="en-US" sz="1150" dirty="0"/>
          </a:p>
        </p:txBody>
      </p:sp>
      <p:sp>
        <p:nvSpPr>
          <p:cNvPr id="13" name="Shape 10"/>
          <p:cNvSpPr/>
          <p:nvPr/>
        </p:nvSpPr>
        <p:spPr>
          <a:xfrm>
            <a:off x="2724912" y="2286000"/>
            <a:ext cx="338328" cy="0"/>
          </a:xfrm>
          <a:prstGeom prst="line">
            <a:avLst/>
          </a:prstGeom>
          <a:noFill/>
          <a:ln w="15240">
            <a:solidFill>
              <a:srgbClr val="5B677A"/>
            </a:solidFill>
            <a:prstDash val="solid"/>
            <a:headEnd type="none"/>
            <a:tailEnd type="triangle"/>
          </a:ln>
        </p:spPr>
      </p:sp>
      <p:sp>
        <p:nvSpPr>
          <p:cNvPr id="14" name="Shape 11"/>
          <p:cNvSpPr/>
          <p:nvPr/>
        </p:nvSpPr>
        <p:spPr>
          <a:xfrm>
            <a:off x="4864608" y="2286000"/>
            <a:ext cx="393192" cy="0"/>
          </a:xfrm>
          <a:prstGeom prst="line">
            <a:avLst/>
          </a:prstGeom>
          <a:noFill/>
          <a:ln w="15240">
            <a:solidFill>
              <a:srgbClr val="5B677A"/>
            </a:solidFill>
            <a:prstDash val="solid"/>
            <a:headEnd type="none"/>
            <a:tailEnd type="triangle"/>
          </a:ln>
        </p:spPr>
      </p:sp>
      <p:sp>
        <p:nvSpPr>
          <p:cNvPr id="15" name="Shape 12"/>
          <p:cNvSpPr/>
          <p:nvPr/>
        </p:nvSpPr>
        <p:spPr>
          <a:xfrm>
            <a:off x="7315200" y="2286000"/>
            <a:ext cx="411480" cy="0"/>
          </a:xfrm>
          <a:prstGeom prst="line">
            <a:avLst/>
          </a:prstGeom>
          <a:noFill/>
          <a:ln w="15240">
            <a:solidFill>
              <a:srgbClr val="5B677A"/>
            </a:solidFill>
            <a:prstDash val="solid"/>
            <a:headEnd type="none"/>
            <a:tailEnd type="triangle"/>
          </a:ln>
        </p:spPr>
      </p:sp>
      <p:sp>
        <p:nvSpPr>
          <p:cNvPr id="16" name="Shape 13"/>
          <p:cNvSpPr/>
          <p:nvPr/>
        </p:nvSpPr>
        <p:spPr>
          <a:xfrm>
            <a:off x="9528048" y="2286000"/>
            <a:ext cx="347472" cy="0"/>
          </a:xfrm>
          <a:prstGeom prst="line">
            <a:avLst/>
          </a:prstGeom>
          <a:noFill/>
          <a:ln w="15240">
            <a:solidFill>
              <a:srgbClr val="5B677A"/>
            </a:solidFill>
            <a:prstDash val="solid"/>
            <a:headEnd type="none"/>
            <a:tailEnd type="triangle"/>
          </a:ln>
        </p:spPr>
      </p:sp>
      <p:sp>
        <p:nvSpPr>
          <p:cNvPr id="17" name="Text 14"/>
          <p:cNvSpPr/>
          <p:nvPr/>
        </p:nvSpPr>
        <p:spPr>
          <a:xfrm>
            <a:off x="868680" y="3657600"/>
            <a:ext cx="4572000" cy="310896"/>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400" b="1" dirty="0">
                <a:solidFill>
                  <a:srgbClr val="2A9D8F"/>
                </a:solidFill>
                <a:latin typeface="Aptos" pitchFamily="34" charset="0"/>
                <a:ea typeface="Aptos" pitchFamily="34" charset="-122"/>
                <a:cs typeface="Aptos" pitchFamily="34" charset="-120"/>
              </a:rPr>
              <a:t>Functional requirements</a:t>
            </a:r>
            <a:endParaRPr lang="en-US" sz="1400" dirty="0"/>
          </a:p>
        </p:txBody>
      </p:sp>
      <p:sp>
        <p:nvSpPr>
          <p:cNvPr id="18" name="Text 15"/>
          <p:cNvSpPr/>
          <p:nvPr/>
        </p:nvSpPr>
        <p:spPr>
          <a:xfrm>
            <a:off x="868680" y="3968496"/>
            <a:ext cx="4572000" cy="1243584"/>
          </a:xfrm>
          <a:prstGeom prst="rect">
            <a:avLst/>
          </a:prstGeom>
          <a:solidFill>
            <a:srgbClr val="FFFFFF"/>
          </a:solidFill>
          <a:ln w="12700">
            <a:solidFill>
              <a:srgbClr val="2A9D8F"/>
            </a:solidFill>
          </a:ln>
        </p:spPr>
        <p:txBody>
          <a:bodyPr wrap="square" lIns="1270" tIns="1270" rIns="1270" bIns="1270" rtlCol="0" anchor="ctr">
            <a:normAutofit/>
          </a:bodyPr>
          <a:lstStyle/>
          <a:p>
            <a:pPr marL="0" indent="0" algn="l">
              <a:buNone/>
            </a:pPr>
            <a:r>
              <a:rPr lang="en-US" sz="1280" dirty="0">
                <a:solidFill>
                  <a:srgbClr val="1D2433"/>
                </a:solidFill>
                <a:latin typeface="Aptos" pitchFamily="34" charset="0"/>
                <a:ea typeface="Aptos" pitchFamily="34" charset="-122"/>
                <a:cs typeface="Aptos" pitchFamily="34" charset="-120"/>
              </a:rPr>
              <a:t>• Read ADC every 100 ms</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 Convert raw count to voltage</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 Map voltage to duty cycle</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 Turn alert LED ON above threshold</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 Print/log status if UART is available</a:t>
            </a:r>
            <a:endParaRPr lang="en-US" sz="1280" dirty="0"/>
          </a:p>
        </p:txBody>
      </p:sp>
      <p:sp>
        <p:nvSpPr>
          <p:cNvPr id="19" name="Text 16"/>
          <p:cNvSpPr/>
          <p:nvPr/>
        </p:nvSpPr>
        <p:spPr>
          <a:xfrm>
            <a:off x="6446520" y="3657600"/>
            <a:ext cx="4251960" cy="310896"/>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400" b="1" dirty="0">
                <a:solidFill>
                  <a:srgbClr val="1E6091"/>
                </a:solidFill>
                <a:latin typeface="Aptos" pitchFamily="34" charset="0"/>
                <a:ea typeface="Aptos" pitchFamily="34" charset="-122"/>
                <a:cs typeface="Aptos" pitchFamily="34" charset="-120"/>
              </a:rPr>
              <a:t>Assessment rubric</a:t>
            </a:r>
            <a:endParaRPr lang="en-US" sz="1400" dirty="0"/>
          </a:p>
        </p:txBody>
      </p:sp>
      <p:sp>
        <p:nvSpPr>
          <p:cNvPr id="20" name="Text 17"/>
          <p:cNvSpPr/>
          <p:nvPr/>
        </p:nvSpPr>
        <p:spPr>
          <a:xfrm>
            <a:off x="6446520" y="3968496"/>
            <a:ext cx="4251960" cy="1243584"/>
          </a:xfrm>
          <a:prstGeom prst="rect">
            <a:avLst/>
          </a:prstGeom>
          <a:solidFill>
            <a:srgbClr val="FFFFFF"/>
          </a:solidFill>
          <a:ln w="12700">
            <a:solidFill>
              <a:srgbClr val="1E6091"/>
            </a:solidFill>
          </a:ln>
        </p:spPr>
        <p:txBody>
          <a:bodyPr wrap="square" lIns="1270" tIns="1270" rIns="1270" bIns="1270" rtlCol="0" anchor="ctr">
            <a:normAutofit/>
          </a:bodyPr>
          <a:lstStyle/>
          <a:p>
            <a:pPr marL="0" indent="0" algn="l">
              <a:buNone/>
            </a:pPr>
            <a:r>
              <a:rPr lang="en-US" sz="1280" dirty="0">
                <a:solidFill>
                  <a:srgbClr val="1D2433"/>
                </a:solidFill>
                <a:latin typeface="Aptos" pitchFamily="34" charset="0"/>
                <a:ea typeface="Aptos" pitchFamily="34" charset="-122"/>
                <a:cs typeface="Aptos" pitchFamily="34" charset="-120"/>
              </a:rPr>
              <a:t>Configuration table: 20%</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Numerical calculations: 25%</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Working demo/observation: 30%</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Debug explanation: 15%</a:t>
            </a:r>
            <a:endParaRPr lang="en-US" sz="1280" dirty="0"/>
          </a:p>
          <a:p>
            <a:pPr marL="0" indent="0" algn="l">
              <a:buNone/>
            </a:pPr>
            <a:r>
              <a:rPr lang="en-US" sz="1280" dirty="0">
                <a:solidFill>
                  <a:srgbClr val="1D2433"/>
                </a:solidFill>
                <a:latin typeface="Aptos" pitchFamily="34" charset="0"/>
                <a:ea typeface="Aptos" pitchFamily="34" charset="-122"/>
                <a:cs typeface="Aptos" pitchFamily="34" charset="-120"/>
              </a:rPr>
              <a:t>Clean code/commenting: 10%</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4975</Words>
  <Application>Microsoft Office PowerPoint</Application>
  <PresentationFormat>Widescreen</PresentationFormat>
  <Paragraphs>696</Paragraphs>
  <Slides>38</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KL University / Department of IoT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CO2 STM32 GPIO ADC Timers PWM Lecture</dc:title>
  <dc:subject>CO2 STM32 GPIO, ADC, Timers, PWM</dc:subject>
  <dc:creator>OpenAI</dc:creator>
  <cp:lastModifiedBy>Dr. Prabakaran N</cp:lastModifiedBy>
  <cp:revision>4</cp:revision>
  <dcterms:created xsi:type="dcterms:W3CDTF">2026-07-16T07:25:45Z</dcterms:created>
  <dcterms:modified xsi:type="dcterms:W3CDTF">2026-07-28T08:59:20Z</dcterms:modified>
</cp:coreProperties>
</file>