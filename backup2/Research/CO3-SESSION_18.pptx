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352" r:id="rId2"/>
    <p:sldId id="353" r:id="rId3"/>
    <p:sldId id="338" r:id="rId4"/>
    <p:sldId id="274" r:id="rId5"/>
    <p:sldId id="339" r:id="rId6"/>
    <p:sldId id="337" r:id="rId7"/>
    <p:sldId id="340" r:id="rId8"/>
    <p:sldId id="384" r:id="rId9"/>
    <p:sldId id="385" r:id="rId10"/>
    <p:sldId id="275" r:id="rId11"/>
    <p:sldId id="276" r:id="rId12"/>
    <p:sldId id="341" r:id="rId13"/>
    <p:sldId id="382" r:id="rId14"/>
    <p:sldId id="380" r:id="rId15"/>
    <p:sldId id="277" r:id="rId16"/>
    <p:sldId id="383" r:id="rId17"/>
    <p:sldId id="278" r:id="rId18"/>
    <p:sldId id="342" r:id="rId19"/>
    <p:sldId id="38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9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516E4-2494-48F2-B51F-1B6C7DA6DE6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414D9-A2E5-479F-89D2-6B8FC17A6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904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15EE-0D2F-438F-87AD-F7B2C87A3489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2543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749BA-C184-4B71-8FDF-4B5888A9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12439-E187-4CF7-9B31-7246800AD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420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749BA-C184-4B71-8FDF-4B5888A9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12439-E187-4CF7-9B31-7246800AD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460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749BA-C184-4B71-8FDF-4B5888A9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12439-E187-4CF7-9B31-7246800AD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941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749BA-C184-4B71-8FDF-4B5888A9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12439-E187-4CF7-9B31-7246800AD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99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749BA-C184-4B71-8FDF-4B5888A9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12439-E187-4CF7-9B31-7246800AD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889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749BA-C184-4B71-8FDF-4B5888A9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12439-E187-4CF7-9B31-7246800AD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65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749BA-C184-4B71-8FDF-4B5888A9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12439-E187-4CF7-9B31-7246800AD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019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749BA-C184-4B71-8FDF-4B5888A9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12439-E187-4CF7-9B31-7246800AD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254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749BA-C184-4B71-8FDF-4B5888A9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12439-E187-4CF7-9B31-7246800AD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82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749BA-C184-4B71-8FDF-4B5888A9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712439-E187-4CF7-9B31-7246800AD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369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346208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356" y="994293"/>
            <a:ext cx="4526197" cy="4975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5521231" y="2938733"/>
            <a:ext cx="5140429" cy="2589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02" b="1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  <a:sym typeface="BioRhyme ExtraBold"/>
              </a:rPr>
              <a:t>     COURSE NAME : </a:t>
            </a:r>
            <a:r>
              <a:rPr lang="en-US" sz="2102" b="1" dirty="0">
                <a:latin typeface="Calibri" panose="020F0502020204030204" charset="0"/>
                <a:cs typeface="Calibri" panose="020F0502020204030204" charset="0"/>
                <a:sym typeface="BioRhyme ExtraBold"/>
              </a:rPr>
              <a:t>Operating Systems</a:t>
            </a:r>
            <a:br>
              <a:rPr lang="en-US" sz="2102" b="1" dirty="0">
                <a:latin typeface="Calibri" panose="020F0502020204030204" charset="0"/>
                <a:cs typeface="Calibri" panose="020F0502020204030204" charset="0"/>
              </a:rPr>
            </a:br>
            <a:r>
              <a:rPr lang="en-US" sz="2102" b="1" dirty="0">
                <a:latin typeface="Calibri" panose="020F0502020204030204" charset="0"/>
                <a:cs typeface="Calibri" panose="020F0502020204030204" charset="0"/>
                <a:sym typeface="BioRhyme ExtraBold"/>
              </a:rPr>
              <a:t> </a:t>
            </a:r>
            <a:br>
              <a:rPr lang="en-US" sz="2102" b="1" dirty="0">
                <a:latin typeface="Calibri" panose="020F0502020204030204" charset="0"/>
                <a:cs typeface="Calibri" panose="020F0502020204030204" charset="0"/>
              </a:rPr>
            </a:br>
            <a:r>
              <a:rPr lang="en-US" sz="2102" b="1" dirty="0"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lang="en-US" sz="2102" b="1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  <a:sym typeface="BioRhyme ExtraBold"/>
              </a:rPr>
              <a:t>COURSE CODE: </a:t>
            </a:r>
            <a:r>
              <a:rPr lang="en-US" sz="2400" b="1" dirty="0"/>
              <a:t>25CS2102</a:t>
            </a:r>
            <a:endParaRPr lang="en-US" altLang="en-IN" sz="2102" b="1" dirty="0">
              <a:latin typeface="Calibri" panose="020F0502020204030204" charset="0"/>
              <a:cs typeface="Calibri" panose="020F0502020204030204" charset="0"/>
            </a:endParaRPr>
          </a:p>
          <a:p>
            <a:pPr algn="ctr">
              <a:defRPr/>
            </a:pPr>
            <a:endParaRPr lang="en-US" sz="2102" b="1" dirty="0">
              <a:solidFill>
                <a:schemeClr val="bg1">
                  <a:lumMod val="50000"/>
                </a:schemeClr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BioRhyme ExtraBold"/>
            </a:endParaRPr>
          </a:p>
          <a:p>
            <a:pPr algn="ctr">
              <a:defRPr/>
            </a:pPr>
            <a:r>
              <a:rPr lang="en-US" sz="2102" b="1" dirty="0">
                <a:ea typeface="BioRhyme ExtraBold"/>
                <a:cs typeface="Poppins" panose="00000500000000000000" pitchFamily="2" charset="0"/>
                <a:sym typeface="BioRhyme ExtraBold"/>
              </a:rPr>
              <a:t>Topic</a:t>
            </a:r>
            <a:r>
              <a:rPr lang="en-US" sz="2102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: </a:t>
            </a:r>
          </a:p>
          <a:p>
            <a:pPr indent="343205" algn="ctr">
              <a:defRPr/>
            </a:pPr>
            <a:r>
              <a:rPr lang="en-US" sz="2409" dirty="0">
                <a:solidFill>
                  <a:srgbClr val="FF0000"/>
                </a:solidFill>
              </a:rPr>
              <a:t>Page replacement: FIFO,  LRU, and the clock algorithm.</a:t>
            </a:r>
            <a:endParaRPr lang="en-US" sz="2409" b="1" dirty="0">
              <a:solidFill>
                <a:srgbClr val="FF0000"/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803322" y="2034834"/>
            <a:ext cx="4576249" cy="4622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2402" b="1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Department of CSE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9080B1BF-8D8C-FD6B-D6D5-A64664F4B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234" y="143550"/>
            <a:ext cx="1998125" cy="602307"/>
          </a:xfrm>
          <a:prstGeom prst="rect">
            <a:avLst/>
          </a:prstGeom>
          <a:noFill/>
        </p:spPr>
      </p:pic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BE93D709-F18C-1E1E-563C-B509A51F4A9E}"/>
              </a:ext>
            </a:extLst>
          </p:cNvPr>
          <p:cNvSpPr/>
          <p:nvPr/>
        </p:nvSpPr>
        <p:spPr>
          <a:xfrm>
            <a:off x="7345393" y="5799876"/>
            <a:ext cx="1676337" cy="339791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18</a:t>
            </a:r>
            <a:endParaRPr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7"/>
          <p:cNvSpPr/>
          <p:nvPr/>
        </p:nvSpPr>
        <p:spPr>
          <a:xfrm>
            <a:off x="4741240" y="922075"/>
            <a:ext cx="3339232" cy="28029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2" dirty="0">
                <a:latin typeface="+mj-lt"/>
                <a:cs typeface="+mj-lt"/>
              </a:rPr>
              <a:t>AIM OF THE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2554" y="1261479"/>
            <a:ext cx="8056105" cy="55725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68644" tIns="34322" rIns="68644" bIns="34322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351" dirty="0">
                <a:latin typeface="Calibri" panose="020F0502020204030204" charset="0"/>
                <a:cs typeface="Calibri" panose="020F0502020204030204" charset="0"/>
              </a:rPr>
              <a:t>To understand FIFO, LRU, and Clock page replacement algorithms used in virtual memory management.</a:t>
            </a:r>
          </a:p>
        </p:txBody>
      </p:sp>
      <p:sp>
        <p:nvSpPr>
          <p:cNvPr id="9" name="Rounded Rectangle 17"/>
          <p:cNvSpPr/>
          <p:nvPr/>
        </p:nvSpPr>
        <p:spPr>
          <a:xfrm>
            <a:off x="4740763" y="1841137"/>
            <a:ext cx="3339708" cy="36467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2" dirty="0">
                <a:latin typeface="+mj-lt"/>
                <a:cs typeface="+mj-lt"/>
              </a:rPr>
              <a:t>INSTRUCTIONAL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8133" y="2247595"/>
            <a:ext cx="8055629" cy="164983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68644" tIns="34322" rIns="68644" bIns="34322" rtlCol="0" anchor="t">
            <a:noAutofit/>
          </a:bodyPr>
          <a:lstStyle/>
          <a:p>
            <a:r>
              <a:rPr lang="en-IN" sz="1405" b="1" dirty="0"/>
              <a:t>This Session is Designed to:</a:t>
            </a:r>
          </a:p>
          <a:p>
            <a:endParaRPr lang="en-IN" sz="1405" b="1" dirty="0"/>
          </a:p>
          <a:p>
            <a:r>
              <a:rPr lang="en-IN" sz="1405" dirty="0"/>
              <a:t>Explain the need for page replacement algorithms. </a:t>
            </a:r>
          </a:p>
          <a:p>
            <a:r>
              <a:rPr lang="en-IN" sz="1405" dirty="0"/>
              <a:t>Describe the FIFO page replacement algorithm. </a:t>
            </a:r>
          </a:p>
          <a:p>
            <a:r>
              <a:rPr lang="en-IN" sz="1405" dirty="0"/>
              <a:t>Explain the LRU page replacement algorithm. </a:t>
            </a:r>
          </a:p>
          <a:p>
            <a:r>
              <a:rPr lang="en-IN" sz="1405" dirty="0"/>
              <a:t>Discuss the Clock (Second Chance) algorithm. </a:t>
            </a:r>
          </a:p>
          <a:p>
            <a:r>
              <a:rPr lang="en-IN" sz="1405" dirty="0"/>
              <a:t>Compare the performance of FIFO, LRU, and Clock algorithms.</a:t>
            </a:r>
          </a:p>
          <a:p>
            <a:endParaRPr lang="en-US" altLang="en-US" sz="135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2" name="Rounded Rectangle 17"/>
          <p:cNvSpPr/>
          <p:nvPr/>
        </p:nvSpPr>
        <p:spPr>
          <a:xfrm>
            <a:off x="4740286" y="3906169"/>
            <a:ext cx="3340662" cy="296026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2" dirty="0">
                <a:latin typeface="+mj-lt"/>
                <a:cs typeface="+mj-lt"/>
              </a:rPr>
              <a:t>LEARNING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2442" y="4202421"/>
            <a:ext cx="8055945" cy="179090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68644" tIns="34322" rIns="68644" bIns="34322" rtlCol="0" anchor="t">
            <a:spAutoFit/>
          </a:bodyPr>
          <a:lstStyle/>
          <a:p>
            <a:r>
              <a:rPr lang="en-IN" sz="1405" b="1" dirty="0"/>
              <a:t>At the end of this session, you should be able to:</a:t>
            </a:r>
          </a:p>
          <a:p>
            <a:endParaRPr lang="en-IN" sz="1405" b="1" dirty="0"/>
          </a:p>
          <a:p>
            <a:r>
              <a:rPr lang="en-IN" sz="1405" dirty="0"/>
              <a:t>Define page replacement in virtual memory. </a:t>
            </a:r>
          </a:p>
          <a:p>
            <a:r>
              <a:rPr lang="en-IN" sz="1405" dirty="0"/>
              <a:t>Explain the working of FIFO page replacement. </a:t>
            </a:r>
          </a:p>
          <a:p>
            <a:r>
              <a:rPr lang="en-IN" sz="1405" dirty="0"/>
              <a:t>Describe the LRU page replacement algorithm. </a:t>
            </a:r>
          </a:p>
          <a:p>
            <a:r>
              <a:rPr lang="en-IN" sz="1405" dirty="0"/>
              <a:t>Explain the Clock (Second Chance) algorithm. </a:t>
            </a:r>
          </a:p>
          <a:p>
            <a:r>
              <a:rPr lang="en-IN" sz="1405" dirty="0"/>
              <a:t>Compare FIFO, LRU, and Clock algorithms based on their advantages and limitations.</a:t>
            </a:r>
          </a:p>
          <a:p>
            <a:pPr marL="257404" indent="-257404">
              <a:buFontTx/>
              <a:buAutoNum type="arabicPeriod"/>
            </a:pPr>
            <a:endParaRPr lang="en-US" altLang="en-US" sz="1351" dirty="0"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D8BE2954-108B-876C-9AF2-7C9D6BD10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567" y="105953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10" grpId="0" bldLvl="0" animBg="1"/>
      <p:bldP spid="12" grpId="0" bldLvl="0" animBg="1"/>
      <p:bldP spid="16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CE9ADBA9-495B-E660-9CFC-C0052C725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5" y="1522885"/>
            <a:ext cx="8312150" cy="495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If new page is brought in, need to chose a page to evict 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Don’t want to evict heavily used pages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If page has been written to, need to copy it to disk. 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Otherwise, a good copy is on the disk=&gt;can write over it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09264922-B072-F998-7C8F-C2B53C6D4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48" y="468172"/>
            <a:ext cx="8312151" cy="674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Page Replacement Algorithms</a:t>
            </a: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FD0A893B-617C-BB3C-70E7-D92DDD943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234" y="143550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EC11BD40-85F5-EBFB-D8C3-0B23B8253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1597026"/>
            <a:ext cx="8312150" cy="495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Optimal page replacement algorithm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Not recently used page replacement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First-in, first-out page replacement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Second chance page replacement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Clock page replacement 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Least recently used page replacement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Working set page replacement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WSClock page replacement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BC6A5786-1D2C-12D3-8079-3EC81AB4A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168" y="424282"/>
            <a:ext cx="8180832" cy="718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Page Replacement Algorithms-the Laundry List</a:t>
            </a: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5693E25C-A2A6-274B-123A-EBD5DEB2C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234" y="143550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5380B2FF-DE1A-1999-E5A9-257843BB4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1597026"/>
            <a:ext cx="8312150" cy="495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Pick the one which will not used before the longest time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Not possible unless know when pages will be referenced (crystal ball)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Used as ideal reference algorithm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AE8A6A91-A7B5-B1E6-8E55-EC9741C46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4355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Optimal Page Replacement</a:t>
            </a: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D4D94601-4E1D-2CE7-C911-99C138C33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234" y="143550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504761D4-036C-CBF8-67F6-F26EF9937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1538505"/>
            <a:ext cx="8312150" cy="495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1066800" indent="-609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Use R and M bits 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Periodically clear R bit</a:t>
            </a:r>
          </a:p>
          <a:p>
            <a:pPr lvl="1"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Class 0: not referenced, not modified</a:t>
            </a:r>
          </a:p>
          <a:p>
            <a:pPr lvl="1"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Class 1: not referenced, modified</a:t>
            </a:r>
          </a:p>
          <a:p>
            <a:pPr lvl="1"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Class 2: referenced, not modified</a:t>
            </a:r>
          </a:p>
          <a:p>
            <a:pPr lvl="1"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Class 3: referenced, modified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Pick lowest priority page to evict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A9B89273-E67A-DDEB-3B8A-004BA2DF7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1280" y="-819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Not recently used</a:t>
            </a: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5EBD1054-1D18-17F1-741D-21830B1E4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234" y="143550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8FBB6EE1-A5FC-F3F6-6F98-DB569A10B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1597026"/>
            <a:ext cx="8312150" cy="495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Keep list ordered by time (latest to arrive at the end of the list)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Evict the oldest, i.e. head of the line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Easy to implement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Oldest might be most heavily used! No knowledge of use is included in FIFO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A42DF15C-25C9-7010-0CAB-F12652748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867" y="174357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  FIFO</a:t>
            </a: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45FFD556-45BA-0AC4-6E0A-EA7FB1C81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234" y="143550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48320" y="-7472"/>
            <a:ext cx="7894030" cy="829581"/>
          </a:xfrm>
          <a:prstGeom prst="rect">
            <a:avLst/>
          </a:prstGeom>
        </p:spPr>
        <p:txBody>
          <a:bodyPr vert="horz" wrap="square" lIns="0" tIns="272918" rIns="0" bIns="0" rtlCol="0">
            <a:spAutoFit/>
          </a:bodyPr>
          <a:lstStyle/>
          <a:p>
            <a:pPr marL="1348632">
              <a:lnSpc>
                <a:spcPct val="100000"/>
              </a:lnSpc>
              <a:spcBef>
                <a:spcPts val="95"/>
              </a:spcBef>
            </a:pPr>
            <a:r>
              <a:rPr sz="3600" b="1" spc="-10" dirty="0"/>
              <a:t>First-In-First-</a:t>
            </a:r>
            <a:r>
              <a:rPr sz="3600" b="1" dirty="0"/>
              <a:t>Out</a:t>
            </a:r>
            <a:r>
              <a:rPr sz="3600" b="1" spc="15" dirty="0"/>
              <a:t> </a:t>
            </a:r>
            <a:r>
              <a:rPr sz="3600" b="1" dirty="0"/>
              <a:t>(FIFO)</a:t>
            </a:r>
            <a:r>
              <a:rPr sz="3600" b="1" spc="15" dirty="0"/>
              <a:t> </a:t>
            </a:r>
            <a:r>
              <a:rPr sz="3600" b="1"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21998" y="1086114"/>
            <a:ext cx="5724136" cy="688349"/>
          </a:xfrm>
          <a:prstGeom prst="rect">
            <a:avLst/>
          </a:prstGeom>
        </p:spPr>
        <p:txBody>
          <a:bodyPr vert="horz" wrap="square" lIns="0" tIns="98791" rIns="0" bIns="0" rtlCol="0">
            <a:spAutoFit/>
          </a:bodyPr>
          <a:lstStyle/>
          <a:p>
            <a:pPr marL="356278" indent="-343531">
              <a:spcBef>
                <a:spcPts val="778"/>
              </a:spcBef>
              <a:buClr>
                <a:srgbClr val="656500"/>
              </a:buClr>
              <a:buSzPct val="87500"/>
              <a:buFont typeface="Wingdings"/>
              <a:buChar char=""/>
              <a:tabLst>
                <a:tab pos="356278" algn="l"/>
              </a:tabLst>
            </a:pPr>
            <a:r>
              <a:rPr sz="1606" dirty="0">
                <a:latin typeface="Arial MT"/>
                <a:cs typeface="Arial MT"/>
              </a:rPr>
              <a:t>Reference</a:t>
            </a:r>
            <a:r>
              <a:rPr sz="1606" spc="-2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string:</a:t>
            </a:r>
            <a:r>
              <a:rPr sz="1606" spc="-1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1,</a:t>
            </a:r>
            <a:r>
              <a:rPr sz="1606" spc="-1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2,</a:t>
            </a:r>
            <a:r>
              <a:rPr sz="1606" spc="-15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3,</a:t>
            </a:r>
            <a:r>
              <a:rPr sz="1606" spc="-1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4, 1,</a:t>
            </a:r>
            <a:r>
              <a:rPr sz="1606" spc="-1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2,</a:t>
            </a:r>
            <a:r>
              <a:rPr sz="1606" spc="-15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5,</a:t>
            </a:r>
            <a:r>
              <a:rPr sz="1606" spc="-1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1,</a:t>
            </a:r>
            <a:r>
              <a:rPr sz="1606" spc="-1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2,</a:t>
            </a:r>
            <a:r>
              <a:rPr sz="1606" spc="-1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3,</a:t>
            </a:r>
            <a:r>
              <a:rPr sz="1606" spc="-15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4,</a:t>
            </a:r>
            <a:r>
              <a:rPr sz="1606" spc="-10" dirty="0">
                <a:latin typeface="Arial MT"/>
                <a:cs typeface="Arial MT"/>
              </a:rPr>
              <a:t> </a:t>
            </a:r>
            <a:r>
              <a:rPr sz="1606" spc="-50" dirty="0">
                <a:latin typeface="Arial MT"/>
                <a:cs typeface="Arial MT"/>
              </a:rPr>
              <a:t>5</a:t>
            </a:r>
            <a:endParaRPr sz="1606">
              <a:latin typeface="Arial MT"/>
              <a:cs typeface="Arial MT"/>
            </a:endParaRPr>
          </a:p>
          <a:p>
            <a:pPr marL="356278" indent="-343531">
              <a:spcBef>
                <a:spcPts val="683"/>
              </a:spcBef>
              <a:buClr>
                <a:srgbClr val="656500"/>
              </a:buClr>
              <a:buSzPct val="87500"/>
              <a:buFont typeface="Wingdings"/>
              <a:buChar char=""/>
              <a:tabLst>
                <a:tab pos="356278" algn="l"/>
              </a:tabLst>
            </a:pPr>
            <a:r>
              <a:rPr sz="1606" dirty="0">
                <a:latin typeface="Arial MT"/>
                <a:cs typeface="Arial MT"/>
              </a:rPr>
              <a:t>3</a:t>
            </a:r>
            <a:r>
              <a:rPr sz="1606" spc="-2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frames</a:t>
            </a:r>
            <a:r>
              <a:rPr sz="1606" spc="-2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(3</a:t>
            </a:r>
            <a:r>
              <a:rPr sz="1606" spc="-2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pages</a:t>
            </a:r>
            <a:r>
              <a:rPr sz="1606" spc="-2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can</a:t>
            </a:r>
            <a:r>
              <a:rPr sz="1606" spc="-2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be</a:t>
            </a:r>
            <a:r>
              <a:rPr sz="1606" spc="-2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in</a:t>
            </a:r>
            <a:r>
              <a:rPr sz="1606" spc="-2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memory</a:t>
            </a:r>
            <a:r>
              <a:rPr sz="1606" spc="-35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at</a:t>
            </a:r>
            <a:r>
              <a:rPr sz="1606" spc="-2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a</a:t>
            </a:r>
            <a:r>
              <a:rPr sz="1606" spc="-15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time</a:t>
            </a:r>
            <a:r>
              <a:rPr sz="1606" spc="-2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per</a:t>
            </a:r>
            <a:r>
              <a:rPr sz="1606" spc="-15" dirty="0">
                <a:latin typeface="Arial MT"/>
                <a:cs typeface="Arial MT"/>
              </a:rPr>
              <a:t> </a:t>
            </a:r>
            <a:r>
              <a:rPr sz="1606" spc="-10" dirty="0">
                <a:latin typeface="Arial MT"/>
                <a:cs typeface="Arial MT"/>
              </a:rPr>
              <a:t>process)</a:t>
            </a:r>
            <a:endParaRPr sz="1606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56973" y="1938914"/>
          <a:ext cx="382416" cy="1376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8285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8285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8285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652174" y="2002841"/>
            <a:ext cx="153604" cy="745712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807" spc="-50" dirty="0">
                <a:latin typeface="Arial MT"/>
                <a:cs typeface="Arial MT"/>
              </a:rPr>
              <a:t>1</a:t>
            </a:r>
            <a:endParaRPr sz="1807">
              <a:latin typeface="Arial MT"/>
              <a:cs typeface="Arial MT"/>
            </a:endParaRPr>
          </a:p>
          <a:p>
            <a:pPr marL="12747">
              <a:spcBef>
                <a:spcPts val="1330"/>
              </a:spcBef>
            </a:pPr>
            <a:r>
              <a:rPr sz="1807" spc="-50" dirty="0">
                <a:latin typeface="Arial MT"/>
                <a:cs typeface="Arial MT"/>
              </a:rPr>
              <a:t>2</a:t>
            </a:r>
            <a:endParaRPr sz="180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52174" y="2925230"/>
            <a:ext cx="153604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1807" spc="-50" dirty="0">
                <a:latin typeface="Arial MT"/>
                <a:cs typeface="Arial MT"/>
              </a:rPr>
              <a:t>3</a:t>
            </a:r>
            <a:endParaRPr sz="1807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00450" y="2041160"/>
            <a:ext cx="2180411" cy="745712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  <a:tabLst>
                <a:tab pos="395157" algn="l"/>
              </a:tabLst>
            </a:pPr>
            <a:r>
              <a:rPr sz="1807" spc="-50" dirty="0">
                <a:latin typeface="Arial MT"/>
                <a:cs typeface="Arial MT"/>
              </a:rPr>
              <a:t>4</a:t>
            </a:r>
            <a:r>
              <a:rPr sz="1807" dirty="0">
                <a:latin typeface="Arial MT"/>
                <a:cs typeface="Arial MT"/>
              </a:rPr>
              <a:t>	</a:t>
            </a:r>
            <a:r>
              <a:rPr sz="1807" spc="-50" dirty="0">
                <a:latin typeface="Arial MT"/>
                <a:cs typeface="Arial MT"/>
              </a:rPr>
              <a:t>5</a:t>
            </a:r>
            <a:endParaRPr sz="1807">
              <a:latin typeface="Arial MT"/>
              <a:cs typeface="Arial MT"/>
            </a:endParaRPr>
          </a:p>
          <a:p>
            <a:pPr marL="12747">
              <a:spcBef>
                <a:spcPts val="1330"/>
              </a:spcBef>
              <a:tabLst>
                <a:tab pos="395157" algn="l"/>
                <a:tab pos="854048" algn="l"/>
              </a:tabLst>
            </a:pPr>
            <a:r>
              <a:rPr sz="1807" spc="-50" dirty="0">
                <a:latin typeface="Arial MT"/>
                <a:cs typeface="Arial MT"/>
              </a:rPr>
              <a:t>1</a:t>
            </a:r>
            <a:r>
              <a:rPr sz="1807" dirty="0">
                <a:latin typeface="Arial MT"/>
                <a:cs typeface="Arial MT"/>
              </a:rPr>
              <a:t>	</a:t>
            </a:r>
            <a:r>
              <a:rPr sz="1807" spc="-50" dirty="0">
                <a:latin typeface="Arial MT"/>
                <a:cs typeface="Arial MT"/>
              </a:rPr>
              <a:t>3</a:t>
            </a:r>
            <a:r>
              <a:rPr sz="1807" dirty="0">
                <a:latin typeface="Arial MT"/>
                <a:cs typeface="Arial MT"/>
              </a:rPr>
              <a:t>	9</a:t>
            </a:r>
            <a:r>
              <a:rPr sz="1807" spc="-5" dirty="0">
                <a:latin typeface="Arial MT"/>
                <a:cs typeface="Arial MT"/>
              </a:rPr>
              <a:t> </a:t>
            </a:r>
            <a:r>
              <a:rPr sz="1807" dirty="0">
                <a:latin typeface="Arial MT"/>
                <a:cs typeface="Arial MT"/>
              </a:rPr>
              <a:t>page</a:t>
            </a:r>
            <a:r>
              <a:rPr sz="1807" spc="-5" dirty="0">
                <a:latin typeface="Arial MT"/>
                <a:cs typeface="Arial MT"/>
              </a:rPr>
              <a:t> </a:t>
            </a:r>
            <a:r>
              <a:rPr sz="1807" spc="-10" dirty="0">
                <a:latin typeface="Arial MT"/>
                <a:cs typeface="Arial MT"/>
              </a:rPr>
              <a:t>faults</a:t>
            </a:r>
            <a:endParaRPr sz="1807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00450" y="2963548"/>
            <a:ext cx="536020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  <a:tabLst>
                <a:tab pos="395157" algn="l"/>
              </a:tabLst>
            </a:pPr>
            <a:r>
              <a:rPr sz="1807" spc="-50" dirty="0">
                <a:latin typeface="Arial MT"/>
                <a:cs typeface="Arial MT"/>
              </a:rPr>
              <a:t>2</a:t>
            </a:r>
            <a:r>
              <a:rPr sz="1807" dirty="0">
                <a:latin typeface="Arial MT"/>
                <a:cs typeface="Arial MT"/>
              </a:rPr>
              <a:t>	</a:t>
            </a:r>
            <a:r>
              <a:rPr sz="1807" spc="-50" dirty="0">
                <a:latin typeface="Arial MT"/>
                <a:cs typeface="Arial MT"/>
              </a:rPr>
              <a:t>4</a:t>
            </a:r>
            <a:endParaRPr sz="1807">
              <a:latin typeface="Arial MT"/>
              <a:cs typeface="Arial MT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924850" y="3946600"/>
          <a:ext cx="382416" cy="183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834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834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834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82857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2421997" y="3560806"/>
            <a:ext cx="5075940" cy="2634211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356278" indent="-343531">
              <a:spcBef>
                <a:spcPts val="100"/>
              </a:spcBef>
              <a:buClr>
                <a:srgbClr val="656500"/>
              </a:buClr>
              <a:buSzPct val="87500"/>
              <a:buFont typeface="Wingdings"/>
              <a:buChar char=""/>
              <a:tabLst>
                <a:tab pos="356278" algn="l"/>
              </a:tabLst>
            </a:pPr>
            <a:r>
              <a:rPr sz="1606" dirty="0">
                <a:latin typeface="Arial MT"/>
                <a:cs typeface="Arial MT"/>
              </a:rPr>
              <a:t>4</a:t>
            </a:r>
            <a:r>
              <a:rPr sz="1606" spc="5" dirty="0">
                <a:latin typeface="Arial MT"/>
                <a:cs typeface="Arial MT"/>
              </a:rPr>
              <a:t> </a:t>
            </a:r>
            <a:r>
              <a:rPr sz="1606" spc="-10" dirty="0">
                <a:latin typeface="Arial MT"/>
                <a:cs typeface="Arial MT"/>
              </a:rPr>
              <a:t>frames</a:t>
            </a:r>
            <a:endParaRPr sz="1606">
              <a:latin typeface="Arial MT"/>
              <a:cs typeface="Arial MT"/>
            </a:endParaRPr>
          </a:p>
          <a:p>
            <a:pPr marR="516889" algn="ctr">
              <a:spcBef>
                <a:spcPts val="1611"/>
              </a:spcBef>
            </a:pPr>
            <a:r>
              <a:rPr sz="1807" spc="-50" dirty="0">
                <a:latin typeface="Arial MT"/>
                <a:cs typeface="Arial MT"/>
              </a:rPr>
              <a:t>1</a:t>
            </a:r>
            <a:endParaRPr sz="1807">
              <a:latin typeface="Arial MT"/>
              <a:cs typeface="Arial MT"/>
            </a:endParaRPr>
          </a:p>
          <a:p>
            <a:pPr marR="516889" algn="ctr">
              <a:spcBef>
                <a:spcPts val="1335"/>
              </a:spcBef>
            </a:pPr>
            <a:r>
              <a:rPr sz="1807" spc="-50" dirty="0">
                <a:latin typeface="Arial MT"/>
                <a:cs typeface="Arial MT"/>
              </a:rPr>
              <a:t>2</a:t>
            </a:r>
            <a:endParaRPr sz="1807">
              <a:latin typeface="Arial MT"/>
              <a:cs typeface="Arial MT"/>
            </a:endParaRPr>
          </a:p>
          <a:p>
            <a:pPr marR="516889" algn="ctr">
              <a:spcBef>
                <a:spcPts val="1591"/>
              </a:spcBef>
            </a:pPr>
            <a:r>
              <a:rPr sz="1807" spc="-50" dirty="0">
                <a:latin typeface="Arial MT"/>
                <a:cs typeface="Arial MT"/>
              </a:rPr>
              <a:t>3</a:t>
            </a:r>
            <a:endParaRPr sz="1807">
              <a:latin typeface="Arial MT"/>
              <a:cs typeface="Arial MT"/>
            </a:endParaRPr>
          </a:p>
          <a:p>
            <a:pPr marR="504142" algn="ctr">
              <a:spcBef>
                <a:spcPts val="1751"/>
              </a:spcBef>
            </a:pPr>
            <a:r>
              <a:rPr sz="1807" spc="-50" dirty="0">
                <a:latin typeface="Arial MT"/>
                <a:cs typeface="Arial MT"/>
              </a:rPr>
              <a:t>4</a:t>
            </a:r>
            <a:endParaRPr sz="1807">
              <a:latin typeface="Arial MT"/>
              <a:cs typeface="Arial MT"/>
            </a:endParaRPr>
          </a:p>
          <a:p>
            <a:pPr marL="356278" indent="-343531">
              <a:spcBef>
                <a:spcPts val="1720"/>
              </a:spcBef>
              <a:buClr>
                <a:srgbClr val="656500"/>
              </a:buClr>
              <a:buSzPct val="87500"/>
              <a:buFont typeface="Wingdings"/>
              <a:buChar char=""/>
              <a:tabLst>
                <a:tab pos="356278" algn="l"/>
              </a:tabLst>
            </a:pPr>
            <a:r>
              <a:rPr sz="1606" dirty="0">
                <a:latin typeface="Arial MT"/>
                <a:cs typeface="Arial MT"/>
              </a:rPr>
              <a:t>Belady’s</a:t>
            </a:r>
            <a:r>
              <a:rPr sz="1606" spc="-45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Anomaly:</a:t>
            </a:r>
            <a:r>
              <a:rPr sz="1606" spc="-40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more</a:t>
            </a:r>
            <a:r>
              <a:rPr sz="1606" spc="-35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frames</a:t>
            </a:r>
            <a:r>
              <a:rPr sz="1606" spc="-25" dirty="0">
                <a:latin typeface="Arial MT"/>
                <a:cs typeface="Arial MT"/>
              </a:rPr>
              <a:t> </a:t>
            </a:r>
            <a:r>
              <a:rPr sz="1606" dirty="0">
                <a:latin typeface="Symbol"/>
                <a:cs typeface="Symbol"/>
              </a:rPr>
              <a:t></a:t>
            </a:r>
            <a:r>
              <a:rPr sz="1606" spc="5" dirty="0">
                <a:latin typeface="Times New Roman"/>
                <a:cs typeface="Times New Roman"/>
              </a:rPr>
              <a:t> </a:t>
            </a:r>
            <a:r>
              <a:rPr sz="1606" dirty="0">
                <a:latin typeface="Arial MT"/>
                <a:cs typeface="Arial MT"/>
              </a:rPr>
              <a:t>more</a:t>
            </a:r>
            <a:r>
              <a:rPr sz="1606" spc="-35" dirty="0">
                <a:latin typeface="Arial MT"/>
                <a:cs typeface="Arial MT"/>
              </a:rPr>
              <a:t> </a:t>
            </a:r>
            <a:r>
              <a:rPr sz="1606" dirty="0">
                <a:latin typeface="Arial MT"/>
                <a:cs typeface="Arial MT"/>
              </a:rPr>
              <a:t>page</a:t>
            </a:r>
            <a:r>
              <a:rPr sz="1606" spc="-35" dirty="0">
                <a:latin typeface="Arial MT"/>
                <a:cs typeface="Arial MT"/>
              </a:rPr>
              <a:t> </a:t>
            </a:r>
            <a:r>
              <a:rPr sz="1606" spc="-10" dirty="0">
                <a:latin typeface="Arial MT"/>
                <a:cs typeface="Arial MT"/>
              </a:rPr>
              <a:t>faults</a:t>
            </a:r>
            <a:endParaRPr sz="1606">
              <a:latin typeface="Arial MT"/>
              <a:cs typeface="Arial MT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449053" y="4083327"/>
          <a:ext cx="2281751" cy="16367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911">
                <a:tc>
                  <a:txBody>
                    <a:bodyPr/>
                    <a:lstStyle/>
                    <a:p>
                      <a:pPr marL="31750">
                        <a:lnSpc>
                          <a:spcPts val="1989"/>
                        </a:lnSpc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9"/>
                        </a:lnSpc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37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72022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91143" marB="0"/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10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page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faults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72022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9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796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9">
                <a:tc>
                  <a:txBody>
                    <a:bodyPr/>
                    <a:lstStyle/>
                    <a:p>
                      <a:pPr marL="31750">
                        <a:lnSpc>
                          <a:spcPts val="2080"/>
                        </a:lnSpc>
                        <a:spcBef>
                          <a:spcPts val="62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796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5" name="Picture 2" descr="KL Deemed to be University Logo">
            <a:extLst>
              <a:ext uri="{FF2B5EF4-FFF2-40B4-BE49-F238E27FC236}">
                <a16:creationId xmlns:a16="http://schemas.microsoft.com/office/drawing/2014/main" id="{12A06506-EAD9-4AAD-AF90-D28C6E1FB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6746" y="143958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48986" y="365126"/>
            <a:ext cx="7894030" cy="955209"/>
          </a:xfrm>
          <a:prstGeom prst="rect">
            <a:avLst/>
          </a:prstGeom>
        </p:spPr>
        <p:txBody>
          <a:bodyPr vert="horz" wrap="square" lIns="0" tIns="272918" rIns="0" bIns="0" rtlCol="0">
            <a:spAutoFit/>
          </a:bodyPr>
          <a:lstStyle/>
          <a:p>
            <a:pPr marL="2233273">
              <a:lnSpc>
                <a:spcPct val="100000"/>
              </a:lnSpc>
              <a:spcBef>
                <a:spcPts val="95"/>
              </a:spcBef>
            </a:pPr>
            <a:r>
              <a:rPr b="1" dirty="0"/>
              <a:t>FIFO</a:t>
            </a:r>
            <a:r>
              <a:rPr b="1" spc="-30" dirty="0"/>
              <a:t> </a:t>
            </a:r>
            <a:r>
              <a:rPr b="1" dirty="0"/>
              <a:t>Page</a:t>
            </a:r>
            <a:r>
              <a:rPr b="1" spc="-20" dirty="0"/>
              <a:t> </a:t>
            </a:r>
            <a:r>
              <a:rPr b="1" spc="-10" dirty="0"/>
              <a:t>Replacement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0571" y="2059949"/>
            <a:ext cx="7994032" cy="2162181"/>
          </a:xfrm>
          <a:prstGeom prst="rect">
            <a:avLst/>
          </a:prstGeom>
        </p:spPr>
      </p:pic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9534B44A-D5CD-BBFB-829B-345C5D368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4061" y="146399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498C82B5-8B32-E26B-43F9-E74FB791E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384676"/>
            <a:ext cx="9144000" cy="213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Pages sorted in FIFO order by arrival time. </a:t>
            </a:r>
          </a:p>
          <a:p>
            <a:pPr algn="l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Examine R bit. If zero, evict. If one, put page at end of list and R is set to zero.</a:t>
            </a:r>
          </a:p>
          <a:p>
            <a:pPr algn="l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If change value of R bit frequently, might still evict a heavily used page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en-US" sz="2400">
                <a:latin typeface="Arial" panose="020B0604020202020204" pitchFamily="34" charset="0"/>
              </a:rPr>
              <a:t>        </a:t>
            </a:r>
          </a:p>
          <a:p>
            <a:pPr algn="l" eaLnBrk="1" hangingPunct="1">
              <a:spcBef>
                <a:spcPct val="20000"/>
              </a:spcBef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3FDB830D-764E-E65C-C8B1-8241A7FD0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939" y="-7315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Second Chance Algorithm</a:t>
            </a:r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F9E0AEDD-7F1C-7FCA-FC0C-93DCB6914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800" y="6565901"/>
            <a:ext cx="87122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898989"/>
                </a:solidFill>
              </a:rPr>
              <a:t>Tanenbaum, Modern Operating Systems 3 e, (c) 2008 Prentice-Hall, Inc. All rights reserved. 0-13-</a:t>
            </a:r>
            <a:r>
              <a:rPr lang="en-US" altLang="en-US" sz="1200" b="1">
                <a:solidFill>
                  <a:srgbClr val="898989"/>
                </a:solidFill>
              </a:rPr>
              <a:t>6006639</a:t>
            </a:r>
          </a:p>
        </p:txBody>
      </p:sp>
      <p:pic>
        <p:nvPicPr>
          <p:cNvPr id="67589" name="Picture 6" descr="D:\b\b4\IBM\03-15.jpg">
            <a:extLst>
              <a:ext uri="{FF2B5EF4-FFF2-40B4-BE49-F238E27FC236}">
                <a16:creationId xmlns:a16="http://schemas.microsoft.com/office/drawing/2014/main" id="{E27CBF67-5196-4881-1E16-D7C28C30C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564" y="1538289"/>
            <a:ext cx="7616825" cy="261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8F0326D3-BB1F-3CA6-3574-368E8155A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4061" y="146399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C5116DCB-CB01-A7D8-7AE0-94B55A7F8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7150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9480D302-8049-DE19-F211-BAAA2E0C8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0618" y="161239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The Clock Page Replacement Algorithm</a:t>
            </a:r>
          </a:p>
        </p:txBody>
      </p:sp>
      <p:pic>
        <p:nvPicPr>
          <p:cNvPr id="68613" name="Picture 6" descr="D:\b\b4\IBM\03-16.jpg">
            <a:extLst>
              <a:ext uri="{FF2B5EF4-FFF2-40B4-BE49-F238E27FC236}">
                <a16:creationId xmlns:a16="http://schemas.microsoft.com/office/drawing/2014/main" id="{7A21F072-A038-C7B9-669D-87BD51BFB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5" y="1735139"/>
            <a:ext cx="6343650" cy="329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E489792E-A176-B5D6-E8BC-003F4E915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7018" y="304800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85656DB3-36DC-EAD3-696E-BC5A404A7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1597026"/>
            <a:ext cx="8312150" cy="495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Doesn’t use age as a reason to evict page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Faster-doesn’t manipulate a list 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Doesn’t distinguish between how long pages have not been referenced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</a:pPr>
            <a:endParaRPr lang="en-US" altLang="en-US" sz="2800">
              <a:latin typeface="Arial" panose="020B0604020202020204" pitchFamily="34" charset="0"/>
            </a:endParaRP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2C6D49C5-8BEE-B2BA-B769-B0D16D967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Clock</a:t>
            </a: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340FB9F1-FFDA-E49A-38F6-B06050089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4061" y="146399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D49C00CB-0697-73D4-F3F7-780308C66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1597026"/>
            <a:ext cx="8312150" cy="495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Approximate LRU by assuming that recent page usage approximates long term page usage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Could associate counters with each page and examine them but this is expensive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</a:pPr>
            <a:endParaRPr lang="en-US" altLang="en-US" sz="2800">
              <a:latin typeface="Arial" panose="020B0604020202020204" pitchFamily="34" charset="0"/>
            </a:endParaRP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E3F87D6D-138E-B543-1270-2220B318E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LRU</a:t>
            </a: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CCF740E8-844C-10FD-B49D-3C4B77751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4061" y="146399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A9D81182-C645-AC4E-0814-EE1BB51A1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1597026"/>
            <a:ext cx="8312150" cy="495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1066800" indent="-609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Associate counter with each page. </a:t>
            </a:r>
          </a:p>
          <a:p>
            <a:pPr lvl="1"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At each reference increment counter.</a:t>
            </a:r>
          </a:p>
          <a:p>
            <a:pPr lvl="1"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 Evict page with lowest counter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Keep n x n array for n pages.Upon reference page k, put 1’s in row k and 0’s in column k.</a:t>
            </a:r>
          </a:p>
          <a:p>
            <a:pPr lvl="1"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Row with smallest binary value corresponds to LRU page. Evict k!</a:t>
            </a:r>
          </a:p>
          <a:p>
            <a:pPr lvl="1"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Easy hardware implementation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AA87F721-9961-0F87-9A96-8DDD45C4F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LRU-the hardware array</a:t>
            </a: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B6AB304E-1287-B8BE-6B0C-529F4996C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4061" y="146399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F31D5E8B-4406-E098-9F84-3EE8AFC0E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61975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400">
                <a:latin typeface="Arial" panose="020B0604020202020204" pitchFamily="34" charset="0"/>
              </a:rPr>
              <a:t>LRU using a matrix when pages are referenced in the order 0, 1, 2, 3, 2, 1, 0, 3, 2, 3.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C6B2A2EB-FC92-DD63-B806-7998238B2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1126" y="-65837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LRU-hardware</a:t>
            </a:r>
          </a:p>
        </p:txBody>
      </p:sp>
      <p:pic>
        <p:nvPicPr>
          <p:cNvPr id="72709" name="Picture 6" descr="D:\b\b4\IBM\03-17.jpg">
            <a:extLst>
              <a:ext uri="{FF2B5EF4-FFF2-40B4-BE49-F238E27FC236}">
                <a16:creationId xmlns:a16="http://schemas.microsoft.com/office/drawing/2014/main" id="{ABB85DC7-A441-7B98-7B10-DA719AE34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914" y="1377951"/>
            <a:ext cx="7419975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36C93320-6671-A154-2B8E-4D2A95F19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8497" y="98896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44DC166F-A73F-D5D7-DCBB-1EF2EBD54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1597026"/>
            <a:ext cx="8312150" cy="495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1066800" indent="-609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Hardware uses space=&gt; software implementation</a:t>
            </a:r>
          </a:p>
          <a:p>
            <a:pPr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Make use of software counters</a:t>
            </a:r>
          </a:p>
          <a:p>
            <a:pPr lvl="1" algn="l" eaLnBrk="1" hangingPunct="1">
              <a:spcBef>
                <a:spcPct val="20000"/>
              </a:spcBef>
              <a:buClr>
                <a:schemeClr val="accent2"/>
              </a:buClr>
            </a:pPr>
            <a:endParaRPr lang="en-US" altLang="en-US" sz="2800">
              <a:latin typeface="Arial" panose="020B0604020202020204" pitchFamily="34" charset="0"/>
            </a:endParaRP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37FAAC6D-B3C2-2C0F-AD5A-EC7887F25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2186" y="-7315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LRU-software </a:t>
            </a: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DA716FAB-E8D2-C4CA-0F05-868D63989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4061" y="146399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DB74212F-B00D-1766-62D1-35B810046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387975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1F0A47C-D56D-2329-3C3C-5ECAB785D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422" y="73025"/>
            <a:ext cx="9144000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LRU in Software</a:t>
            </a:r>
          </a:p>
        </p:txBody>
      </p:sp>
      <p:pic>
        <p:nvPicPr>
          <p:cNvPr id="74757" name="Picture 6" descr="D:\b\b4\IBM\03-18.jpg">
            <a:extLst>
              <a:ext uri="{FF2B5EF4-FFF2-40B4-BE49-F238E27FC236}">
                <a16:creationId xmlns:a16="http://schemas.microsoft.com/office/drawing/2014/main" id="{DCEAEA55-25B7-C55E-6F81-3C48018E3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514" y="1069975"/>
            <a:ext cx="7013575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00912429-9A7C-20A2-CA73-9F2E736C1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2297" y="175660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3C042591-4A66-5B33-92A7-FEBAA3A01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1597026"/>
            <a:ext cx="8312150" cy="495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4161750" indent="-24161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1066800" indent="-609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 “aging” algorithm</a:t>
            </a:r>
          </a:p>
          <a:p>
            <a:pPr lvl="1"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Keep a string of values of the R bits for each clock tick (up to some limit)</a:t>
            </a:r>
          </a:p>
          <a:p>
            <a:pPr lvl="1"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After tick, shift bits right and add new R values on the left</a:t>
            </a:r>
          </a:p>
          <a:p>
            <a:pPr lvl="1"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On page fault, evict page with lowest counter</a:t>
            </a:r>
          </a:p>
          <a:p>
            <a:pPr lvl="1" algn="l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</a:rPr>
              <a:t>Size of the counter determines the history</a:t>
            </a:r>
          </a:p>
          <a:p>
            <a:pPr lvl="1" algn="l" eaLnBrk="1" hangingPunct="1">
              <a:spcBef>
                <a:spcPct val="20000"/>
              </a:spcBef>
              <a:buClr>
                <a:schemeClr val="accent2"/>
              </a:buClr>
            </a:pPr>
            <a:endParaRPr lang="en-US" altLang="en-US" sz="2800">
              <a:latin typeface="Arial" panose="020B0604020202020204" pitchFamily="34" charset="0"/>
            </a:endParaRP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5FB3B057-C98C-5A12-4117-0F963EF97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4314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LRU-software </a:t>
            </a: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C1065237-0FAD-2902-259D-DC66DBCFF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609" y="102508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3475894" y="1820637"/>
            <a:ext cx="5940083" cy="259222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700" b="1" dirty="0">
                <a:latin typeface="Poppins" pitchFamily="2" charset="77"/>
                <a:cs typeface="Poppins" pitchFamily="2" charset="77"/>
              </a:rPr>
              <a:t>Team – Operating Systems</a:t>
            </a:r>
          </a:p>
          <a:p>
            <a:pPr algn="ctr"/>
            <a:r>
              <a:rPr lang="en-US" sz="2700" b="1" dirty="0">
                <a:latin typeface="Poppins" pitchFamily="2" charset="77"/>
                <a:cs typeface="Poppins" pitchFamily="2" charset="77"/>
              </a:rPr>
              <a:t> </a:t>
            </a:r>
          </a:p>
          <a:p>
            <a:pPr algn="ctr"/>
            <a:endParaRPr lang="en-US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19079" y="2304339"/>
            <a:ext cx="2426678" cy="812409"/>
          </a:xfrm>
          <a:prstGeom prst="rect">
            <a:avLst/>
          </a:prstGeom>
          <a:noFill/>
        </p:spPr>
      </p:pic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B235341F-95B8-400C-861F-CFADDE103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4061" y="146399"/>
            <a:ext cx="1998125" cy="60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temp2</Template>
  <TotalTime>29</TotalTime>
  <Words>781</Words>
  <Application>Microsoft Office PowerPoint</Application>
  <PresentationFormat>Widescreen</PresentationFormat>
  <Paragraphs>129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Aptos</vt:lpstr>
      <vt:lpstr>Arial</vt:lpstr>
      <vt:lpstr>Arial MT</vt:lpstr>
      <vt:lpstr>BioRhyme ExtraBold</vt:lpstr>
      <vt:lpstr>Calibri</vt:lpstr>
      <vt:lpstr>Calibri Light</vt:lpstr>
      <vt:lpstr>Poppins</vt:lpstr>
      <vt:lpstr>Symbol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First-In-First-Out (FIFO) Algorithm</vt:lpstr>
      <vt:lpstr>FIFO Page Replacement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Tulasi</dc:creator>
  <cp:lastModifiedBy>Yampati Bhagya Lakshmi</cp:lastModifiedBy>
  <cp:revision>9</cp:revision>
  <dcterms:created xsi:type="dcterms:W3CDTF">2026-07-02T07:00:18Z</dcterms:created>
  <dcterms:modified xsi:type="dcterms:W3CDTF">2026-08-19T10:37:22Z</dcterms:modified>
</cp:coreProperties>
</file>